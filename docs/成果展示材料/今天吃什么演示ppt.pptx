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5" r:id="rId8"/>
    <p:sldId id="263" r:id="rId9"/>
    <p:sldId id="268" r:id="rId10"/>
    <p:sldId id="274" r:id="rId11"/>
    <p:sldId id="270" r:id="rId12"/>
    <p:sldId id="271" r:id="rId13"/>
    <p:sldId id="266" r:id="rId14"/>
    <p:sldId id="272" r:id="rId15"/>
    <p:sldId id="273" r:id="rId16"/>
    <p:sldId id="267" r:id="rId17"/>
    <p:sldId id="292" r:id="rId18"/>
    <p:sldId id="275" r:id="rId19"/>
    <p:sldId id="276" r:id="rId20"/>
    <p:sldId id="277" r:id="rId21"/>
    <p:sldId id="278" r:id="rId22"/>
    <p:sldId id="279" r:id="rId23"/>
    <p:sldId id="280" r:id="rId24"/>
    <p:sldId id="281" r:id="rId25"/>
    <p:sldId id="282" r:id="rId26"/>
    <p:sldId id="283" r:id="rId27"/>
    <p:sldId id="284" r:id="rId28"/>
    <p:sldId id="293" r:id="rId29"/>
    <p:sldId id="288" r:id="rId30"/>
    <p:sldId id="289" r:id="rId31"/>
    <p:sldId id="290" r:id="rId32"/>
    <p:sldId id="285" r:id="rId33"/>
    <p:sldId id="286" r:id="rId34"/>
    <p:sldId id="287" r:id="rId35"/>
    <p:sldId id="295" r:id="rId36"/>
    <p:sldId id="291" r:id="rId37"/>
  </p:sldIdLst>
  <p:sldSz cx="16256000" cy="9144000"/>
  <p:notesSz cx="9144000" cy="16256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6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009" autoAdjust="0"/>
    <p:restoredTop sz="94610"/>
  </p:normalViewPr>
  <p:slideViewPr>
    <p:cSldViewPr snapToGrid="0" snapToObjects="1">
      <p:cViewPr varScale="1">
        <p:scale>
          <a:sx n="80" d="100"/>
          <a:sy n="80" d="100"/>
        </p:scale>
        <p:origin x="128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1802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CD0D2-51FD-9944-97B8-D2E95C965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D1473-6687-802F-8056-A5DFACEF3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F2231-143D-7A97-8702-F82BAD4ACD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A7D6FA-EA6C-49E6-B52A-912EC980C1CA}"/>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360667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1CC83-BFA5-E029-42C2-FA52F9F5E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1133B-985E-2CED-5286-FF6E780F3E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2586B5-6F25-413D-4032-D9A36F44D9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530233-B12E-F4AF-FBB3-C9123EB57B11}"/>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7990352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10672-38E1-8B1E-3FFC-BE0DEC828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954CC-93F9-9FA9-C571-C6FBCEC7C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3B9C6-3B25-C612-6E46-1BA058D233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0133FD-0189-9F32-26BE-72B82CD58DFF}"/>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6051921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1.png"/>
          <p:cNvPicPr>
            <a:picLocks noChangeAspect="1"/>
          </p:cNvPicPr>
          <p:nvPr/>
        </p:nvPicPr>
        <p:blipFill>
          <a:blip r:embed="rId3"/>
          <a:stretch>
            <a:fillRect/>
          </a:stretch>
        </p:blipFill>
        <p:spPr>
          <a:xfrm>
            <a:off x="-19812" y="0"/>
            <a:ext cx="16256000" cy="9144000"/>
          </a:xfrm>
          <a:prstGeom prst="rect">
            <a:avLst/>
          </a:prstGeom>
        </p:spPr>
      </p:pic>
      <p:sp>
        <p:nvSpPr>
          <p:cNvPr id="3" name="Shape 0"/>
          <p:cNvSpPr/>
          <p:nvPr/>
        </p:nvSpPr>
        <p:spPr>
          <a:xfrm>
            <a:off x="8553958" y="7221855"/>
            <a:ext cx="1634617" cy="508381"/>
          </a:xfrm>
          <a:prstGeom prst="roundRect">
            <a:avLst>
              <a:gd name="adj" fmla="val 16667"/>
            </a:avLst>
          </a:prstGeom>
          <a:noFill/>
          <a:ln/>
        </p:spPr>
        <p:txBody>
          <a:bodyPr/>
          <a:lstStyle/>
          <a:p>
            <a:endParaRPr lang="zh-CN" altLang="en-US"/>
          </a:p>
        </p:txBody>
      </p:sp>
      <p:sp>
        <p:nvSpPr>
          <p:cNvPr id="4" name="Text 1"/>
          <p:cNvSpPr/>
          <p:nvPr/>
        </p:nvSpPr>
        <p:spPr>
          <a:xfrm>
            <a:off x="8578723" y="7246620"/>
            <a:ext cx="1584960" cy="458724"/>
          </a:xfrm>
          <a:prstGeom prst="rect">
            <a:avLst/>
          </a:prstGeom>
          <a:noFill/>
          <a:ln/>
        </p:spPr>
        <p:txBody>
          <a:bodyPr wrap="none" lIns="0" tIns="0" rIns="0" bIns="0" rtlCol="0" anchor="ctr"/>
          <a:lstStyle/>
          <a:p>
            <a:pPr algn="ctr">
              <a:lnSpc>
                <a:spcPct val="120000"/>
              </a:lnSpc>
              <a:spcBef>
                <a:spcPts val="1333"/>
              </a:spcBef>
            </a:pPr>
            <a:r>
              <a:rPr lang="en-US" sz="2670" dirty="0">
                <a:solidFill>
                  <a:srgbClr val="000000"/>
                </a:solidFill>
                <a:latin typeface="黑体" panose="02010609060101010101" pitchFamily="49" charset="-122"/>
                <a:ea typeface="黑体" panose="02010609060101010101" pitchFamily="49" charset="-122"/>
                <a:cs typeface="思源黑体 CN Regular" pitchFamily="34" charset="-120"/>
              </a:rPr>
              <a:t>第</a:t>
            </a:r>
            <a:r>
              <a:rPr lang="zh-CN" altLang="en-US" sz="2670" dirty="0">
                <a:solidFill>
                  <a:srgbClr val="000000"/>
                </a:solidFill>
                <a:latin typeface="黑体" panose="02010609060101010101" pitchFamily="49" charset="-122"/>
                <a:ea typeface="黑体" panose="02010609060101010101" pitchFamily="49" charset="-122"/>
                <a:cs typeface="思源黑体 CN Regular" pitchFamily="34" charset="-120"/>
              </a:rPr>
              <a:t>八</a:t>
            </a:r>
            <a:r>
              <a:rPr lang="en-US" sz="2670" dirty="0">
                <a:solidFill>
                  <a:srgbClr val="000000"/>
                </a:solidFill>
                <a:latin typeface="黑体" panose="02010609060101010101" pitchFamily="49" charset="-122"/>
                <a:ea typeface="黑体" panose="02010609060101010101" pitchFamily="49" charset="-122"/>
                <a:cs typeface="思源黑体 CN Regular" pitchFamily="34" charset="-120"/>
              </a:rPr>
              <a:t>组</a:t>
            </a:r>
            <a:endParaRPr lang="en-US" sz="2670" dirty="0"/>
          </a:p>
        </p:txBody>
      </p:sp>
      <p:sp>
        <p:nvSpPr>
          <p:cNvPr id="5" name="Shape 2"/>
          <p:cNvSpPr/>
          <p:nvPr/>
        </p:nvSpPr>
        <p:spPr>
          <a:xfrm>
            <a:off x="5906897" y="7221855"/>
            <a:ext cx="1991741" cy="508381"/>
          </a:xfrm>
          <a:prstGeom prst="roundRect">
            <a:avLst>
              <a:gd name="adj" fmla="val 16667"/>
            </a:avLst>
          </a:prstGeom>
          <a:noFill/>
          <a:ln/>
        </p:spPr>
        <p:txBody>
          <a:bodyPr/>
          <a:lstStyle/>
          <a:p>
            <a:endParaRPr lang="zh-CN" altLang="en-US"/>
          </a:p>
        </p:txBody>
      </p:sp>
      <p:sp>
        <p:nvSpPr>
          <p:cNvPr id="6" name="Text 3"/>
          <p:cNvSpPr/>
          <p:nvPr/>
        </p:nvSpPr>
        <p:spPr>
          <a:xfrm>
            <a:off x="5931662" y="7246620"/>
            <a:ext cx="1942084" cy="458724"/>
          </a:xfrm>
          <a:prstGeom prst="rect">
            <a:avLst/>
          </a:prstGeom>
          <a:noFill/>
          <a:ln/>
        </p:spPr>
        <p:txBody>
          <a:bodyPr wrap="none" lIns="0" tIns="0" rIns="0" bIns="0" rtlCol="0" anchor="ctr"/>
          <a:lstStyle/>
          <a:p>
            <a:pPr algn="ctr">
              <a:lnSpc>
                <a:spcPct val="120000"/>
              </a:lnSpc>
              <a:spcBef>
                <a:spcPts val="1333"/>
              </a:spcBef>
            </a:pPr>
            <a:r>
              <a:rPr lang="en-US" sz="2400" dirty="0">
                <a:solidFill>
                  <a:srgbClr val="000000"/>
                </a:solidFill>
                <a:latin typeface="黑体" panose="02010609060101010101" pitchFamily="49" charset="-122"/>
                <a:ea typeface="黑体" panose="02010609060101010101" pitchFamily="49" charset="-122"/>
                <a:cs typeface="思源黑体 CN Regular" pitchFamily="34" charset="-120"/>
              </a:rPr>
              <a:t>2026.6.</a:t>
            </a:r>
            <a:r>
              <a:rPr lang="en-US" altLang="zh-CN" sz="2400" dirty="0">
                <a:solidFill>
                  <a:srgbClr val="000000"/>
                </a:solidFill>
                <a:latin typeface="黑体" panose="02010609060101010101" pitchFamily="49" charset="-122"/>
                <a:ea typeface="黑体" panose="02010609060101010101" pitchFamily="49" charset="-122"/>
                <a:cs typeface="思源黑体 CN Regular" pitchFamily="34" charset="-120"/>
              </a:rPr>
              <a:t>12</a:t>
            </a:r>
            <a:endParaRPr lang="en-US" sz="2400" dirty="0"/>
          </a:p>
        </p:txBody>
      </p:sp>
      <p:sp>
        <p:nvSpPr>
          <p:cNvPr id="7" name="Text 4"/>
          <p:cNvSpPr/>
          <p:nvPr/>
        </p:nvSpPr>
        <p:spPr>
          <a:xfrm>
            <a:off x="1935988" y="3698240"/>
            <a:ext cx="12383897" cy="1229868"/>
          </a:xfrm>
          <a:prstGeom prst="rect">
            <a:avLst/>
          </a:prstGeom>
          <a:noFill/>
          <a:ln/>
        </p:spPr>
        <p:txBody>
          <a:bodyPr wrap="square" lIns="0" tIns="0" rIns="0" bIns="0" rtlCol="0" anchor="ctr"/>
          <a:lstStyle/>
          <a:p>
            <a:pPr algn="ctr">
              <a:lnSpc>
                <a:spcPct val="120000"/>
              </a:lnSpc>
            </a:pPr>
            <a:r>
              <a:rPr lang="en-US" sz="7200" b="1" dirty="0">
                <a:solidFill>
                  <a:srgbClr val="000000"/>
                </a:solidFill>
                <a:latin typeface="汉仪行楷简" pitchFamily="34" charset="0"/>
                <a:ea typeface="汉仪行楷简" pitchFamily="34" charset="-122"/>
                <a:cs typeface="汉仪行楷简" pitchFamily="34" charset="-120"/>
              </a:rPr>
              <a:t>今天吃什么：</a:t>
            </a:r>
            <a:endParaRPr lang="en-US" sz="7200" dirty="0"/>
          </a:p>
          <a:p>
            <a:pPr algn="ctr">
              <a:lnSpc>
                <a:spcPct val="120000"/>
              </a:lnSpc>
            </a:pPr>
            <a:r>
              <a:rPr lang="en-US" sz="7200" dirty="0">
                <a:solidFill>
                  <a:srgbClr val="000000"/>
                </a:solidFill>
                <a:latin typeface="汉仪行楷简" pitchFamily="34" charset="0"/>
                <a:ea typeface="汉仪行楷简" pitchFamily="34" charset="-122"/>
                <a:cs typeface="汉仪行楷简" pitchFamily="34" charset="-120"/>
              </a:rPr>
              <a:t> </a:t>
            </a:r>
            <a:endParaRPr lang="en-US" sz="7200" dirty="0"/>
          </a:p>
          <a:p>
            <a:pPr algn="ctr">
              <a:lnSpc>
                <a:spcPct val="120000"/>
              </a:lnSpc>
            </a:pPr>
            <a:r>
              <a:rPr lang="en-US" sz="5870" b="1" dirty="0">
                <a:solidFill>
                  <a:srgbClr val="000000"/>
                </a:solidFill>
                <a:latin typeface="汉仪行楷简" pitchFamily="34" charset="0"/>
                <a:ea typeface="汉仪行楷简" pitchFamily="34" charset="-122"/>
                <a:cs typeface="汉仪行楷简" pitchFamily="34" charset="-120"/>
              </a:rPr>
              <a:t>基于位置与偏好的智能餐饮推荐系统</a:t>
            </a:r>
            <a:endParaRPr lang="en-US" sz="72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2.png"/>
          <p:cNvPicPr>
            <a:picLocks noChangeAspect="1"/>
          </p:cNvPicPr>
          <p:nvPr/>
        </p:nvPicPr>
        <p:blipFill>
          <a:blip r:embed="rId3"/>
          <a:stretch>
            <a:fillRect/>
          </a:stretch>
        </p:blipFill>
        <p:spPr>
          <a:xfrm>
            <a:off x="15494"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2</a:t>
            </a:r>
            <a:endParaRPr lang="en-US" sz="1330" dirty="0"/>
          </a:p>
        </p:txBody>
      </p:sp>
      <p:sp>
        <p:nvSpPr>
          <p:cNvPr id="4" name="Text 1"/>
          <p:cNvSpPr/>
          <p:nvPr/>
        </p:nvSpPr>
        <p:spPr>
          <a:xfrm>
            <a:off x="7315200" y="2540000"/>
            <a:ext cx="4470400" cy="4368800"/>
          </a:xfrm>
          <a:prstGeom prst="rect">
            <a:avLst/>
          </a:prstGeom>
          <a:noFill/>
          <a:ln/>
        </p:spPr>
        <p:txBody>
          <a:bodyPr wrap="square" lIns="0" tIns="0" rIns="0" bIns="0" rtlCol="0" anchor="t"/>
          <a:lstStyle/>
          <a:p>
            <a:pPr marL="508000" indent="-508000" algn="l">
              <a:lnSpc>
                <a:spcPct val="120000"/>
              </a:lnSpc>
              <a:spcBef>
                <a:spcPts val="10"/>
              </a:spcBef>
              <a:buSzPct val="100000"/>
              <a:buFont typeface="+mj-lt"/>
              <a:buAutoNum type="arabicPeriod"/>
            </a:pPr>
            <a:r>
              <a:rPr lang="en-US" sz="3200" b="1" dirty="0">
                <a:solidFill>
                  <a:srgbClr val="000000"/>
                </a:solidFill>
                <a:latin typeface="Noto Sans SC" pitchFamily="34" charset="0"/>
                <a:ea typeface="Noto Sans SC" pitchFamily="34" charset="-122"/>
                <a:cs typeface="Noto Sans SC" pitchFamily="34" charset="-120"/>
              </a:rPr>
              <a:t>项目背景与目标</a:t>
            </a:r>
            <a:endParaRPr lang="en-US" sz="3200" dirty="0"/>
          </a:p>
          <a:p>
            <a:pPr marL="508000" indent="-508000" algn="l">
              <a:lnSpc>
                <a:spcPct val="120000"/>
              </a:lnSpc>
              <a:spcBef>
                <a:spcPts val="10"/>
              </a:spcBef>
              <a:buSzPct val="100000"/>
              <a:buFont typeface="+mj-lt"/>
              <a:buAutoNum type="arabicPeriod"/>
            </a:pPr>
            <a:r>
              <a:rPr lang="en-US" sz="3200" b="1" dirty="0">
                <a:solidFill>
                  <a:srgbClr val="000000"/>
                </a:solidFill>
                <a:latin typeface="Noto Sans SC" pitchFamily="34" charset="0"/>
                <a:ea typeface="Noto Sans SC" pitchFamily="34" charset="-122"/>
                <a:cs typeface="Noto Sans SC" pitchFamily="34" charset="-120"/>
              </a:rPr>
              <a:t>系统总体架构</a:t>
            </a:r>
            <a:endParaRPr lang="en-US" sz="3200" dirty="0"/>
          </a:p>
          <a:p>
            <a:pPr marL="508000" indent="-508000" algn="l">
              <a:lnSpc>
                <a:spcPct val="120000"/>
              </a:lnSpc>
              <a:spcBef>
                <a:spcPts val="10"/>
              </a:spcBef>
              <a:buSzPct val="100000"/>
              <a:buFont typeface="+mj-lt"/>
              <a:buAutoNum type="arabicPeriod"/>
            </a:pPr>
            <a:r>
              <a:rPr lang="en-US" sz="3200" b="1" dirty="0">
                <a:solidFill>
                  <a:srgbClr val="000000"/>
                </a:solidFill>
                <a:latin typeface="Noto Sans SC" pitchFamily="34" charset="0"/>
                <a:ea typeface="Noto Sans SC" pitchFamily="34" charset="-122"/>
                <a:cs typeface="Noto Sans SC" pitchFamily="34" charset="-120"/>
              </a:rPr>
              <a:t>软件功能展示</a:t>
            </a:r>
            <a:endParaRPr lang="en-US" sz="3200" dirty="0"/>
          </a:p>
          <a:p>
            <a:pPr marL="508000" indent="-508000" algn="l">
              <a:lnSpc>
                <a:spcPct val="120000"/>
              </a:lnSpc>
              <a:spcBef>
                <a:spcPts val="10"/>
              </a:spcBef>
              <a:buSzPct val="100000"/>
              <a:buFont typeface="+mj-lt"/>
              <a:buAutoNum type="arabicPeriod"/>
            </a:pPr>
            <a:r>
              <a:rPr lang="zh-CN" altLang="en-US" sz="3200" b="1" dirty="0">
                <a:solidFill>
                  <a:srgbClr val="000000"/>
                </a:solidFill>
                <a:latin typeface="Noto Sans SC" pitchFamily="34" charset="0"/>
                <a:ea typeface="Noto Sans SC" pitchFamily="34" charset="-122"/>
                <a:cs typeface="Noto Sans SC" pitchFamily="34" charset="-120"/>
              </a:rPr>
              <a:t>创新点与技术方案</a:t>
            </a:r>
            <a:endParaRPr lang="en-US" altLang="zh-CN" sz="3200" b="1" dirty="0">
              <a:solidFill>
                <a:srgbClr val="000000"/>
              </a:solidFill>
              <a:latin typeface="Noto Sans SC" pitchFamily="34" charset="0"/>
              <a:ea typeface="Noto Sans SC" pitchFamily="34" charset="-122"/>
              <a:cs typeface="Noto Sans SC" pitchFamily="34" charset="-120"/>
            </a:endParaRPr>
          </a:p>
          <a:p>
            <a:pPr marL="508000" indent="-508000" algn="l">
              <a:lnSpc>
                <a:spcPct val="120000"/>
              </a:lnSpc>
              <a:spcBef>
                <a:spcPts val="10"/>
              </a:spcBef>
              <a:buSzPct val="100000"/>
              <a:buFont typeface="+mj-lt"/>
              <a:buAutoNum type="arabicPeriod"/>
            </a:pPr>
            <a:r>
              <a:rPr lang="zh-CN" altLang="en-US" sz="3200" b="1" dirty="0">
                <a:solidFill>
                  <a:srgbClr val="000000"/>
                </a:solidFill>
                <a:latin typeface="Noto Sans SC" pitchFamily="34" charset="0"/>
                <a:ea typeface="Noto Sans SC" pitchFamily="34" charset="-122"/>
              </a:rPr>
              <a:t>分布式课程问题分析</a:t>
            </a:r>
            <a:endParaRPr lang="en-US" sz="3200" dirty="0"/>
          </a:p>
          <a:p>
            <a:pPr marL="508000" indent="-508000" algn="l">
              <a:lnSpc>
                <a:spcPct val="120000"/>
              </a:lnSpc>
              <a:spcBef>
                <a:spcPts val="10"/>
              </a:spcBef>
              <a:buSzPct val="100000"/>
              <a:buFont typeface="+mj-lt"/>
              <a:buAutoNum type="arabicPeriod"/>
            </a:pPr>
            <a:r>
              <a:rPr lang="en-US" sz="3200" b="1" dirty="0" err="1">
                <a:solidFill>
                  <a:srgbClr val="000000"/>
                </a:solidFill>
                <a:latin typeface="Noto Sans SC" pitchFamily="34" charset="0"/>
                <a:ea typeface="Noto Sans SC" pitchFamily="34" charset="-122"/>
                <a:cs typeface="Noto Sans SC" pitchFamily="34" charset="-120"/>
              </a:rPr>
              <a:t>测试评估</a:t>
            </a:r>
            <a:endParaRPr lang="en-US" sz="3200" b="1" dirty="0">
              <a:solidFill>
                <a:srgbClr val="000000"/>
              </a:solidFill>
              <a:latin typeface="Noto Sans SC" pitchFamily="34" charset="0"/>
              <a:ea typeface="Noto Sans SC" pitchFamily="34" charset="-122"/>
              <a:cs typeface="Noto Sans SC" pitchFamily="34" charset="-120"/>
            </a:endParaRPr>
          </a:p>
          <a:p>
            <a:pPr marL="508000" indent="-508000" algn="l">
              <a:lnSpc>
                <a:spcPct val="120000"/>
              </a:lnSpc>
              <a:spcBef>
                <a:spcPts val="10"/>
              </a:spcBef>
              <a:buSzPct val="100000"/>
              <a:buFont typeface="+mj-lt"/>
              <a:buAutoNum type="arabicPeriod"/>
            </a:pPr>
            <a:r>
              <a:rPr lang="zh-CN" altLang="en-US" sz="3200" b="1" dirty="0">
                <a:solidFill>
                  <a:srgbClr val="000000"/>
                </a:solidFill>
                <a:latin typeface="Noto Sans SC" pitchFamily="34" charset="0"/>
                <a:ea typeface="Noto Sans SC" pitchFamily="34" charset="-122"/>
              </a:rPr>
              <a:t>过程管理</a:t>
            </a:r>
            <a:endParaRPr lang="en-US" sz="3200" dirty="0"/>
          </a:p>
          <a:p>
            <a:pPr marL="508000" indent="-508000" algn="l">
              <a:lnSpc>
                <a:spcPct val="120000"/>
              </a:lnSpc>
              <a:spcBef>
                <a:spcPts val="10"/>
              </a:spcBef>
              <a:buSzPct val="100000"/>
              <a:buFont typeface="+mj-lt"/>
              <a:buAutoNum type="arabicPeriod"/>
            </a:pPr>
            <a:r>
              <a:rPr lang="en-US" sz="3200" b="1" dirty="0">
                <a:solidFill>
                  <a:srgbClr val="000000"/>
                </a:solidFill>
                <a:latin typeface="Noto Sans SC" pitchFamily="34" charset="0"/>
                <a:ea typeface="Noto Sans SC" pitchFamily="34" charset="-122"/>
                <a:cs typeface="Noto Sans SC" pitchFamily="34" charset="-120"/>
              </a:rPr>
              <a:t>系统总结与展望</a:t>
            </a:r>
            <a:endParaRPr lang="en-US" sz="3200" dirty="0"/>
          </a:p>
        </p:txBody>
      </p:sp>
      <p:sp>
        <p:nvSpPr>
          <p:cNvPr id="5" name="Text 2"/>
          <p:cNvSpPr/>
          <p:nvPr/>
        </p:nvSpPr>
        <p:spPr>
          <a:xfrm>
            <a:off x="2353183" y="1892300"/>
            <a:ext cx="1750949" cy="1025906"/>
          </a:xfrm>
          <a:prstGeom prst="rect">
            <a:avLst/>
          </a:prstGeom>
          <a:noFill/>
          <a:ln/>
        </p:spPr>
        <p:txBody>
          <a:bodyPr wrap="none" lIns="0" tIns="0" rIns="0" bIns="0" rtlCol="0" anchor="ctr"/>
          <a:lstStyle/>
          <a:p>
            <a:pPr algn="ctr">
              <a:lnSpc>
                <a:spcPct val="120000"/>
              </a:lnSpc>
            </a:pPr>
            <a:r>
              <a:rPr lang="en-US" sz="5870" b="1" dirty="0">
                <a:solidFill>
                  <a:srgbClr val="000000"/>
                </a:solidFill>
                <a:latin typeface="汉仪行楷简" pitchFamily="34" charset="0"/>
                <a:ea typeface="汉仪行楷简" pitchFamily="34" charset="-122"/>
                <a:cs typeface="汉仪行楷简" pitchFamily="34" charset="-120"/>
              </a:rPr>
              <a:t>目录</a:t>
            </a:r>
            <a:endParaRPr lang="en-US" sz="587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3.png"/>
          <p:cNvPicPr>
            <a:picLocks noChangeAspect="1"/>
          </p:cNvPicPr>
          <p:nvPr/>
        </p:nvPicPr>
        <p:blipFill>
          <a:blip r:embed="rId3"/>
          <a:stretch>
            <a:fillRect/>
          </a:stretch>
        </p:blipFill>
        <p:spPr>
          <a:xfrm>
            <a:off x="-22098"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3</a:t>
            </a:r>
            <a:endParaRPr lang="en-US" sz="1330" dirty="0"/>
          </a:p>
        </p:txBody>
      </p:sp>
      <p:sp>
        <p:nvSpPr>
          <p:cNvPr id="4" name="Text 1"/>
          <p:cNvSpPr/>
          <p:nvPr/>
        </p:nvSpPr>
        <p:spPr>
          <a:xfrm>
            <a:off x="2500503" y="5481066"/>
            <a:ext cx="11254994" cy="1025906"/>
          </a:xfrm>
          <a:prstGeom prst="rect">
            <a:avLst/>
          </a:prstGeom>
          <a:noFill/>
          <a:ln/>
        </p:spPr>
        <p:txBody>
          <a:bodyPr wrap="square" lIns="0" tIns="0" rIns="0" bIns="0" rtlCol="0" anchor="ctr"/>
          <a:lstStyle/>
          <a:p>
            <a:pPr algn="ctr">
              <a:lnSpc>
                <a:spcPct val="120000"/>
              </a:lnSpc>
            </a:pPr>
            <a:r>
              <a:rPr lang="en-US" sz="5870" dirty="0">
                <a:solidFill>
                  <a:srgbClr val="000000"/>
                </a:solidFill>
                <a:latin typeface="汉仪行楷简" pitchFamily="34" charset="0"/>
                <a:ea typeface="汉仪行楷简" pitchFamily="34" charset="-122"/>
                <a:cs typeface="汉仪行楷简" pitchFamily="34" charset="-120"/>
              </a:rPr>
              <a:t>项目背景与目标</a:t>
            </a:r>
            <a:endParaRPr lang="en-US" sz="587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Shape 1"/>
          <p:cNvSpPr/>
          <p:nvPr/>
        </p:nvSpPr>
        <p:spPr>
          <a:xfrm>
            <a:off x="1096645" y="2438400"/>
            <a:ext cx="3220466" cy="1035304"/>
          </a:xfrm>
          <a:prstGeom prst="rect">
            <a:avLst/>
          </a:prstGeom>
          <a:solidFill>
            <a:srgbClr val="DAAB00"/>
          </a:solidFill>
          <a:ln/>
        </p:spPr>
        <p:txBody>
          <a:bodyPr/>
          <a:lstStyle/>
          <a:p>
            <a:endParaRPr lang="zh-CN" altLang="en-US"/>
          </a:p>
        </p:txBody>
      </p:sp>
      <p:sp>
        <p:nvSpPr>
          <p:cNvPr id="5" name="Text 2"/>
          <p:cNvSpPr/>
          <p:nvPr/>
        </p:nvSpPr>
        <p:spPr>
          <a:xfrm>
            <a:off x="1094740" y="2439797"/>
            <a:ext cx="3224276" cy="1032383"/>
          </a:xfrm>
          <a:prstGeom prst="rect">
            <a:avLst/>
          </a:prstGeom>
          <a:noFill/>
          <a:ln/>
        </p:spPr>
        <p:txBody>
          <a:bodyPr wrap="none" lIns="0" tIns="0" rIns="0" bIns="0" rtlCol="0" anchor="ctr"/>
          <a:lstStyle/>
          <a:p>
            <a:pPr algn="ctr">
              <a:lnSpc>
                <a:spcPct val="120000"/>
              </a:lnSpc>
            </a:pPr>
            <a:r>
              <a:rPr lang="en-US" sz="4270" b="1" dirty="0">
                <a:solidFill>
                  <a:srgbClr val="FFFFFF"/>
                </a:solidFill>
                <a:latin typeface="Arial" pitchFamily="34" charset="0"/>
                <a:ea typeface="Arial" pitchFamily="34" charset="-122"/>
                <a:cs typeface="Arial" pitchFamily="34" charset="-120"/>
              </a:rPr>
              <a:t>01</a:t>
            </a:r>
            <a:endParaRPr lang="en-US" sz="4270" dirty="0"/>
          </a:p>
        </p:txBody>
      </p:sp>
      <p:sp>
        <p:nvSpPr>
          <p:cNvPr id="6" name="Shape 3"/>
          <p:cNvSpPr/>
          <p:nvPr/>
        </p:nvSpPr>
        <p:spPr>
          <a:xfrm>
            <a:off x="2674747" y="3473704"/>
            <a:ext cx="0" cy="850138"/>
          </a:xfrm>
          <a:prstGeom prst="line">
            <a:avLst/>
          </a:prstGeom>
          <a:noFill/>
          <a:ln w="6350">
            <a:solidFill>
              <a:srgbClr val="000000">
                <a:alpha val="49804"/>
              </a:srgbClr>
            </a:solidFill>
            <a:prstDash val="solid"/>
            <a:headEnd type="none"/>
            <a:tailEnd type="none"/>
          </a:ln>
        </p:spPr>
        <p:txBody>
          <a:bodyPr/>
          <a:lstStyle/>
          <a:p>
            <a:endParaRPr lang="zh-CN" altLang="en-US"/>
          </a:p>
        </p:txBody>
      </p:sp>
      <p:sp>
        <p:nvSpPr>
          <p:cNvPr id="7" name="Text 4"/>
          <p:cNvSpPr/>
          <p:nvPr/>
        </p:nvSpPr>
        <p:spPr>
          <a:xfrm>
            <a:off x="1016000" y="4459478"/>
            <a:ext cx="3317367" cy="773557"/>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核心痛点洞察</a:t>
            </a:r>
            <a:endParaRPr lang="en-US" sz="3200" dirty="0"/>
          </a:p>
        </p:txBody>
      </p:sp>
      <p:sp>
        <p:nvSpPr>
          <p:cNvPr id="8" name="Text 5"/>
          <p:cNvSpPr/>
          <p:nvPr/>
        </p:nvSpPr>
        <p:spPr>
          <a:xfrm>
            <a:off x="1016000" y="5233035"/>
            <a:ext cx="3317367" cy="1700784"/>
          </a:xfrm>
          <a:prstGeom prst="rect">
            <a:avLst/>
          </a:prstGeom>
          <a:noFill/>
          <a:ln/>
        </p:spPr>
        <p:txBody>
          <a:bodyPr wrap="square" lIns="0" tIns="0" rIns="0" bIns="0" rtlCol="0" anchor="t"/>
          <a:lstStyle/>
          <a:p>
            <a:pPr algn="ctr">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用户在“附近吃什么”这一高频场景下，面临选择困难、信息过载的问题，缺乏智能辅助决策工具。</a:t>
            </a:r>
            <a:endParaRPr lang="en-US" sz="2130" dirty="0"/>
          </a:p>
        </p:txBody>
      </p:sp>
      <p:sp>
        <p:nvSpPr>
          <p:cNvPr id="9" name="Shape 6"/>
          <p:cNvSpPr/>
          <p:nvPr/>
        </p:nvSpPr>
        <p:spPr>
          <a:xfrm>
            <a:off x="4816856" y="2438400"/>
            <a:ext cx="3220466" cy="1035304"/>
          </a:xfrm>
          <a:prstGeom prst="rect">
            <a:avLst/>
          </a:prstGeom>
          <a:solidFill>
            <a:srgbClr val="DAAB00"/>
          </a:solidFill>
          <a:ln/>
        </p:spPr>
        <p:txBody>
          <a:bodyPr/>
          <a:lstStyle/>
          <a:p>
            <a:endParaRPr lang="zh-CN" altLang="en-US"/>
          </a:p>
        </p:txBody>
      </p:sp>
      <p:sp>
        <p:nvSpPr>
          <p:cNvPr id="10" name="Text 7"/>
          <p:cNvSpPr/>
          <p:nvPr/>
        </p:nvSpPr>
        <p:spPr>
          <a:xfrm>
            <a:off x="4814951" y="2439797"/>
            <a:ext cx="3224276" cy="1032383"/>
          </a:xfrm>
          <a:prstGeom prst="rect">
            <a:avLst/>
          </a:prstGeom>
          <a:noFill/>
          <a:ln/>
        </p:spPr>
        <p:txBody>
          <a:bodyPr wrap="none" lIns="0" tIns="0" rIns="0" bIns="0" rtlCol="0" anchor="ctr"/>
          <a:lstStyle/>
          <a:p>
            <a:pPr algn="ctr">
              <a:lnSpc>
                <a:spcPct val="120000"/>
              </a:lnSpc>
            </a:pPr>
            <a:r>
              <a:rPr lang="en-US" sz="4270" b="1" dirty="0">
                <a:solidFill>
                  <a:srgbClr val="FFFFFF"/>
                </a:solidFill>
                <a:latin typeface="Arial" pitchFamily="34" charset="0"/>
                <a:ea typeface="Arial" pitchFamily="34" charset="-122"/>
                <a:cs typeface="Arial" pitchFamily="34" charset="-120"/>
              </a:rPr>
              <a:t>02</a:t>
            </a:r>
            <a:endParaRPr lang="en-US" sz="4270" dirty="0"/>
          </a:p>
        </p:txBody>
      </p:sp>
      <p:sp>
        <p:nvSpPr>
          <p:cNvPr id="11" name="Shape 8"/>
          <p:cNvSpPr/>
          <p:nvPr/>
        </p:nvSpPr>
        <p:spPr>
          <a:xfrm>
            <a:off x="6394958" y="3473704"/>
            <a:ext cx="0" cy="850138"/>
          </a:xfrm>
          <a:prstGeom prst="line">
            <a:avLst/>
          </a:prstGeom>
          <a:noFill/>
          <a:ln w="6350">
            <a:solidFill>
              <a:srgbClr val="000000">
                <a:alpha val="49804"/>
              </a:srgbClr>
            </a:solidFill>
            <a:prstDash val="solid"/>
            <a:headEnd type="none"/>
            <a:tailEnd type="none"/>
          </a:ln>
        </p:spPr>
        <p:txBody>
          <a:bodyPr/>
          <a:lstStyle/>
          <a:p>
            <a:endParaRPr lang="zh-CN" altLang="en-US"/>
          </a:p>
        </p:txBody>
      </p:sp>
      <p:sp>
        <p:nvSpPr>
          <p:cNvPr id="12" name="Text 9"/>
          <p:cNvSpPr/>
          <p:nvPr/>
        </p:nvSpPr>
        <p:spPr>
          <a:xfrm>
            <a:off x="4736211" y="4459478"/>
            <a:ext cx="3317367" cy="773557"/>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市场现有不足</a:t>
            </a:r>
            <a:endParaRPr lang="en-US" sz="3200" dirty="0"/>
          </a:p>
        </p:txBody>
      </p:sp>
      <p:sp>
        <p:nvSpPr>
          <p:cNvPr id="13" name="Text 10"/>
          <p:cNvSpPr/>
          <p:nvPr/>
        </p:nvSpPr>
        <p:spPr>
          <a:xfrm>
            <a:off x="4736211" y="5233035"/>
            <a:ext cx="3317367" cy="1700784"/>
          </a:xfrm>
          <a:prstGeom prst="rect">
            <a:avLst/>
          </a:prstGeom>
          <a:noFill/>
          <a:ln/>
        </p:spPr>
        <p:txBody>
          <a:bodyPr wrap="square" lIns="0" tIns="0" rIns="0" bIns="0" rtlCol="0" anchor="t"/>
          <a:lstStyle/>
          <a:p>
            <a:pPr algn="ctr">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现有平台或偏重复杂社交，或仅为简单信息列表，缺乏围绕“快速决策”优化的轻量级解决方案。</a:t>
            </a:r>
            <a:endParaRPr lang="en-US" sz="2130" dirty="0"/>
          </a:p>
        </p:txBody>
      </p:sp>
      <p:sp>
        <p:nvSpPr>
          <p:cNvPr id="14" name="Shape 11"/>
          <p:cNvSpPr/>
          <p:nvPr/>
        </p:nvSpPr>
        <p:spPr>
          <a:xfrm>
            <a:off x="8537067" y="2438400"/>
            <a:ext cx="3220466" cy="1035304"/>
          </a:xfrm>
          <a:prstGeom prst="rect">
            <a:avLst/>
          </a:prstGeom>
          <a:solidFill>
            <a:srgbClr val="DAAB00"/>
          </a:solidFill>
          <a:ln/>
        </p:spPr>
        <p:txBody>
          <a:bodyPr/>
          <a:lstStyle/>
          <a:p>
            <a:endParaRPr lang="zh-CN" altLang="en-US"/>
          </a:p>
        </p:txBody>
      </p:sp>
      <p:sp>
        <p:nvSpPr>
          <p:cNvPr id="15" name="Text 12"/>
          <p:cNvSpPr/>
          <p:nvPr/>
        </p:nvSpPr>
        <p:spPr>
          <a:xfrm>
            <a:off x="8535162" y="2439797"/>
            <a:ext cx="3224276" cy="1032383"/>
          </a:xfrm>
          <a:prstGeom prst="rect">
            <a:avLst/>
          </a:prstGeom>
          <a:noFill/>
          <a:ln/>
        </p:spPr>
        <p:txBody>
          <a:bodyPr wrap="none" lIns="0" tIns="0" rIns="0" bIns="0" rtlCol="0" anchor="ctr"/>
          <a:lstStyle/>
          <a:p>
            <a:pPr algn="ctr">
              <a:lnSpc>
                <a:spcPct val="120000"/>
              </a:lnSpc>
            </a:pPr>
            <a:r>
              <a:rPr lang="en-US" sz="4270" b="1" dirty="0">
                <a:solidFill>
                  <a:srgbClr val="FFFFFF"/>
                </a:solidFill>
                <a:latin typeface="Arial" pitchFamily="34" charset="0"/>
                <a:ea typeface="Arial" pitchFamily="34" charset="-122"/>
                <a:cs typeface="Arial" pitchFamily="34" charset="-120"/>
              </a:rPr>
              <a:t>03</a:t>
            </a:r>
            <a:endParaRPr lang="en-US" sz="4270" dirty="0"/>
          </a:p>
        </p:txBody>
      </p:sp>
      <p:sp>
        <p:nvSpPr>
          <p:cNvPr id="16" name="Shape 13"/>
          <p:cNvSpPr/>
          <p:nvPr/>
        </p:nvSpPr>
        <p:spPr>
          <a:xfrm>
            <a:off x="10115042" y="3473704"/>
            <a:ext cx="0" cy="850138"/>
          </a:xfrm>
          <a:prstGeom prst="line">
            <a:avLst/>
          </a:prstGeom>
          <a:noFill/>
          <a:ln w="6350">
            <a:solidFill>
              <a:srgbClr val="000000">
                <a:alpha val="49804"/>
              </a:srgbClr>
            </a:solidFill>
            <a:prstDash val="solid"/>
            <a:headEnd type="none"/>
            <a:tailEnd type="none"/>
          </a:ln>
        </p:spPr>
        <p:txBody>
          <a:bodyPr/>
          <a:lstStyle/>
          <a:p>
            <a:endParaRPr lang="zh-CN" altLang="en-US"/>
          </a:p>
        </p:txBody>
      </p:sp>
      <p:sp>
        <p:nvSpPr>
          <p:cNvPr id="17" name="Text 14"/>
          <p:cNvSpPr/>
          <p:nvPr/>
        </p:nvSpPr>
        <p:spPr>
          <a:xfrm>
            <a:off x="8456422" y="4459478"/>
            <a:ext cx="3317367" cy="773557"/>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技术发展机遇</a:t>
            </a:r>
            <a:endParaRPr lang="en-US" sz="3200" dirty="0"/>
          </a:p>
        </p:txBody>
      </p:sp>
      <p:sp>
        <p:nvSpPr>
          <p:cNvPr id="18" name="Text 15"/>
          <p:cNvSpPr/>
          <p:nvPr/>
        </p:nvSpPr>
        <p:spPr>
          <a:xfrm>
            <a:off x="8456422" y="5233035"/>
            <a:ext cx="3317367" cy="1700784"/>
          </a:xfrm>
          <a:prstGeom prst="rect">
            <a:avLst/>
          </a:prstGeom>
          <a:noFill/>
          <a:ln/>
        </p:spPr>
        <p:txBody>
          <a:bodyPr wrap="square" lIns="0" tIns="0" rIns="0" bIns="0" rtlCol="0" anchor="t"/>
          <a:lstStyle/>
          <a:p>
            <a:pPr algn="ctr">
              <a:lnSpc>
                <a:spcPct val="120000"/>
              </a:lnSpc>
            </a:pPr>
            <a:r>
              <a:rPr lang="en-US" sz="2130" dirty="0">
                <a:solidFill>
                  <a:srgbClr val="000000"/>
                </a:solidFill>
                <a:latin typeface="Average" pitchFamily="34" charset="0"/>
                <a:ea typeface="Average" pitchFamily="34" charset="-122"/>
                <a:cs typeface="Average" pitchFamily="34" charset="-120"/>
              </a:rPr>
              <a:t>LLM技术的成熟为自然语言意图理解与个性化推荐提供了新思路，结合位置服务可构建创新应用。</a:t>
            </a:r>
            <a:endParaRPr lang="en-US" sz="2130" dirty="0"/>
          </a:p>
        </p:txBody>
      </p:sp>
      <p:sp>
        <p:nvSpPr>
          <p:cNvPr id="19" name="Shape 16"/>
          <p:cNvSpPr/>
          <p:nvPr/>
        </p:nvSpPr>
        <p:spPr>
          <a:xfrm>
            <a:off x="12257278" y="2438400"/>
            <a:ext cx="3220466" cy="1035304"/>
          </a:xfrm>
          <a:prstGeom prst="rect">
            <a:avLst/>
          </a:prstGeom>
          <a:solidFill>
            <a:srgbClr val="DAAB00"/>
          </a:solidFill>
          <a:ln/>
        </p:spPr>
        <p:txBody>
          <a:bodyPr/>
          <a:lstStyle/>
          <a:p>
            <a:endParaRPr lang="zh-CN" altLang="en-US"/>
          </a:p>
        </p:txBody>
      </p:sp>
      <p:sp>
        <p:nvSpPr>
          <p:cNvPr id="20" name="Text 17"/>
          <p:cNvSpPr/>
          <p:nvPr/>
        </p:nvSpPr>
        <p:spPr>
          <a:xfrm>
            <a:off x="12255373" y="2439797"/>
            <a:ext cx="3224276" cy="1032383"/>
          </a:xfrm>
          <a:prstGeom prst="rect">
            <a:avLst/>
          </a:prstGeom>
          <a:noFill/>
          <a:ln/>
        </p:spPr>
        <p:txBody>
          <a:bodyPr wrap="none" lIns="0" tIns="0" rIns="0" bIns="0" rtlCol="0" anchor="ctr"/>
          <a:lstStyle/>
          <a:p>
            <a:pPr algn="ctr">
              <a:lnSpc>
                <a:spcPct val="120000"/>
              </a:lnSpc>
            </a:pPr>
            <a:r>
              <a:rPr lang="en-US" sz="4270" b="1" dirty="0">
                <a:solidFill>
                  <a:srgbClr val="FFFFFF"/>
                </a:solidFill>
                <a:latin typeface="Arial" pitchFamily="34" charset="0"/>
                <a:ea typeface="Arial" pitchFamily="34" charset="-122"/>
                <a:cs typeface="Arial" pitchFamily="34" charset="-120"/>
              </a:rPr>
              <a:t>04</a:t>
            </a:r>
            <a:endParaRPr lang="en-US" sz="4270" dirty="0"/>
          </a:p>
        </p:txBody>
      </p:sp>
      <p:sp>
        <p:nvSpPr>
          <p:cNvPr id="21" name="Shape 18"/>
          <p:cNvSpPr/>
          <p:nvPr/>
        </p:nvSpPr>
        <p:spPr>
          <a:xfrm>
            <a:off x="13835253" y="3473704"/>
            <a:ext cx="0" cy="850138"/>
          </a:xfrm>
          <a:prstGeom prst="line">
            <a:avLst/>
          </a:prstGeom>
          <a:noFill/>
          <a:ln w="6350">
            <a:solidFill>
              <a:srgbClr val="000000">
                <a:alpha val="49804"/>
              </a:srgbClr>
            </a:solidFill>
            <a:prstDash val="solid"/>
            <a:headEnd type="none"/>
            <a:tailEnd type="none"/>
          </a:ln>
        </p:spPr>
        <p:txBody>
          <a:bodyPr/>
          <a:lstStyle/>
          <a:p>
            <a:endParaRPr lang="zh-CN" altLang="en-US"/>
          </a:p>
        </p:txBody>
      </p:sp>
      <p:sp>
        <p:nvSpPr>
          <p:cNvPr id="22" name="Text 19"/>
          <p:cNvSpPr/>
          <p:nvPr/>
        </p:nvSpPr>
        <p:spPr>
          <a:xfrm>
            <a:off x="12176633" y="4459478"/>
            <a:ext cx="3317367" cy="773557"/>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项目必要性总结</a:t>
            </a:r>
            <a:endParaRPr lang="en-US" sz="3200" dirty="0"/>
          </a:p>
        </p:txBody>
      </p:sp>
      <p:sp>
        <p:nvSpPr>
          <p:cNvPr id="23" name="Text 20"/>
          <p:cNvSpPr/>
          <p:nvPr/>
        </p:nvSpPr>
        <p:spPr>
          <a:xfrm>
            <a:off x="12176633" y="5233035"/>
            <a:ext cx="3317367" cy="1700784"/>
          </a:xfrm>
          <a:prstGeom prst="rect">
            <a:avLst/>
          </a:prstGeom>
          <a:noFill/>
          <a:ln/>
        </p:spPr>
        <p:txBody>
          <a:bodyPr wrap="square" lIns="0" tIns="0" rIns="0" bIns="0" rtlCol="0" anchor="t"/>
          <a:lstStyle/>
          <a:p>
            <a:pPr algn="ctr">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因此，开发一个聚焦核心需求、利用AI提升效率的轻量级推荐系统，具备明确的用户价值与实践意义。</a:t>
            </a:r>
            <a:endParaRPr lang="en-US" sz="2130" dirty="0"/>
          </a:p>
        </p:txBody>
      </p:sp>
      <p:sp>
        <p:nvSpPr>
          <p:cNvPr id="24" name="Text 21"/>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项目背景分析</a:t>
            </a:r>
            <a:endParaRPr lang="en-US" sz="373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Shape 1"/>
          <p:cNvSpPr/>
          <p:nvPr/>
        </p:nvSpPr>
        <p:spPr>
          <a:xfrm>
            <a:off x="3496691" y="2206117"/>
            <a:ext cx="1931670" cy="96774"/>
          </a:xfrm>
          <a:prstGeom prst="rect">
            <a:avLst/>
          </a:prstGeom>
          <a:noFill/>
          <a:ln w="12700">
            <a:solidFill>
              <a:srgbClr val="FFFFFF"/>
            </a:solidFill>
            <a:prstDash val="solid"/>
          </a:ln>
        </p:spPr>
        <p:txBody>
          <a:bodyPr/>
          <a:lstStyle/>
          <a:p>
            <a:endParaRPr lang="zh-CN" altLang="en-US"/>
          </a:p>
        </p:txBody>
      </p:sp>
      <p:sp>
        <p:nvSpPr>
          <p:cNvPr id="5" name="Shape 2"/>
          <p:cNvSpPr/>
          <p:nvPr/>
        </p:nvSpPr>
        <p:spPr>
          <a:xfrm>
            <a:off x="7162165" y="2206117"/>
            <a:ext cx="1931670" cy="96774"/>
          </a:xfrm>
          <a:prstGeom prst="rect">
            <a:avLst/>
          </a:prstGeom>
          <a:noFill/>
          <a:ln w="12700">
            <a:solidFill>
              <a:srgbClr val="FFFFFF"/>
            </a:solidFill>
            <a:prstDash val="solid"/>
          </a:ln>
        </p:spPr>
        <p:txBody>
          <a:bodyPr/>
          <a:lstStyle/>
          <a:p>
            <a:endParaRPr lang="zh-CN" altLang="en-US"/>
          </a:p>
        </p:txBody>
      </p:sp>
      <p:sp>
        <p:nvSpPr>
          <p:cNvPr id="6" name="Shape 3"/>
          <p:cNvSpPr/>
          <p:nvPr/>
        </p:nvSpPr>
        <p:spPr>
          <a:xfrm>
            <a:off x="10827639" y="2206117"/>
            <a:ext cx="1931670" cy="96774"/>
          </a:xfrm>
          <a:prstGeom prst="rect">
            <a:avLst/>
          </a:prstGeom>
          <a:noFill/>
          <a:ln w="12700">
            <a:solidFill>
              <a:srgbClr val="FFFFFF"/>
            </a:solidFill>
            <a:prstDash val="solid"/>
          </a:ln>
        </p:spPr>
        <p:txBody>
          <a:bodyPr/>
          <a:lstStyle/>
          <a:p>
            <a:endParaRPr lang="zh-CN" altLang="en-US"/>
          </a:p>
        </p:txBody>
      </p:sp>
      <p:sp>
        <p:nvSpPr>
          <p:cNvPr id="7" name="Shape 4"/>
          <p:cNvSpPr/>
          <p:nvPr/>
        </p:nvSpPr>
        <p:spPr>
          <a:xfrm>
            <a:off x="2000885" y="1625600"/>
            <a:ext cx="1257935" cy="1257935"/>
          </a:xfrm>
          <a:prstGeom prst="ellipse">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8" name="Text 5"/>
          <p:cNvSpPr/>
          <p:nvPr/>
        </p:nvSpPr>
        <p:spPr>
          <a:xfrm>
            <a:off x="2000885" y="1625600"/>
            <a:ext cx="1257935" cy="1257935"/>
          </a:xfrm>
          <a:prstGeom prst="rect">
            <a:avLst/>
          </a:prstGeom>
          <a:noFill/>
          <a:ln/>
        </p:spPr>
        <p:txBody>
          <a:bodyPr wrap="none" lIns="0" tIns="0" rIns="0" bIns="0" rtlCol="0" anchor="ctr"/>
          <a:lstStyle/>
          <a:p>
            <a:pPr algn="ctr">
              <a:lnSpc>
                <a:spcPct val="120000"/>
              </a:lnSpc>
            </a:pPr>
            <a:r>
              <a:rPr lang="en-US" sz="3200" b="1" dirty="0">
                <a:solidFill>
                  <a:srgbClr val="FFFFFF"/>
                </a:solidFill>
                <a:latin typeface="Arial" pitchFamily="34" charset="0"/>
                <a:ea typeface="Arial" pitchFamily="34" charset="-122"/>
                <a:cs typeface="Arial" pitchFamily="34" charset="-120"/>
              </a:rPr>
              <a:t>01</a:t>
            </a:r>
            <a:endParaRPr lang="en-US" sz="3200" dirty="0"/>
          </a:p>
        </p:txBody>
      </p:sp>
      <p:sp>
        <p:nvSpPr>
          <p:cNvPr id="9" name="Shape 6"/>
          <p:cNvSpPr/>
          <p:nvPr/>
        </p:nvSpPr>
        <p:spPr>
          <a:xfrm>
            <a:off x="889000" y="3326257"/>
            <a:ext cx="3481705" cy="4192143"/>
          </a:xfrm>
          <a:prstGeom prst="roundRect">
            <a:avLst>
              <a:gd name="adj" fmla="val 3541"/>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10" name="Text 7"/>
          <p:cNvSpPr/>
          <p:nvPr/>
        </p:nvSpPr>
        <p:spPr>
          <a:xfrm>
            <a:off x="1033145" y="4576953"/>
            <a:ext cx="3193415" cy="2004949"/>
          </a:xfrm>
          <a:prstGeom prst="rect">
            <a:avLst/>
          </a:prstGeom>
          <a:noFill/>
          <a:ln/>
        </p:spPr>
        <p:txBody>
          <a:bodyPr wrap="square" lIns="0" tIns="0" rIns="0" bIns="0" rtlCol="0" anchor="t"/>
          <a:lstStyle/>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实现一个支持自然语言输入、多维度偏好设置的双模式（标准/极速）推荐系统。</a:t>
            </a:r>
            <a:endParaRPr lang="en-US" sz="2130" dirty="0"/>
          </a:p>
        </p:txBody>
      </p:sp>
      <p:sp>
        <p:nvSpPr>
          <p:cNvPr id="11" name="Text 8"/>
          <p:cNvSpPr/>
          <p:nvPr/>
        </p:nvSpPr>
        <p:spPr>
          <a:xfrm>
            <a:off x="1033145" y="3426333"/>
            <a:ext cx="3193415" cy="1150493"/>
          </a:xfrm>
          <a:prstGeom prst="rect">
            <a:avLst/>
          </a:prstGeom>
          <a:noFill/>
          <a:ln/>
        </p:spPr>
        <p:txBody>
          <a:bodyPr wrap="square" lIns="0" tIns="0" rIns="0" bIns="0" rtlCol="0" anchor="b"/>
          <a:lstStyle/>
          <a:p>
            <a:pPr algn="l">
              <a:lnSpc>
                <a:spcPct val="130000"/>
              </a:lnSpc>
            </a:pPr>
            <a:r>
              <a:rPr lang="en-US" sz="2400" b="1" dirty="0">
                <a:solidFill>
                  <a:srgbClr val="FFFFFF"/>
                </a:solidFill>
                <a:latin typeface="汉仪行楷简" pitchFamily="34" charset="0"/>
                <a:ea typeface="汉仪行楷简" pitchFamily="34" charset="-122"/>
                <a:cs typeface="汉仪行楷简" pitchFamily="34" charset="-120"/>
              </a:rPr>
              <a:t>核心功能目标</a:t>
            </a:r>
            <a:endParaRPr lang="en-US" sz="2400" dirty="0"/>
          </a:p>
        </p:txBody>
      </p:sp>
      <p:sp>
        <p:nvSpPr>
          <p:cNvPr id="12" name="Shape 9"/>
          <p:cNvSpPr/>
          <p:nvPr/>
        </p:nvSpPr>
        <p:spPr>
          <a:xfrm>
            <a:off x="5666232" y="1625600"/>
            <a:ext cx="1257935" cy="1257935"/>
          </a:xfrm>
          <a:prstGeom prst="ellipse">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13" name="Text 10"/>
          <p:cNvSpPr/>
          <p:nvPr/>
        </p:nvSpPr>
        <p:spPr>
          <a:xfrm>
            <a:off x="5666232" y="1625600"/>
            <a:ext cx="1257935" cy="1257935"/>
          </a:xfrm>
          <a:prstGeom prst="rect">
            <a:avLst/>
          </a:prstGeom>
          <a:noFill/>
          <a:ln/>
        </p:spPr>
        <p:txBody>
          <a:bodyPr wrap="none" lIns="0" tIns="0" rIns="0" bIns="0" rtlCol="0" anchor="ctr"/>
          <a:lstStyle/>
          <a:p>
            <a:pPr algn="ctr">
              <a:lnSpc>
                <a:spcPct val="120000"/>
              </a:lnSpc>
            </a:pPr>
            <a:r>
              <a:rPr lang="en-US" sz="3200" b="1" dirty="0">
                <a:solidFill>
                  <a:srgbClr val="FFFFFF"/>
                </a:solidFill>
                <a:latin typeface="Arial" pitchFamily="34" charset="0"/>
                <a:ea typeface="Arial" pitchFamily="34" charset="-122"/>
                <a:cs typeface="Arial" pitchFamily="34" charset="-120"/>
              </a:rPr>
              <a:t>02</a:t>
            </a:r>
            <a:endParaRPr lang="en-US" sz="3200" dirty="0"/>
          </a:p>
        </p:txBody>
      </p:sp>
      <p:sp>
        <p:nvSpPr>
          <p:cNvPr id="14" name="Shape 11"/>
          <p:cNvSpPr/>
          <p:nvPr/>
        </p:nvSpPr>
        <p:spPr>
          <a:xfrm>
            <a:off x="4554474" y="3326257"/>
            <a:ext cx="3481705" cy="4192143"/>
          </a:xfrm>
          <a:prstGeom prst="roundRect">
            <a:avLst>
              <a:gd name="adj" fmla="val 2645"/>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15" name="Text 12"/>
          <p:cNvSpPr/>
          <p:nvPr/>
        </p:nvSpPr>
        <p:spPr>
          <a:xfrm>
            <a:off x="4698492" y="4576953"/>
            <a:ext cx="3193415" cy="2004949"/>
          </a:xfrm>
          <a:prstGeom prst="rect">
            <a:avLst/>
          </a:prstGeom>
          <a:noFill/>
          <a:ln/>
        </p:spPr>
        <p:txBody>
          <a:bodyPr wrap="square" lIns="0" tIns="0" rIns="0" bIns="0" rtlCol="0" anchor="t"/>
          <a:lstStyle/>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系统需具备高响应性，极速模式下P50延迟≤50ms，标准模式下能稳定处理外部依赖波动。</a:t>
            </a:r>
            <a:endParaRPr lang="en-US" sz="2130" dirty="0"/>
          </a:p>
        </p:txBody>
      </p:sp>
      <p:sp>
        <p:nvSpPr>
          <p:cNvPr id="16" name="Text 13"/>
          <p:cNvSpPr/>
          <p:nvPr/>
        </p:nvSpPr>
        <p:spPr>
          <a:xfrm>
            <a:off x="4698492" y="3426333"/>
            <a:ext cx="3193415" cy="1150493"/>
          </a:xfrm>
          <a:prstGeom prst="rect">
            <a:avLst/>
          </a:prstGeom>
          <a:noFill/>
          <a:ln/>
        </p:spPr>
        <p:txBody>
          <a:bodyPr wrap="square" lIns="0" tIns="0" rIns="0" bIns="0" rtlCol="0" anchor="b"/>
          <a:lstStyle/>
          <a:p>
            <a:pPr algn="l">
              <a:lnSpc>
                <a:spcPct val="120000"/>
              </a:lnSpc>
            </a:pPr>
            <a:r>
              <a:rPr lang="en-US" sz="2400" b="1" dirty="0">
                <a:solidFill>
                  <a:srgbClr val="FFFFFF"/>
                </a:solidFill>
                <a:latin typeface="汉仪行楷简" pitchFamily="34" charset="0"/>
                <a:ea typeface="汉仪行楷简" pitchFamily="34" charset="-122"/>
                <a:cs typeface="汉仪行楷简" pitchFamily="34" charset="-120"/>
              </a:rPr>
              <a:t>非功能性能目标</a:t>
            </a:r>
            <a:endParaRPr lang="en-US" sz="2400" dirty="0"/>
          </a:p>
        </p:txBody>
      </p:sp>
      <p:sp>
        <p:nvSpPr>
          <p:cNvPr id="17" name="Shape 14"/>
          <p:cNvSpPr/>
          <p:nvPr/>
        </p:nvSpPr>
        <p:spPr>
          <a:xfrm>
            <a:off x="9331706" y="1625600"/>
            <a:ext cx="1257935" cy="1257935"/>
          </a:xfrm>
          <a:prstGeom prst="ellipse">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18" name="Text 15"/>
          <p:cNvSpPr/>
          <p:nvPr/>
        </p:nvSpPr>
        <p:spPr>
          <a:xfrm>
            <a:off x="9331706" y="1625600"/>
            <a:ext cx="1257935" cy="1257935"/>
          </a:xfrm>
          <a:prstGeom prst="rect">
            <a:avLst/>
          </a:prstGeom>
          <a:noFill/>
          <a:ln/>
        </p:spPr>
        <p:txBody>
          <a:bodyPr wrap="none" lIns="0" tIns="0" rIns="0" bIns="0" rtlCol="0" anchor="ctr"/>
          <a:lstStyle/>
          <a:p>
            <a:pPr algn="ctr">
              <a:lnSpc>
                <a:spcPct val="120000"/>
              </a:lnSpc>
            </a:pPr>
            <a:r>
              <a:rPr lang="en-US" sz="3200" b="1" dirty="0">
                <a:solidFill>
                  <a:srgbClr val="FFFFFF"/>
                </a:solidFill>
                <a:latin typeface="Arial" pitchFamily="34" charset="0"/>
                <a:ea typeface="Arial" pitchFamily="34" charset="-122"/>
                <a:cs typeface="Arial" pitchFamily="34" charset="-120"/>
              </a:rPr>
              <a:t>03</a:t>
            </a:r>
            <a:endParaRPr lang="en-US" sz="3200" dirty="0"/>
          </a:p>
        </p:txBody>
      </p:sp>
      <p:sp>
        <p:nvSpPr>
          <p:cNvPr id="19" name="Shape 16"/>
          <p:cNvSpPr/>
          <p:nvPr/>
        </p:nvSpPr>
        <p:spPr>
          <a:xfrm>
            <a:off x="8219948" y="3326257"/>
            <a:ext cx="3481705" cy="4192143"/>
          </a:xfrm>
          <a:prstGeom prst="roundRect">
            <a:avLst>
              <a:gd name="adj" fmla="val 2943"/>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20" name="Text 17"/>
          <p:cNvSpPr/>
          <p:nvPr/>
        </p:nvSpPr>
        <p:spPr>
          <a:xfrm>
            <a:off x="8363966" y="4576953"/>
            <a:ext cx="3193415" cy="2004949"/>
          </a:xfrm>
          <a:prstGeom prst="rect">
            <a:avLst/>
          </a:prstGeom>
          <a:noFill/>
          <a:ln/>
        </p:spPr>
        <p:txBody>
          <a:bodyPr wrap="square" lIns="0" tIns="0" rIns="0" bIns="0" rtlCol="0" anchor="t"/>
          <a:lstStyle/>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设计并实现缓存、降级、熔断等机制，保障核心链路可用性，避免级联故障。</a:t>
            </a:r>
            <a:endParaRPr lang="en-US" sz="2130" dirty="0"/>
          </a:p>
        </p:txBody>
      </p:sp>
      <p:sp>
        <p:nvSpPr>
          <p:cNvPr id="21" name="Text 18"/>
          <p:cNvSpPr/>
          <p:nvPr/>
        </p:nvSpPr>
        <p:spPr>
          <a:xfrm>
            <a:off x="8363966" y="3426333"/>
            <a:ext cx="3193415" cy="1150493"/>
          </a:xfrm>
          <a:prstGeom prst="rect">
            <a:avLst/>
          </a:prstGeom>
          <a:noFill/>
          <a:ln/>
        </p:spPr>
        <p:txBody>
          <a:bodyPr wrap="square" lIns="0" tIns="0" rIns="0" bIns="0" rtlCol="0" anchor="b"/>
          <a:lstStyle/>
          <a:p>
            <a:pPr algn="l">
              <a:lnSpc>
                <a:spcPct val="130000"/>
              </a:lnSpc>
            </a:pPr>
            <a:r>
              <a:rPr lang="en-US" sz="2400" b="1" dirty="0">
                <a:solidFill>
                  <a:srgbClr val="FFFFFF"/>
                </a:solidFill>
                <a:latin typeface="汉仪行楷简" pitchFamily="34" charset="0"/>
                <a:ea typeface="汉仪行楷简" pitchFamily="34" charset="-122"/>
                <a:cs typeface="汉仪行楷简" pitchFamily="34" charset="-120"/>
              </a:rPr>
              <a:t>可靠性目标</a:t>
            </a:r>
            <a:endParaRPr lang="en-US" sz="2400" dirty="0"/>
          </a:p>
        </p:txBody>
      </p:sp>
      <p:sp>
        <p:nvSpPr>
          <p:cNvPr id="22" name="Shape 19"/>
          <p:cNvSpPr/>
          <p:nvPr/>
        </p:nvSpPr>
        <p:spPr>
          <a:xfrm>
            <a:off x="12997180" y="1625600"/>
            <a:ext cx="1257935" cy="1257935"/>
          </a:xfrm>
          <a:prstGeom prst="ellipse">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23" name="Text 20"/>
          <p:cNvSpPr/>
          <p:nvPr/>
        </p:nvSpPr>
        <p:spPr>
          <a:xfrm>
            <a:off x="12997180" y="1625600"/>
            <a:ext cx="1257935" cy="1257935"/>
          </a:xfrm>
          <a:prstGeom prst="rect">
            <a:avLst/>
          </a:prstGeom>
          <a:noFill/>
          <a:ln/>
        </p:spPr>
        <p:txBody>
          <a:bodyPr wrap="none" lIns="0" tIns="0" rIns="0" bIns="0" rtlCol="0" anchor="ctr"/>
          <a:lstStyle/>
          <a:p>
            <a:pPr algn="ctr">
              <a:lnSpc>
                <a:spcPct val="120000"/>
              </a:lnSpc>
            </a:pPr>
            <a:r>
              <a:rPr lang="en-US" sz="3200" b="1" dirty="0">
                <a:solidFill>
                  <a:srgbClr val="FFFFFF"/>
                </a:solidFill>
                <a:latin typeface="Arial" pitchFamily="34" charset="0"/>
                <a:ea typeface="Arial" pitchFamily="34" charset="-122"/>
                <a:cs typeface="Arial" pitchFamily="34" charset="-120"/>
              </a:rPr>
              <a:t>04</a:t>
            </a:r>
            <a:endParaRPr lang="en-US" sz="3200" dirty="0"/>
          </a:p>
        </p:txBody>
      </p:sp>
      <p:sp>
        <p:nvSpPr>
          <p:cNvPr id="24" name="Shape 21"/>
          <p:cNvSpPr/>
          <p:nvPr/>
        </p:nvSpPr>
        <p:spPr>
          <a:xfrm>
            <a:off x="11885295" y="3326257"/>
            <a:ext cx="3481705" cy="4192143"/>
          </a:xfrm>
          <a:prstGeom prst="roundRect">
            <a:avLst>
              <a:gd name="adj" fmla="val 3242"/>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25" name="Text 22"/>
          <p:cNvSpPr/>
          <p:nvPr/>
        </p:nvSpPr>
        <p:spPr>
          <a:xfrm>
            <a:off x="12029440" y="4576953"/>
            <a:ext cx="3193415" cy="2004949"/>
          </a:xfrm>
          <a:prstGeom prst="rect">
            <a:avLst/>
          </a:prstGeom>
          <a:noFill/>
          <a:ln/>
        </p:spPr>
        <p:txBody>
          <a:bodyPr wrap="square" lIns="0" tIns="0" rIns="0" bIns="0" rtlCol="0" anchor="t"/>
          <a:lstStyle/>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完成一个具备完整前后端、拥有真实数据交互、并经过性能验证的可演示系统原型。</a:t>
            </a:r>
            <a:endParaRPr lang="en-US" sz="2130" dirty="0"/>
          </a:p>
        </p:txBody>
      </p:sp>
      <p:sp>
        <p:nvSpPr>
          <p:cNvPr id="26" name="Text 23"/>
          <p:cNvSpPr/>
          <p:nvPr/>
        </p:nvSpPr>
        <p:spPr>
          <a:xfrm>
            <a:off x="12029440" y="3426333"/>
            <a:ext cx="3193415" cy="1150493"/>
          </a:xfrm>
          <a:prstGeom prst="rect">
            <a:avLst/>
          </a:prstGeom>
          <a:noFill/>
          <a:ln/>
        </p:spPr>
        <p:txBody>
          <a:bodyPr wrap="square" lIns="0" tIns="0" rIns="0" bIns="0" rtlCol="0" anchor="b"/>
          <a:lstStyle/>
          <a:p>
            <a:pPr algn="l">
              <a:lnSpc>
                <a:spcPct val="120000"/>
              </a:lnSpc>
            </a:pPr>
            <a:r>
              <a:rPr lang="en-US" sz="2400" b="1" dirty="0">
                <a:solidFill>
                  <a:srgbClr val="FFFFFF"/>
                </a:solidFill>
                <a:latin typeface="汉仪行楷简" pitchFamily="34" charset="0"/>
                <a:ea typeface="汉仪行楷简" pitchFamily="34" charset="-122"/>
                <a:cs typeface="汉仪行楷简" pitchFamily="34" charset="-120"/>
              </a:rPr>
              <a:t>项目最终交付</a:t>
            </a:r>
            <a:endParaRPr lang="en-US" sz="2400" dirty="0"/>
          </a:p>
        </p:txBody>
      </p:sp>
      <p:sp>
        <p:nvSpPr>
          <p:cNvPr id="27" name="Text 24"/>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项目目标定义</a:t>
            </a:r>
            <a:endParaRPr lang="en-US" sz="373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3.png"/>
          <p:cNvPicPr>
            <a:picLocks noChangeAspect="1"/>
          </p:cNvPicPr>
          <p:nvPr/>
        </p:nvPicPr>
        <p:blipFill>
          <a:blip r:embed="rId3"/>
          <a:stretch>
            <a:fillRect/>
          </a:stretch>
        </p:blipFill>
        <p:spPr>
          <a:xfrm>
            <a:off x="-22098"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3</a:t>
            </a:r>
            <a:endParaRPr lang="en-US" sz="1330" dirty="0"/>
          </a:p>
        </p:txBody>
      </p:sp>
      <p:sp>
        <p:nvSpPr>
          <p:cNvPr id="4" name="Text 1"/>
          <p:cNvSpPr/>
          <p:nvPr/>
        </p:nvSpPr>
        <p:spPr>
          <a:xfrm>
            <a:off x="2500503" y="5481066"/>
            <a:ext cx="11254994" cy="1025906"/>
          </a:xfrm>
          <a:prstGeom prst="rect">
            <a:avLst/>
          </a:prstGeom>
          <a:noFill/>
          <a:ln/>
        </p:spPr>
        <p:txBody>
          <a:bodyPr wrap="square" lIns="0" tIns="0" rIns="0" bIns="0" rtlCol="0" anchor="ctr"/>
          <a:lstStyle/>
          <a:p>
            <a:pPr algn="ctr">
              <a:lnSpc>
                <a:spcPct val="120000"/>
              </a:lnSpc>
            </a:pPr>
            <a:r>
              <a:rPr lang="en-US" sz="5870" dirty="0">
                <a:solidFill>
                  <a:srgbClr val="000000"/>
                </a:solidFill>
                <a:latin typeface="汉仪行楷简" pitchFamily="34" charset="0"/>
                <a:ea typeface="汉仪行楷简" pitchFamily="34" charset="-122"/>
                <a:cs typeface="汉仪行楷简" pitchFamily="34" charset="-120"/>
              </a:rPr>
              <a:t>系统总体架构</a:t>
            </a:r>
            <a:endParaRPr lang="en-US" sz="587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rial" pitchFamily="34" charset="0"/>
                <a:ea typeface="Arial" pitchFamily="34" charset="-122"/>
                <a:cs typeface="Arial" pitchFamily="34" charset="-120"/>
              </a:rPr>
              <a:t>10</a:t>
            </a:r>
            <a:endParaRPr lang="en-US" sz="1330" dirty="0"/>
          </a:p>
        </p:txBody>
      </p:sp>
      <p:sp>
        <p:nvSpPr>
          <p:cNvPr id="4" name="Text 1"/>
          <p:cNvSpPr/>
          <p:nvPr/>
        </p:nvSpPr>
        <p:spPr>
          <a:xfrm>
            <a:off x="880491" y="171450"/>
            <a:ext cx="14478000" cy="698500"/>
          </a:xfrm>
          <a:prstGeom prst="rect">
            <a:avLst/>
          </a:prstGeom>
          <a:noFill/>
          <a:ln/>
        </p:spPr>
        <p:txBody>
          <a:bodyPr wrap="non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系统架构设计</a:t>
            </a:r>
            <a:endParaRPr lang="en-US" sz="3730" dirty="0"/>
          </a:p>
        </p:txBody>
      </p:sp>
      <p:sp>
        <p:nvSpPr>
          <p:cNvPr id="5" name="Text 2"/>
          <p:cNvSpPr/>
          <p:nvPr/>
        </p:nvSpPr>
        <p:spPr>
          <a:xfrm>
            <a:off x="880491" y="927100"/>
            <a:ext cx="14478000" cy="508000"/>
          </a:xfrm>
          <a:prstGeom prst="rect">
            <a:avLst/>
          </a:prstGeom>
          <a:noFill/>
          <a:ln/>
        </p:spPr>
        <p:txBody>
          <a:bodyPr wrap="square" lIns="0" tIns="0" rIns="0" bIns="0" rtlCol="0" anchor="t"/>
          <a:lstStyle/>
          <a:p>
            <a:pPr algn="l">
              <a:lnSpc>
                <a:spcPct val="130000"/>
              </a:lnSpc>
            </a:pPr>
            <a:r>
              <a:rPr lang="en-US" sz="1500" dirty="0">
                <a:solidFill>
                  <a:srgbClr val="555555"/>
                </a:solidFill>
                <a:latin typeface="MiSans" pitchFamily="34" charset="0"/>
                <a:ea typeface="MiSans" pitchFamily="34" charset="-122"/>
                <a:cs typeface="MiSans" pitchFamily="34" charset="-120"/>
              </a:rPr>
              <a:t>系统整体划分为展示层、业务层、数据层和外部服务层，形成清晰的分层结构。</a:t>
            </a:r>
            <a:endParaRPr lang="en-US" sz="1500" dirty="0"/>
          </a:p>
        </p:txBody>
      </p:sp>
      <p:sp>
        <p:nvSpPr>
          <p:cNvPr id="6" name="Shape 3"/>
          <p:cNvSpPr/>
          <p:nvPr/>
        </p:nvSpPr>
        <p:spPr>
          <a:xfrm>
            <a:off x="889000" y="1587500"/>
            <a:ext cx="6096000" cy="914400"/>
          </a:xfrm>
          <a:prstGeom prst="roundRect">
            <a:avLst>
              <a:gd name="adj" fmla="val 8000"/>
            </a:avLst>
          </a:prstGeom>
          <a:gradFill flip="none" rotWithShape="1">
            <a:gsLst>
              <a:gs pos="0">
                <a:srgbClr val="DAAB00"/>
              </a:gs>
              <a:gs pos="100000">
                <a:srgbClr val="F8931D"/>
              </a:gs>
            </a:gsLst>
            <a:lin ang="0" scaled="1"/>
          </a:gradFill>
          <a:ln/>
        </p:spPr>
        <p:txBody>
          <a:bodyPr/>
          <a:lstStyle/>
          <a:p>
            <a:endParaRPr lang="zh-CN" altLang="en-US"/>
          </a:p>
        </p:txBody>
      </p:sp>
      <p:sp>
        <p:nvSpPr>
          <p:cNvPr id="7" name="Text 4"/>
          <p:cNvSpPr/>
          <p:nvPr/>
        </p:nvSpPr>
        <p:spPr>
          <a:xfrm>
            <a:off x="889000" y="1587500"/>
            <a:ext cx="6096000" cy="914400"/>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汉仪行楷简" pitchFamily="34" charset="0"/>
                <a:ea typeface="汉仪行楷简" pitchFamily="34" charset="-122"/>
                <a:cs typeface="汉仪行楷简" pitchFamily="34" charset="-120"/>
              </a:rPr>
              <a:t>展示层</a:t>
            </a:r>
            <a:endParaRPr lang="en-US" sz="2000" dirty="0"/>
          </a:p>
        </p:txBody>
      </p:sp>
      <p:sp>
        <p:nvSpPr>
          <p:cNvPr id="8" name="Text 5"/>
          <p:cNvSpPr/>
          <p:nvPr/>
        </p:nvSpPr>
        <p:spPr>
          <a:xfrm>
            <a:off x="7239000" y="1790700"/>
            <a:ext cx="8128000" cy="508000"/>
          </a:xfrm>
          <a:prstGeom prst="rect">
            <a:avLst/>
          </a:prstGeom>
          <a:noFill/>
          <a:ln/>
        </p:spPr>
        <p:txBody>
          <a:bodyPr wrap="square" lIns="0" tIns="0" rIns="0" bIns="0" rtlCol="0" anchor="ctr"/>
          <a:lstStyle/>
          <a:p>
            <a:pPr algn="l">
              <a:lnSpc>
                <a:spcPct val="130000"/>
              </a:lnSpc>
            </a:pPr>
            <a:r>
              <a:rPr lang="en-US" sz="2000" dirty="0">
                <a:solidFill>
                  <a:srgbClr val="000000"/>
                </a:solidFill>
                <a:latin typeface="MiSans" pitchFamily="34" charset="0"/>
                <a:ea typeface="MiSans" pitchFamily="34" charset="-122"/>
                <a:cs typeface="MiSans" pitchFamily="34" charset="-120"/>
              </a:rPr>
              <a:t>包含首页、登录页、偏好设置页等前端页面，负责接收用户输入并呈现推荐结果。</a:t>
            </a:r>
            <a:endParaRPr lang="en-US" sz="2000" dirty="0"/>
          </a:p>
        </p:txBody>
      </p:sp>
      <p:sp>
        <p:nvSpPr>
          <p:cNvPr id="9" name="Shape 6"/>
          <p:cNvSpPr/>
          <p:nvPr/>
        </p:nvSpPr>
        <p:spPr>
          <a:xfrm>
            <a:off x="3810000" y="2501900"/>
            <a:ext cx="0" cy="228600"/>
          </a:xfrm>
          <a:prstGeom prst="straightConnector1">
            <a:avLst/>
          </a:prstGeom>
          <a:noFill/>
          <a:ln w="25400">
            <a:solidFill>
              <a:srgbClr val="DAAB00"/>
            </a:solidFill>
            <a:prstDash val="solid"/>
            <a:headEnd type="none"/>
            <a:tailEnd type="arrow"/>
          </a:ln>
        </p:spPr>
        <p:txBody>
          <a:bodyPr/>
          <a:lstStyle/>
          <a:p>
            <a:endParaRPr lang="zh-CN" altLang="en-US"/>
          </a:p>
        </p:txBody>
      </p:sp>
      <p:sp>
        <p:nvSpPr>
          <p:cNvPr id="10" name="Shape 7"/>
          <p:cNvSpPr/>
          <p:nvPr/>
        </p:nvSpPr>
        <p:spPr>
          <a:xfrm>
            <a:off x="889000" y="2730500"/>
            <a:ext cx="6096000" cy="914400"/>
          </a:xfrm>
          <a:prstGeom prst="roundRect">
            <a:avLst>
              <a:gd name="adj" fmla="val 8000"/>
            </a:avLst>
          </a:prstGeom>
          <a:gradFill flip="none" rotWithShape="1">
            <a:gsLst>
              <a:gs pos="0">
                <a:srgbClr val="E5B500"/>
              </a:gs>
              <a:gs pos="100000">
                <a:srgbClr val="F8931D"/>
              </a:gs>
            </a:gsLst>
            <a:lin ang="0" scaled="1"/>
          </a:gradFill>
          <a:ln/>
        </p:spPr>
        <p:txBody>
          <a:bodyPr/>
          <a:lstStyle/>
          <a:p>
            <a:endParaRPr lang="zh-CN" altLang="en-US"/>
          </a:p>
        </p:txBody>
      </p:sp>
      <p:sp>
        <p:nvSpPr>
          <p:cNvPr id="11" name="Text 8"/>
          <p:cNvSpPr/>
          <p:nvPr/>
        </p:nvSpPr>
        <p:spPr>
          <a:xfrm>
            <a:off x="889000" y="2730500"/>
            <a:ext cx="6096000" cy="914400"/>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汉仪行楷简" pitchFamily="34" charset="0"/>
                <a:ea typeface="汉仪行楷简" pitchFamily="34" charset="-122"/>
                <a:cs typeface="汉仪行楷简" pitchFamily="34" charset="-120"/>
              </a:rPr>
              <a:t>业务层</a:t>
            </a:r>
            <a:endParaRPr lang="en-US" sz="2000" dirty="0"/>
          </a:p>
        </p:txBody>
      </p:sp>
      <p:sp>
        <p:nvSpPr>
          <p:cNvPr id="12" name="Text 9"/>
          <p:cNvSpPr/>
          <p:nvPr/>
        </p:nvSpPr>
        <p:spPr>
          <a:xfrm>
            <a:off x="7239000" y="2730500"/>
            <a:ext cx="8128000" cy="914400"/>
          </a:xfrm>
          <a:prstGeom prst="rect">
            <a:avLst/>
          </a:prstGeom>
          <a:noFill/>
          <a:ln/>
        </p:spPr>
        <p:txBody>
          <a:bodyPr wrap="square" lIns="0" tIns="0" rIns="0" bIns="0" rtlCol="0" anchor="ctr"/>
          <a:lstStyle/>
          <a:p>
            <a:pPr algn="l">
              <a:lnSpc>
                <a:spcPct val="140000"/>
              </a:lnSpc>
            </a:pPr>
            <a:r>
              <a:rPr lang="en-US" sz="2000" dirty="0">
                <a:solidFill>
                  <a:srgbClr val="000000"/>
                </a:solidFill>
                <a:latin typeface="MiSans" pitchFamily="34" charset="0"/>
                <a:ea typeface="MiSans" pitchFamily="34" charset="-122"/>
                <a:cs typeface="MiSans" pitchFamily="34" charset="-120"/>
              </a:rPr>
              <a:t>由接口路由、推荐引擎、意图识别模块、解释模块、用户偏好更新模块等组成，是系统的核心部分。</a:t>
            </a:r>
            <a:endParaRPr lang="en-US" sz="2000" dirty="0"/>
          </a:p>
        </p:txBody>
      </p:sp>
      <p:sp>
        <p:nvSpPr>
          <p:cNvPr id="13" name="Shape 10"/>
          <p:cNvSpPr/>
          <p:nvPr/>
        </p:nvSpPr>
        <p:spPr>
          <a:xfrm>
            <a:off x="3810000" y="3644900"/>
            <a:ext cx="0" cy="228600"/>
          </a:xfrm>
          <a:prstGeom prst="straightConnector1">
            <a:avLst/>
          </a:prstGeom>
          <a:noFill/>
          <a:ln w="25400">
            <a:solidFill>
              <a:srgbClr val="DAAB00"/>
            </a:solidFill>
            <a:prstDash val="solid"/>
            <a:headEnd type="none"/>
            <a:tailEnd type="arrow"/>
          </a:ln>
        </p:spPr>
        <p:txBody>
          <a:bodyPr/>
          <a:lstStyle/>
          <a:p>
            <a:endParaRPr lang="zh-CN" altLang="en-US"/>
          </a:p>
        </p:txBody>
      </p:sp>
      <p:sp>
        <p:nvSpPr>
          <p:cNvPr id="14" name="Shape 11"/>
          <p:cNvSpPr/>
          <p:nvPr/>
        </p:nvSpPr>
        <p:spPr>
          <a:xfrm>
            <a:off x="889000" y="3873500"/>
            <a:ext cx="6096000" cy="914400"/>
          </a:xfrm>
          <a:prstGeom prst="roundRect">
            <a:avLst>
              <a:gd name="adj" fmla="val 8000"/>
            </a:avLst>
          </a:prstGeom>
          <a:gradFill flip="none" rotWithShape="1">
            <a:gsLst>
              <a:gs pos="0">
                <a:srgbClr val="D4A000"/>
              </a:gs>
              <a:gs pos="100000">
                <a:srgbClr val="E5A010"/>
              </a:gs>
            </a:gsLst>
            <a:lin ang="0" scaled="1"/>
          </a:gradFill>
          <a:ln/>
        </p:spPr>
        <p:txBody>
          <a:bodyPr/>
          <a:lstStyle/>
          <a:p>
            <a:endParaRPr lang="zh-CN" altLang="en-US" dirty="0"/>
          </a:p>
        </p:txBody>
      </p:sp>
      <p:sp>
        <p:nvSpPr>
          <p:cNvPr id="15" name="Text 12"/>
          <p:cNvSpPr/>
          <p:nvPr/>
        </p:nvSpPr>
        <p:spPr>
          <a:xfrm>
            <a:off x="889000" y="3873500"/>
            <a:ext cx="6096000" cy="914400"/>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汉仪行楷简" pitchFamily="34" charset="0"/>
                <a:ea typeface="汉仪行楷简" pitchFamily="34" charset="-122"/>
                <a:cs typeface="汉仪行楷简" pitchFamily="34" charset="-120"/>
              </a:rPr>
              <a:t>数据层</a:t>
            </a:r>
            <a:endParaRPr lang="en-US" sz="2000" dirty="0"/>
          </a:p>
        </p:txBody>
      </p:sp>
      <p:sp>
        <p:nvSpPr>
          <p:cNvPr id="16" name="Text 13"/>
          <p:cNvSpPr/>
          <p:nvPr/>
        </p:nvSpPr>
        <p:spPr>
          <a:xfrm>
            <a:off x="7239000" y="4013200"/>
            <a:ext cx="8128000" cy="635000"/>
          </a:xfrm>
          <a:prstGeom prst="rect">
            <a:avLst/>
          </a:prstGeom>
          <a:noFill/>
          <a:ln/>
        </p:spPr>
        <p:txBody>
          <a:bodyPr wrap="square" lIns="0" tIns="0" rIns="0" bIns="0" rtlCol="0" anchor="ctr"/>
          <a:lstStyle/>
          <a:p>
            <a:pPr algn="l">
              <a:lnSpc>
                <a:spcPct val="130000"/>
              </a:lnSpc>
            </a:pPr>
            <a:r>
              <a:rPr lang="en-US" sz="2000" dirty="0">
                <a:solidFill>
                  <a:srgbClr val="000000"/>
                </a:solidFill>
                <a:latin typeface="MiSans" pitchFamily="34" charset="0"/>
                <a:ea typeface="MiSans" pitchFamily="34" charset="-122"/>
                <a:cs typeface="MiSans" pitchFamily="34" charset="-120"/>
              </a:rPr>
              <a:t>负责存储用户信息、反馈记录、推荐历史和业务相关数据，支撑系统运行与后续分析。</a:t>
            </a:r>
            <a:endParaRPr lang="en-US" sz="2000" dirty="0"/>
          </a:p>
        </p:txBody>
      </p:sp>
      <p:sp>
        <p:nvSpPr>
          <p:cNvPr id="17" name="Shape 14"/>
          <p:cNvSpPr/>
          <p:nvPr/>
        </p:nvSpPr>
        <p:spPr>
          <a:xfrm>
            <a:off x="3810000" y="4787900"/>
            <a:ext cx="0" cy="228600"/>
          </a:xfrm>
          <a:prstGeom prst="straightConnector1">
            <a:avLst/>
          </a:prstGeom>
          <a:noFill/>
          <a:ln w="25400">
            <a:solidFill>
              <a:srgbClr val="DAAB00"/>
            </a:solidFill>
            <a:prstDash val="solid"/>
            <a:headEnd type="none"/>
            <a:tailEnd type="arrow"/>
          </a:ln>
        </p:spPr>
        <p:txBody>
          <a:bodyPr/>
          <a:lstStyle/>
          <a:p>
            <a:endParaRPr lang="zh-CN" altLang="en-US"/>
          </a:p>
        </p:txBody>
      </p:sp>
      <p:sp>
        <p:nvSpPr>
          <p:cNvPr id="18" name="Shape 15"/>
          <p:cNvSpPr/>
          <p:nvPr/>
        </p:nvSpPr>
        <p:spPr>
          <a:xfrm>
            <a:off x="889000" y="5016500"/>
            <a:ext cx="6096000" cy="914400"/>
          </a:xfrm>
          <a:prstGeom prst="roundRect">
            <a:avLst>
              <a:gd name="adj" fmla="val 8000"/>
            </a:avLst>
          </a:prstGeom>
          <a:gradFill flip="none" rotWithShape="1">
            <a:gsLst>
              <a:gs pos="0">
                <a:srgbClr val="C09000"/>
              </a:gs>
              <a:gs pos="100000">
                <a:srgbClr val="D49010"/>
              </a:gs>
            </a:gsLst>
            <a:lin ang="0" scaled="1"/>
          </a:gradFill>
          <a:ln/>
        </p:spPr>
        <p:txBody>
          <a:bodyPr/>
          <a:lstStyle/>
          <a:p>
            <a:endParaRPr lang="zh-CN" altLang="en-US"/>
          </a:p>
        </p:txBody>
      </p:sp>
      <p:sp>
        <p:nvSpPr>
          <p:cNvPr id="19" name="Text 16"/>
          <p:cNvSpPr/>
          <p:nvPr/>
        </p:nvSpPr>
        <p:spPr>
          <a:xfrm>
            <a:off x="889000" y="5016500"/>
            <a:ext cx="6096000" cy="914400"/>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汉仪行楷简" pitchFamily="34" charset="0"/>
                <a:ea typeface="汉仪行楷简" pitchFamily="34" charset="-122"/>
                <a:cs typeface="汉仪行楷简" pitchFamily="34" charset="-120"/>
              </a:rPr>
              <a:t>外部服务层</a:t>
            </a:r>
            <a:endParaRPr lang="en-US" sz="2000" dirty="0"/>
          </a:p>
        </p:txBody>
      </p:sp>
      <p:sp>
        <p:nvSpPr>
          <p:cNvPr id="20" name="Text 17"/>
          <p:cNvSpPr/>
          <p:nvPr/>
        </p:nvSpPr>
        <p:spPr>
          <a:xfrm>
            <a:off x="7239000" y="5219700"/>
            <a:ext cx="8128000" cy="508000"/>
          </a:xfrm>
          <a:prstGeom prst="rect">
            <a:avLst/>
          </a:prstGeom>
          <a:noFill/>
          <a:ln/>
        </p:spPr>
        <p:txBody>
          <a:bodyPr wrap="square" lIns="0" tIns="0" rIns="0" bIns="0" rtlCol="0" anchor="ctr"/>
          <a:lstStyle/>
          <a:p>
            <a:pPr algn="l">
              <a:lnSpc>
                <a:spcPct val="130000"/>
              </a:lnSpc>
            </a:pPr>
            <a:r>
              <a:rPr lang="en-US" sz="2000" dirty="0">
                <a:solidFill>
                  <a:srgbClr val="000000"/>
                </a:solidFill>
                <a:latin typeface="MiSans" pitchFamily="34" charset="0"/>
                <a:ea typeface="MiSans" pitchFamily="34" charset="-122"/>
                <a:cs typeface="MiSans" pitchFamily="34" charset="-120"/>
              </a:rPr>
              <a:t>高德地图 API 提供餐厅候选数据，大语言模型提供语义理解和自然语言解释能力。</a:t>
            </a:r>
            <a:endParaRPr lang="en-US" sz="2000" dirty="0"/>
          </a:p>
        </p:txBody>
      </p:sp>
      <p:sp>
        <p:nvSpPr>
          <p:cNvPr id="21" name="Text 18"/>
          <p:cNvSpPr/>
          <p:nvPr/>
        </p:nvSpPr>
        <p:spPr>
          <a:xfrm>
            <a:off x="889000" y="7327900"/>
            <a:ext cx="14478000" cy="762000"/>
          </a:xfrm>
          <a:prstGeom prst="rect">
            <a:avLst/>
          </a:prstGeom>
          <a:noFill/>
          <a:ln/>
        </p:spPr>
        <p:txBody>
          <a:bodyPr wrap="square" lIns="0" tIns="0" rIns="0" bIns="0" rtlCol="0" anchor="ctr"/>
          <a:lstStyle/>
          <a:p>
            <a:pPr algn="l">
              <a:lnSpc>
                <a:spcPct val="140000"/>
              </a:lnSpc>
            </a:pPr>
            <a:r>
              <a:rPr lang="en-US" sz="1500" dirty="0">
                <a:solidFill>
                  <a:srgbClr val="444444"/>
                </a:solidFill>
                <a:latin typeface="MiSans" pitchFamily="34" charset="0"/>
                <a:ea typeface="MiSans" pitchFamily="34" charset="-122"/>
                <a:cs typeface="MiSans" pitchFamily="34" charset="-120"/>
              </a:rPr>
              <a:t>用户请求由前端发起，经后端处理后结合外部数据完成推荐，再将结果和解释信息返回前端展示，形成完整业务闭环。</a:t>
            </a:r>
            <a:endParaRPr lang="en-US" sz="15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Shape 1"/>
          <p:cNvSpPr/>
          <p:nvPr/>
        </p:nvSpPr>
        <p:spPr>
          <a:xfrm>
            <a:off x="880491" y="1795907"/>
            <a:ext cx="2732405" cy="5552186"/>
          </a:xfrm>
          <a:prstGeom prst="roundRect">
            <a:avLst>
              <a:gd name="adj" fmla="val 1413"/>
            </a:avLst>
          </a:prstGeom>
          <a:solidFill>
            <a:srgbClr val="FFFFFF"/>
          </a:solidFill>
          <a:ln w="12700">
            <a:solidFill>
              <a:srgbClr val="000000"/>
            </a:solidFill>
            <a:prstDash val="solid"/>
          </a:ln>
        </p:spPr>
        <p:txBody>
          <a:bodyPr/>
          <a:lstStyle/>
          <a:p>
            <a:endParaRPr lang="zh-CN" altLang="en-US"/>
          </a:p>
        </p:txBody>
      </p:sp>
      <p:sp>
        <p:nvSpPr>
          <p:cNvPr id="5" name="Text 2"/>
          <p:cNvSpPr/>
          <p:nvPr/>
        </p:nvSpPr>
        <p:spPr>
          <a:xfrm>
            <a:off x="982726" y="2664714"/>
            <a:ext cx="2541905" cy="958850"/>
          </a:xfrm>
          <a:prstGeom prst="rect">
            <a:avLst/>
          </a:prstGeom>
          <a:noFill/>
          <a:ln/>
        </p:spPr>
        <p:txBody>
          <a:bodyPr wrap="square" lIns="0" tIns="0" rIns="0" bIns="0" rtlCol="0" anchor="t"/>
          <a:lstStyle/>
          <a:p>
            <a:pPr algn="l">
              <a:lnSpc>
                <a:spcPct val="108000"/>
              </a:lnSpc>
            </a:pPr>
            <a:r>
              <a:rPr lang="en-US" sz="2670" b="1" dirty="0">
                <a:solidFill>
                  <a:srgbClr val="000000"/>
                </a:solidFill>
                <a:latin typeface="汉仪行楷简" pitchFamily="34" charset="0"/>
                <a:ea typeface="汉仪行楷简" pitchFamily="34" charset="-122"/>
                <a:cs typeface="汉仪行楷简" pitchFamily="34" charset="-120"/>
              </a:rPr>
              <a:t>后端框架：FastAPI</a:t>
            </a:r>
            <a:endParaRPr lang="en-US" sz="2670" dirty="0"/>
          </a:p>
        </p:txBody>
      </p:sp>
      <p:sp>
        <p:nvSpPr>
          <p:cNvPr id="6" name="Text 3"/>
          <p:cNvSpPr/>
          <p:nvPr/>
        </p:nvSpPr>
        <p:spPr>
          <a:xfrm>
            <a:off x="982726" y="3626485"/>
            <a:ext cx="2541905" cy="3398266"/>
          </a:xfrm>
          <a:prstGeom prst="rect">
            <a:avLst/>
          </a:prstGeom>
          <a:noFill/>
          <a:ln/>
        </p:spPr>
        <p:txBody>
          <a:bodyPr wrap="square" lIns="0" tIns="0" rIns="0" bIns="0" rtlCol="0" anchor="t"/>
          <a:lstStyle/>
          <a:p>
            <a:pPr algn="l">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选择其异步特性与高性能，能有效处理I/O密集型任务，如外部API调用。</a:t>
            </a:r>
            <a:endParaRPr lang="en-US" sz="2130" dirty="0"/>
          </a:p>
        </p:txBody>
      </p:sp>
      <p:sp>
        <p:nvSpPr>
          <p:cNvPr id="7" name="Shape 4"/>
          <p:cNvSpPr/>
          <p:nvPr/>
        </p:nvSpPr>
        <p:spPr>
          <a:xfrm>
            <a:off x="1074674" y="2055368"/>
            <a:ext cx="516636" cy="501777"/>
          </a:xfrm>
          <a:prstGeom prst="round2SameRect">
            <a:avLst>
              <a:gd name="adj1" fmla="val 0"/>
              <a:gd name="adj2" fmla="val 28850"/>
            </a:avLst>
          </a:prstGeom>
          <a:gradFill flip="none" rotWithShape="1">
            <a:gsLst>
              <a:gs pos="0">
                <a:srgbClr val="FFD94F"/>
              </a:gs>
              <a:gs pos="60000">
                <a:srgbClr val="DAAB00"/>
              </a:gs>
              <a:gs pos="100000">
                <a:srgbClr val="DAAB00"/>
              </a:gs>
            </a:gsLst>
            <a:lin ang="2700000" scaled="1"/>
          </a:gradFill>
          <a:ln/>
        </p:spPr>
        <p:txBody>
          <a:bodyPr/>
          <a:lstStyle/>
          <a:p>
            <a:endParaRPr lang="zh-CN" altLang="en-US"/>
          </a:p>
        </p:txBody>
      </p:sp>
      <p:sp>
        <p:nvSpPr>
          <p:cNvPr id="8" name="Text 5"/>
          <p:cNvSpPr/>
          <p:nvPr/>
        </p:nvSpPr>
        <p:spPr>
          <a:xfrm>
            <a:off x="1074674" y="2055368"/>
            <a:ext cx="516636" cy="501777"/>
          </a:xfrm>
          <a:prstGeom prst="rect">
            <a:avLst/>
          </a:prstGeom>
          <a:noFill/>
          <a:ln/>
        </p:spPr>
        <p:txBody>
          <a:bodyPr wrap="squar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1</a:t>
            </a:r>
            <a:endParaRPr lang="en-US" sz="2130" dirty="0"/>
          </a:p>
        </p:txBody>
      </p:sp>
      <p:sp>
        <p:nvSpPr>
          <p:cNvPr id="9" name="Shape 6"/>
          <p:cNvSpPr/>
          <p:nvPr/>
        </p:nvSpPr>
        <p:spPr>
          <a:xfrm>
            <a:off x="3816985" y="1795907"/>
            <a:ext cx="2732405" cy="5552186"/>
          </a:xfrm>
          <a:prstGeom prst="roundRect">
            <a:avLst>
              <a:gd name="adj" fmla="val 1413"/>
            </a:avLst>
          </a:prstGeom>
          <a:solidFill>
            <a:srgbClr val="FFFFFF"/>
          </a:solidFill>
          <a:ln w="12700">
            <a:solidFill>
              <a:srgbClr val="000000"/>
            </a:solidFill>
            <a:prstDash val="solid"/>
          </a:ln>
        </p:spPr>
        <p:txBody>
          <a:bodyPr/>
          <a:lstStyle/>
          <a:p>
            <a:endParaRPr lang="zh-CN" altLang="en-US"/>
          </a:p>
        </p:txBody>
      </p:sp>
      <p:sp>
        <p:nvSpPr>
          <p:cNvPr id="10" name="Text 7"/>
          <p:cNvSpPr/>
          <p:nvPr/>
        </p:nvSpPr>
        <p:spPr>
          <a:xfrm>
            <a:off x="3919220" y="2664714"/>
            <a:ext cx="2541905" cy="958850"/>
          </a:xfrm>
          <a:prstGeom prst="rect">
            <a:avLst/>
          </a:prstGeom>
          <a:noFill/>
          <a:ln/>
        </p:spPr>
        <p:txBody>
          <a:bodyPr wrap="square" lIns="0" tIns="0" rIns="0" bIns="0" rtlCol="0" anchor="t"/>
          <a:lstStyle/>
          <a:p>
            <a:pPr algn="l">
              <a:lnSpc>
                <a:spcPct val="108000"/>
              </a:lnSpc>
            </a:pPr>
            <a:r>
              <a:rPr lang="en-US" sz="2670" b="1" dirty="0">
                <a:solidFill>
                  <a:srgbClr val="000000"/>
                </a:solidFill>
                <a:latin typeface="汉仪行楷简" pitchFamily="34" charset="0"/>
                <a:ea typeface="汉仪行楷简" pitchFamily="34" charset="-122"/>
                <a:cs typeface="汉仪行楷简" pitchFamily="34" charset="-120"/>
              </a:rPr>
              <a:t>数据库：MySQL</a:t>
            </a:r>
            <a:endParaRPr lang="en-US" sz="2670" dirty="0"/>
          </a:p>
        </p:txBody>
      </p:sp>
      <p:sp>
        <p:nvSpPr>
          <p:cNvPr id="11" name="Text 8"/>
          <p:cNvSpPr/>
          <p:nvPr/>
        </p:nvSpPr>
        <p:spPr>
          <a:xfrm>
            <a:off x="3919220" y="3626485"/>
            <a:ext cx="2541905" cy="3398266"/>
          </a:xfrm>
          <a:prstGeom prst="rect">
            <a:avLst/>
          </a:prstGeom>
          <a:noFill/>
          <a:ln/>
        </p:spPr>
        <p:txBody>
          <a:bodyPr wrap="square" lIns="0" tIns="0" rIns="0" bIns="0" rtlCol="0" anchor="t"/>
          <a:lstStyle/>
          <a:p>
            <a:pPr algn="l">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作为成熟的关系型数据库，用于可靠地存储用户偏好、历史记录等结构化数据。</a:t>
            </a:r>
            <a:endParaRPr lang="en-US" sz="2130" dirty="0"/>
          </a:p>
        </p:txBody>
      </p:sp>
      <p:sp>
        <p:nvSpPr>
          <p:cNvPr id="12" name="Shape 9"/>
          <p:cNvSpPr/>
          <p:nvPr/>
        </p:nvSpPr>
        <p:spPr>
          <a:xfrm>
            <a:off x="4011803" y="2055368"/>
            <a:ext cx="516636" cy="501777"/>
          </a:xfrm>
          <a:prstGeom prst="round2SameRect">
            <a:avLst>
              <a:gd name="adj1" fmla="val 0"/>
              <a:gd name="adj2" fmla="val 28850"/>
            </a:avLst>
          </a:prstGeom>
          <a:gradFill flip="none" rotWithShape="1">
            <a:gsLst>
              <a:gs pos="0">
                <a:srgbClr val="FFD94F"/>
              </a:gs>
              <a:gs pos="60000">
                <a:srgbClr val="DAAB00"/>
              </a:gs>
              <a:gs pos="100000">
                <a:srgbClr val="DAAB00"/>
              </a:gs>
            </a:gsLst>
            <a:lin ang="2700000" scaled="1"/>
          </a:gradFill>
          <a:ln/>
        </p:spPr>
        <p:txBody>
          <a:bodyPr/>
          <a:lstStyle/>
          <a:p>
            <a:endParaRPr lang="zh-CN" altLang="en-US"/>
          </a:p>
        </p:txBody>
      </p:sp>
      <p:sp>
        <p:nvSpPr>
          <p:cNvPr id="13" name="Text 10"/>
          <p:cNvSpPr/>
          <p:nvPr/>
        </p:nvSpPr>
        <p:spPr>
          <a:xfrm>
            <a:off x="4011803" y="2055368"/>
            <a:ext cx="516636" cy="501777"/>
          </a:xfrm>
          <a:prstGeom prst="rect">
            <a:avLst/>
          </a:prstGeom>
          <a:noFill/>
          <a:ln/>
        </p:spPr>
        <p:txBody>
          <a:bodyPr wrap="squar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2</a:t>
            </a:r>
            <a:endParaRPr lang="en-US" sz="2130" dirty="0"/>
          </a:p>
        </p:txBody>
      </p:sp>
      <p:sp>
        <p:nvSpPr>
          <p:cNvPr id="14" name="Shape 11"/>
          <p:cNvSpPr/>
          <p:nvPr/>
        </p:nvSpPr>
        <p:spPr>
          <a:xfrm>
            <a:off x="6753352" y="1795907"/>
            <a:ext cx="2732405" cy="5552186"/>
          </a:xfrm>
          <a:prstGeom prst="roundRect">
            <a:avLst>
              <a:gd name="adj" fmla="val 1413"/>
            </a:avLst>
          </a:prstGeom>
          <a:solidFill>
            <a:srgbClr val="FFFFFF"/>
          </a:solidFill>
          <a:ln w="12700">
            <a:solidFill>
              <a:srgbClr val="000000"/>
            </a:solidFill>
            <a:prstDash val="solid"/>
          </a:ln>
        </p:spPr>
        <p:txBody>
          <a:bodyPr/>
          <a:lstStyle/>
          <a:p>
            <a:endParaRPr lang="zh-CN" altLang="en-US"/>
          </a:p>
        </p:txBody>
      </p:sp>
      <p:sp>
        <p:nvSpPr>
          <p:cNvPr id="15" name="Text 12"/>
          <p:cNvSpPr/>
          <p:nvPr/>
        </p:nvSpPr>
        <p:spPr>
          <a:xfrm>
            <a:off x="6855587" y="2664714"/>
            <a:ext cx="2541905" cy="958850"/>
          </a:xfrm>
          <a:prstGeom prst="rect">
            <a:avLst/>
          </a:prstGeom>
          <a:noFill/>
          <a:ln/>
        </p:spPr>
        <p:txBody>
          <a:bodyPr wrap="square" lIns="0" tIns="0" rIns="0" bIns="0" rtlCol="0" anchor="t"/>
          <a:lstStyle/>
          <a:p>
            <a:pPr algn="l">
              <a:lnSpc>
                <a:spcPct val="108000"/>
              </a:lnSpc>
            </a:pPr>
            <a:r>
              <a:rPr lang="en-US" sz="2670" b="1" dirty="0">
                <a:solidFill>
                  <a:srgbClr val="000000"/>
                </a:solidFill>
                <a:latin typeface="汉仪行楷简" pitchFamily="34" charset="0"/>
                <a:ea typeface="汉仪行楷简" pitchFamily="34" charset="-122"/>
                <a:cs typeface="汉仪行楷简" pitchFamily="34" charset="-120"/>
              </a:rPr>
              <a:t>缓存：</a:t>
            </a:r>
            <a:endParaRPr lang="en-US" sz="2670" dirty="0"/>
          </a:p>
          <a:p>
            <a:pPr algn="l">
              <a:lnSpc>
                <a:spcPct val="108000"/>
              </a:lnSpc>
            </a:pPr>
            <a:r>
              <a:rPr lang="en-US" sz="2670" b="1" dirty="0">
                <a:solidFill>
                  <a:srgbClr val="000000"/>
                </a:solidFill>
                <a:latin typeface="汉仪行楷简" pitchFamily="34" charset="0"/>
                <a:ea typeface="汉仪行楷简" pitchFamily="34" charset="-122"/>
                <a:cs typeface="汉仪行楷简" pitchFamily="34" charset="-120"/>
              </a:rPr>
              <a:t>Redis</a:t>
            </a:r>
            <a:endParaRPr lang="en-US" sz="2670" dirty="0"/>
          </a:p>
        </p:txBody>
      </p:sp>
      <p:sp>
        <p:nvSpPr>
          <p:cNvPr id="16" name="Text 13"/>
          <p:cNvSpPr/>
          <p:nvPr/>
        </p:nvSpPr>
        <p:spPr>
          <a:xfrm>
            <a:off x="6855587" y="3626485"/>
            <a:ext cx="2541905" cy="3398266"/>
          </a:xfrm>
          <a:prstGeom prst="rect">
            <a:avLst/>
          </a:prstGeom>
          <a:noFill/>
          <a:ln/>
        </p:spPr>
        <p:txBody>
          <a:bodyPr wrap="square" lIns="0" tIns="0" rIns="0" bIns="0" rtlCol="0" anchor="t"/>
          <a:lstStyle/>
          <a:p>
            <a:pPr algn="l">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用于构建多级缓存体系，缓存外部API响应、计算结果等，显著提升系统响应速度。</a:t>
            </a:r>
            <a:endParaRPr lang="en-US" sz="2130" dirty="0"/>
          </a:p>
        </p:txBody>
      </p:sp>
      <p:sp>
        <p:nvSpPr>
          <p:cNvPr id="17" name="Shape 14"/>
          <p:cNvSpPr/>
          <p:nvPr/>
        </p:nvSpPr>
        <p:spPr>
          <a:xfrm>
            <a:off x="6948805" y="2055368"/>
            <a:ext cx="516636" cy="501777"/>
          </a:xfrm>
          <a:prstGeom prst="round2SameRect">
            <a:avLst>
              <a:gd name="adj1" fmla="val 0"/>
              <a:gd name="adj2" fmla="val 28850"/>
            </a:avLst>
          </a:prstGeom>
          <a:gradFill flip="none" rotWithShape="1">
            <a:gsLst>
              <a:gs pos="0">
                <a:srgbClr val="FFD94F"/>
              </a:gs>
              <a:gs pos="60000">
                <a:srgbClr val="DAAB00"/>
              </a:gs>
              <a:gs pos="100000">
                <a:srgbClr val="DAAB00"/>
              </a:gs>
            </a:gsLst>
            <a:lin ang="2700000" scaled="1"/>
          </a:gradFill>
          <a:ln/>
        </p:spPr>
        <p:txBody>
          <a:bodyPr/>
          <a:lstStyle/>
          <a:p>
            <a:endParaRPr lang="zh-CN" altLang="en-US"/>
          </a:p>
        </p:txBody>
      </p:sp>
      <p:sp>
        <p:nvSpPr>
          <p:cNvPr id="18" name="Text 15"/>
          <p:cNvSpPr/>
          <p:nvPr/>
        </p:nvSpPr>
        <p:spPr>
          <a:xfrm>
            <a:off x="6948805" y="2055368"/>
            <a:ext cx="516636" cy="501777"/>
          </a:xfrm>
          <a:prstGeom prst="rect">
            <a:avLst/>
          </a:prstGeom>
          <a:noFill/>
          <a:ln/>
        </p:spPr>
        <p:txBody>
          <a:bodyPr wrap="squar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3</a:t>
            </a:r>
            <a:endParaRPr lang="en-US" sz="2130" dirty="0"/>
          </a:p>
        </p:txBody>
      </p:sp>
      <p:sp>
        <p:nvSpPr>
          <p:cNvPr id="19" name="Shape 16"/>
          <p:cNvSpPr/>
          <p:nvPr/>
        </p:nvSpPr>
        <p:spPr>
          <a:xfrm>
            <a:off x="9689719" y="1795907"/>
            <a:ext cx="2732405" cy="5552186"/>
          </a:xfrm>
          <a:prstGeom prst="roundRect">
            <a:avLst>
              <a:gd name="adj" fmla="val 1413"/>
            </a:avLst>
          </a:prstGeom>
          <a:solidFill>
            <a:srgbClr val="FFFFFF"/>
          </a:solidFill>
          <a:ln w="12700">
            <a:solidFill>
              <a:srgbClr val="000000"/>
            </a:solidFill>
            <a:prstDash val="solid"/>
          </a:ln>
        </p:spPr>
        <p:txBody>
          <a:bodyPr/>
          <a:lstStyle/>
          <a:p>
            <a:endParaRPr lang="zh-CN" altLang="en-US"/>
          </a:p>
        </p:txBody>
      </p:sp>
      <p:sp>
        <p:nvSpPr>
          <p:cNvPr id="20" name="Text 17"/>
          <p:cNvSpPr/>
          <p:nvPr/>
        </p:nvSpPr>
        <p:spPr>
          <a:xfrm>
            <a:off x="9791954" y="2664714"/>
            <a:ext cx="2541905" cy="958850"/>
          </a:xfrm>
          <a:prstGeom prst="rect">
            <a:avLst/>
          </a:prstGeom>
          <a:noFill/>
          <a:ln/>
        </p:spPr>
        <p:txBody>
          <a:bodyPr wrap="square" lIns="0" tIns="0" rIns="0" bIns="0" rtlCol="0" anchor="t"/>
          <a:lstStyle/>
          <a:p>
            <a:pPr algn="l">
              <a:lnSpc>
                <a:spcPct val="108000"/>
              </a:lnSpc>
            </a:pPr>
            <a:r>
              <a:rPr lang="en-US" sz="2670" b="1" dirty="0">
                <a:solidFill>
                  <a:srgbClr val="000000"/>
                </a:solidFill>
                <a:latin typeface="汉仪行楷简" pitchFamily="34" charset="0"/>
                <a:ea typeface="汉仪行楷简" pitchFamily="34" charset="-122"/>
                <a:cs typeface="汉仪行楷简" pitchFamily="34" charset="-120"/>
              </a:rPr>
              <a:t>异步任务：asyncio</a:t>
            </a:r>
            <a:endParaRPr lang="en-US" sz="2670" dirty="0"/>
          </a:p>
        </p:txBody>
      </p:sp>
      <p:sp>
        <p:nvSpPr>
          <p:cNvPr id="21" name="Text 18"/>
          <p:cNvSpPr/>
          <p:nvPr/>
        </p:nvSpPr>
        <p:spPr>
          <a:xfrm>
            <a:off x="9791954" y="3626485"/>
            <a:ext cx="2541905" cy="3398266"/>
          </a:xfrm>
          <a:prstGeom prst="rect">
            <a:avLst/>
          </a:prstGeom>
          <a:noFill/>
          <a:ln/>
        </p:spPr>
        <p:txBody>
          <a:bodyPr wrap="square" lIns="0" tIns="0" rIns="0" bIns="0" rtlCol="0" anchor="t"/>
          <a:lstStyle/>
          <a:p>
            <a:pPr algn="l">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利用Python原生异步支持，在推荐主链路中并发获取数据、生成解释，提升吞吐量。</a:t>
            </a:r>
            <a:endParaRPr lang="en-US" sz="2130" dirty="0"/>
          </a:p>
        </p:txBody>
      </p:sp>
      <p:sp>
        <p:nvSpPr>
          <p:cNvPr id="22" name="Shape 19"/>
          <p:cNvSpPr/>
          <p:nvPr/>
        </p:nvSpPr>
        <p:spPr>
          <a:xfrm>
            <a:off x="9885934" y="2055368"/>
            <a:ext cx="516636" cy="501777"/>
          </a:xfrm>
          <a:prstGeom prst="round2SameRect">
            <a:avLst>
              <a:gd name="adj1" fmla="val 0"/>
              <a:gd name="adj2" fmla="val 28850"/>
            </a:avLst>
          </a:prstGeom>
          <a:gradFill flip="none" rotWithShape="1">
            <a:gsLst>
              <a:gs pos="0">
                <a:srgbClr val="FFD94F"/>
              </a:gs>
              <a:gs pos="60000">
                <a:srgbClr val="DAAB00"/>
              </a:gs>
              <a:gs pos="100000">
                <a:srgbClr val="DAAB00"/>
              </a:gs>
            </a:gsLst>
            <a:lin ang="2700000" scaled="1"/>
          </a:gradFill>
          <a:ln/>
        </p:spPr>
        <p:txBody>
          <a:bodyPr/>
          <a:lstStyle/>
          <a:p>
            <a:endParaRPr lang="zh-CN" altLang="en-US"/>
          </a:p>
        </p:txBody>
      </p:sp>
      <p:sp>
        <p:nvSpPr>
          <p:cNvPr id="23" name="Text 20"/>
          <p:cNvSpPr/>
          <p:nvPr/>
        </p:nvSpPr>
        <p:spPr>
          <a:xfrm>
            <a:off x="9885934" y="2055368"/>
            <a:ext cx="516636" cy="501777"/>
          </a:xfrm>
          <a:prstGeom prst="rect">
            <a:avLst/>
          </a:prstGeom>
          <a:noFill/>
          <a:ln/>
        </p:spPr>
        <p:txBody>
          <a:bodyPr wrap="squar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4</a:t>
            </a:r>
            <a:endParaRPr lang="en-US" sz="2130" dirty="0"/>
          </a:p>
        </p:txBody>
      </p:sp>
      <p:sp>
        <p:nvSpPr>
          <p:cNvPr id="24" name="Shape 21"/>
          <p:cNvSpPr/>
          <p:nvPr/>
        </p:nvSpPr>
        <p:spPr>
          <a:xfrm>
            <a:off x="12626086" y="1795907"/>
            <a:ext cx="2732405" cy="5552186"/>
          </a:xfrm>
          <a:prstGeom prst="roundRect">
            <a:avLst>
              <a:gd name="adj" fmla="val 1413"/>
            </a:avLst>
          </a:prstGeom>
          <a:solidFill>
            <a:srgbClr val="FFFFFF"/>
          </a:solidFill>
          <a:ln w="12700">
            <a:solidFill>
              <a:srgbClr val="000000"/>
            </a:solidFill>
            <a:prstDash val="solid"/>
          </a:ln>
        </p:spPr>
        <p:txBody>
          <a:bodyPr/>
          <a:lstStyle/>
          <a:p>
            <a:endParaRPr lang="zh-CN" altLang="en-US"/>
          </a:p>
        </p:txBody>
      </p:sp>
      <p:sp>
        <p:nvSpPr>
          <p:cNvPr id="25" name="Text 22"/>
          <p:cNvSpPr/>
          <p:nvPr/>
        </p:nvSpPr>
        <p:spPr>
          <a:xfrm>
            <a:off x="12728321" y="2664714"/>
            <a:ext cx="2541905" cy="958850"/>
          </a:xfrm>
          <a:prstGeom prst="rect">
            <a:avLst/>
          </a:prstGeom>
          <a:noFill/>
          <a:ln/>
        </p:spPr>
        <p:txBody>
          <a:bodyPr wrap="square" lIns="0" tIns="0" rIns="0" bIns="0" rtlCol="0" anchor="t"/>
          <a:lstStyle/>
          <a:p>
            <a:pPr algn="l">
              <a:lnSpc>
                <a:spcPct val="108000"/>
              </a:lnSpc>
            </a:pPr>
            <a:r>
              <a:rPr lang="en-US" sz="2670" b="1" dirty="0">
                <a:solidFill>
                  <a:srgbClr val="000000"/>
                </a:solidFill>
                <a:latin typeface="汉仪行楷简" pitchFamily="34" charset="0"/>
                <a:ea typeface="汉仪行楷简" pitchFamily="34" charset="-122"/>
                <a:cs typeface="汉仪行楷简" pitchFamily="34" charset="-120"/>
              </a:rPr>
              <a:t>前端框架：</a:t>
            </a:r>
            <a:endParaRPr lang="en-US" sz="2670" dirty="0"/>
          </a:p>
          <a:p>
            <a:pPr algn="l">
              <a:lnSpc>
                <a:spcPct val="108000"/>
              </a:lnSpc>
            </a:pPr>
            <a:r>
              <a:rPr lang="en-US" sz="2670" b="1" dirty="0">
                <a:solidFill>
                  <a:srgbClr val="000000"/>
                </a:solidFill>
                <a:latin typeface="汉仪行楷简" pitchFamily="34" charset="0"/>
                <a:ea typeface="汉仪行楷简" pitchFamily="34" charset="-122"/>
                <a:cs typeface="汉仪行楷简" pitchFamily="34" charset="-120"/>
              </a:rPr>
              <a:t>Vue 3</a:t>
            </a:r>
            <a:endParaRPr lang="en-US" sz="2670" dirty="0"/>
          </a:p>
        </p:txBody>
      </p:sp>
      <p:sp>
        <p:nvSpPr>
          <p:cNvPr id="26" name="Text 23"/>
          <p:cNvSpPr/>
          <p:nvPr/>
        </p:nvSpPr>
        <p:spPr>
          <a:xfrm>
            <a:off x="12728321" y="3626485"/>
            <a:ext cx="2541905" cy="3398266"/>
          </a:xfrm>
          <a:prstGeom prst="rect">
            <a:avLst/>
          </a:prstGeom>
          <a:noFill/>
          <a:ln/>
        </p:spPr>
        <p:txBody>
          <a:bodyPr wrap="square" lIns="0" tIns="0" rIns="0" bIns="0" rtlCol="0" anchor="t"/>
          <a:lstStyle/>
          <a:p>
            <a:pPr algn="l">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基于其组合式API与响应式系统，能够高效构建动态、交互丰富的用户界面。</a:t>
            </a:r>
            <a:endParaRPr lang="en-US" sz="2130" dirty="0"/>
          </a:p>
        </p:txBody>
      </p:sp>
      <p:sp>
        <p:nvSpPr>
          <p:cNvPr id="27" name="Shape 24"/>
          <p:cNvSpPr/>
          <p:nvPr/>
        </p:nvSpPr>
        <p:spPr>
          <a:xfrm>
            <a:off x="12822936" y="2055368"/>
            <a:ext cx="516636" cy="501777"/>
          </a:xfrm>
          <a:prstGeom prst="round2SameRect">
            <a:avLst>
              <a:gd name="adj1" fmla="val 0"/>
              <a:gd name="adj2" fmla="val 28850"/>
            </a:avLst>
          </a:prstGeom>
          <a:gradFill flip="none" rotWithShape="1">
            <a:gsLst>
              <a:gs pos="0">
                <a:srgbClr val="FFD94F"/>
              </a:gs>
              <a:gs pos="60000">
                <a:srgbClr val="DAAB00"/>
              </a:gs>
              <a:gs pos="100000">
                <a:srgbClr val="DAAB00"/>
              </a:gs>
            </a:gsLst>
            <a:lin ang="2700000" scaled="1"/>
          </a:gradFill>
          <a:ln/>
        </p:spPr>
        <p:txBody>
          <a:bodyPr/>
          <a:lstStyle/>
          <a:p>
            <a:endParaRPr lang="zh-CN" altLang="en-US"/>
          </a:p>
        </p:txBody>
      </p:sp>
      <p:sp>
        <p:nvSpPr>
          <p:cNvPr id="28" name="Text 25"/>
          <p:cNvSpPr/>
          <p:nvPr/>
        </p:nvSpPr>
        <p:spPr>
          <a:xfrm>
            <a:off x="12822936" y="2055368"/>
            <a:ext cx="516636" cy="501777"/>
          </a:xfrm>
          <a:prstGeom prst="rect">
            <a:avLst/>
          </a:prstGeom>
          <a:noFill/>
          <a:ln/>
        </p:spPr>
        <p:txBody>
          <a:bodyPr wrap="squar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5</a:t>
            </a:r>
            <a:endParaRPr lang="en-US" sz="2130" dirty="0"/>
          </a:p>
        </p:txBody>
      </p:sp>
      <p:sp>
        <p:nvSpPr>
          <p:cNvPr id="29" name="Text 26"/>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技术栈选型</a:t>
            </a:r>
            <a:endParaRPr lang="en-US" sz="373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3.png"/>
          <p:cNvPicPr>
            <a:picLocks noChangeAspect="1"/>
          </p:cNvPicPr>
          <p:nvPr/>
        </p:nvPicPr>
        <p:blipFill>
          <a:blip r:embed="rId3"/>
          <a:stretch>
            <a:fillRect/>
          </a:stretch>
        </p:blipFill>
        <p:spPr>
          <a:xfrm>
            <a:off x="-22098"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3</a:t>
            </a:r>
            <a:endParaRPr lang="en-US" sz="1330" dirty="0"/>
          </a:p>
        </p:txBody>
      </p:sp>
      <p:sp>
        <p:nvSpPr>
          <p:cNvPr id="4" name="Text 1"/>
          <p:cNvSpPr/>
          <p:nvPr/>
        </p:nvSpPr>
        <p:spPr>
          <a:xfrm>
            <a:off x="2500503" y="5481066"/>
            <a:ext cx="11254994" cy="1025906"/>
          </a:xfrm>
          <a:prstGeom prst="rect">
            <a:avLst/>
          </a:prstGeom>
          <a:noFill/>
          <a:ln/>
        </p:spPr>
        <p:txBody>
          <a:bodyPr wrap="square" lIns="0" tIns="0" rIns="0" bIns="0" rtlCol="0" anchor="ctr"/>
          <a:lstStyle/>
          <a:p>
            <a:pPr algn="ctr">
              <a:lnSpc>
                <a:spcPct val="120000"/>
              </a:lnSpc>
            </a:pPr>
            <a:r>
              <a:rPr lang="en-US" sz="5870" dirty="0">
                <a:solidFill>
                  <a:srgbClr val="000000"/>
                </a:solidFill>
                <a:latin typeface="汉仪行楷简" pitchFamily="34" charset="0"/>
                <a:ea typeface="汉仪行楷简" pitchFamily="34" charset="-122"/>
                <a:cs typeface="汉仪行楷简" pitchFamily="34" charset="-120"/>
              </a:rPr>
              <a:t>软件功能展示</a:t>
            </a:r>
            <a:endParaRPr lang="en-US" sz="587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3.png"/>
          <p:cNvPicPr>
            <a:picLocks noChangeAspect="1"/>
          </p:cNvPicPr>
          <p:nvPr/>
        </p:nvPicPr>
        <p:blipFill>
          <a:blip r:embed="rId3"/>
          <a:stretch>
            <a:fillRect/>
          </a:stretch>
        </p:blipFill>
        <p:spPr>
          <a:xfrm>
            <a:off x="-22098"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3</a:t>
            </a:r>
            <a:endParaRPr lang="en-US" sz="1330" dirty="0"/>
          </a:p>
        </p:txBody>
      </p:sp>
      <p:sp>
        <p:nvSpPr>
          <p:cNvPr id="4" name="Text 1"/>
          <p:cNvSpPr/>
          <p:nvPr/>
        </p:nvSpPr>
        <p:spPr>
          <a:xfrm>
            <a:off x="2500503" y="5481066"/>
            <a:ext cx="11254994" cy="1025906"/>
          </a:xfrm>
          <a:prstGeom prst="rect">
            <a:avLst/>
          </a:prstGeom>
          <a:noFill/>
          <a:ln/>
        </p:spPr>
        <p:txBody>
          <a:bodyPr wrap="square" lIns="0" tIns="0" rIns="0" bIns="0" rtlCol="0" anchor="ctr"/>
          <a:lstStyle/>
          <a:p>
            <a:pPr algn="ctr">
              <a:lnSpc>
                <a:spcPct val="120000"/>
              </a:lnSpc>
            </a:pPr>
            <a:r>
              <a:rPr lang="zh-CN" altLang="en-US" sz="5870" dirty="0">
                <a:solidFill>
                  <a:srgbClr val="000000"/>
                </a:solidFill>
                <a:latin typeface="汉仪行楷简" pitchFamily="34" charset="0"/>
                <a:ea typeface="汉仪行楷简" pitchFamily="34" charset="-122"/>
                <a:cs typeface="汉仪行楷简" pitchFamily="34" charset="-120"/>
              </a:rPr>
              <a:t>创新点与技术方案</a:t>
            </a:r>
            <a:endParaRPr lang="en-US" sz="587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rial" pitchFamily="34" charset="0"/>
                <a:ea typeface="Arial" pitchFamily="34" charset="-122"/>
                <a:cs typeface="Arial" pitchFamily="34" charset="-120"/>
              </a:rPr>
              <a:t>15</a:t>
            </a:r>
            <a:endParaRPr lang="en-US" sz="1330" dirty="0"/>
          </a:p>
        </p:txBody>
      </p:sp>
      <p:sp>
        <p:nvSpPr>
          <p:cNvPr id="4" name="Text 1"/>
          <p:cNvSpPr/>
          <p:nvPr/>
        </p:nvSpPr>
        <p:spPr>
          <a:xfrm>
            <a:off x="880491" y="171450"/>
            <a:ext cx="14478000" cy="698500"/>
          </a:xfrm>
          <a:prstGeom prst="rect">
            <a:avLst/>
          </a:prstGeom>
          <a:noFill/>
          <a:ln/>
        </p:spPr>
        <p:txBody>
          <a:bodyPr wrap="non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创新特色总览</a:t>
            </a:r>
            <a:endParaRPr lang="en-US" sz="3730" dirty="0"/>
          </a:p>
        </p:txBody>
      </p:sp>
      <p:sp>
        <p:nvSpPr>
          <p:cNvPr id="5" name="Text 2"/>
          <p:cNvSpPr/>
          <p:nvPr/>
        </p:nvSpPr>
        <p:spPr>
          <a:xfrm>
            <a:off x="880491" y="927100"/>
            <a:ext cx="14478000" cy="508000"/>
          </a:xfrm>
          <a:prstGeom prst="rect">
            <a:avLst/>
          </a:prstGeom>
          <a:noFill/>
          <a:ln/>
        </p:spPr>
        <p:txBody>
          <a:bodyPr wrap="square" lIns="0" tIns="0" rIns="0" bIns="0" rtlCol="0" anchor="t"/>
          <a:lstStyle/>
          <a:p>
            <a:pPr algn="l">
              <a:lnSpc>
                <a:spcPct val="130000"/>
              </a:lnSpc>
            </a:pPr>
            <a:r>
              <a:rPr lang="en-US" sz="1500" dirty="0">
                <a:solidFill>
                  <a:srgbClr val="555555"/>
                </a:solidFill>
                <a:latin typeface="MiSans" pitchFamily="34" charset="0"/>
                <a:ea typeface="MiSans" pitchFamily="34" charset="-122"/>
                <a:cs typeface="MiSans" pitchFamily="34" charset="-120"/>
              </a:rPr>
              <a:t>本项目的创新主要体现在推荐方式、结果解释和系统工程实现三个方面。</a:t>
            </a:r>
            <a:endParaRPr lang="en-US" sz="1500" dirty="0"/>
          </a:p>
        </p:txBody>
      </p:sp>
      <p:sp>
        <p:nvSpPr>
          <p:cNvPr id="6" name="Shape 3"/>
          <p:cNvSpPr/>
          <p:nvPr/>
        </p:nvSpPr>
        <p:spPr>
          <a:xfrm>
            <a:off x="635000" y="1625600"/>
            <a:ext cx="4699000" cy="4838700"/>
          </a:xfrm>
          <a:prstGeom prst="roundRect">
            <a:avLst>
              <a:gd name="adj" fmla="val 6000"/>
            </a:avLst>
          </a:prstGeom>
          <a:gradFill flip="none" rotWithShape="1">
            <a:gsLst>
              <a:gs pos="0">
                <a:srgbClr val="DAAB00"/>
              </a:gs>
              <a:gs pos="100000">
                <a:srgbClr val="F8931D"/>
              </a:gs>
            </a:gsLst>
            <a:lin ang="2700000" scaled="1"/>
          </a:gradFill>
          <a:ln/>
        </p:spPr>
        <p:txBody>
          <a:bodyPr/>
          <a:lstStyle/>
          <a:p>
            <a:endParaRPr lang="zh-CN" altLang="en-US"/>
          </a:p>
        </p:txBody>
      </p:sp>
      <p:sp>
        <p:nvSpPr>
          <p:cNvPr id="7" name="Text 4"/>
          <p:cNvSpPr/>
          <p:nvPr/>
        </p:nvSpPr>
        <p:spPr>
          <a:xfrm>
            <a:off x="889000" y="1803400"/>
            <a:ext cx="762000" cy="508000"/>
          </a:xfrm>
          <a:prstGeom prst="rect">
            <a:avLst/>
          </a:prstGeom>
          <a:noFill/>
          <a:ln/>
        </p:spPr>
        <p:txBody>
          <a:bodyPr wrap="none" lIns="0" tIns="0" rIns="0" bIns="0" rtlCol="0" anchor="ctr"/>
          <a:lstStyle/>
          <a:p>
            <a:pPr algn="l">
              <a:lnSpc>
                <a:spcPct val="120000"/>
              </a:lnSpc>
            </a:pPr>
            <a:r>
              <a:rPr lang="en-US" sz="3600" b="1" dirty="0">
                <a:solidFill>
                  <a:srgbClr val="FFFFFF"/>
                </a:solidFill>
                <a:latin typeface="Arial" pitchFamily="34" charset="0"/>
                <a:ea typeface="Arial" pitchFamily="34" charset="-122"/>
                <a:cs typeface="Arial" pitchFamily="34" charset="-120"/>
              </a:rPr>
              <a:t>01</a:t>
            </a:r>
            <a:endParaRPr lang="en-US" sz="3600" dirty="0"/>
          </a:p>
        </p:txBody>
      </p:sp>
      <p:sp>
        <p:nvSpPr>
          <p:cNvPr id="8" name="Text 5"/>
          <p:cNvSpPr/>
          <p:nvPr/>
        </p:nvSpPr>
        <p:spPr>
          <a:xfrm>
            <a:off x="889000" y="2387600"/>
            <a:ext cx="4191000" cy="444500"/>
          </a:xfrm>
          <a:prstGeom prst="rect">
            <a:avLst/>
          </a:prstGeom>
          <a:noFill/>
          <a:ln/>
        </p:spPr>
        <p:txBody>
          <a:bodyPr wrap="none" lIns="0" tIns="0" rIns="0" bIns="0" rtlCol="0" anchor="ctr"/>
          <a:lstStyle/>
          <a:p>
            <a:pPr algn="l">
              <a:lnSpc>
                <a:spcPct val="120000"/>
              </a:lnSpc>
            </a:pPr>
            <a:r>
              <a:rPr lang="en-US" sz="2800" b="1" dirty="0">
                <a:solidFill>
                  <a:srgbClr val="FFFFFF"/>
                </a:solidFill>
                <a:latin typeface="汉仪行楷简" pitchFamily="34" charset="0"/>
                <a:ea typeface="汉仪行楷简" pitchFamily="34" charset="-122"/>
                <a:cs typeface="汉仪行楷简" pitchFamily="34" charset="-120"/>
              </a:rPr>
              <a:t>推荐方式更智能</a:t>
            </a:r>
            <a:endParaRPr lang="en-US" sz="2800" dirty="0"/>
          </a:p>
        </p:txBody>
      </p:sp>
      <p:sp>
        <p:nvSpPr>
          <p:cNvPr id="9" name="Text 6"/>
          <p:cNvSpPr/>
          <p:nvPr/>
        </p:nvSpPr>
        <p:spPr>
          <a:xfrm>
            <a:off x="889000" y="2921000"/>
            <a:ext cx="4191000" cy="1905000"/>
          </a:xfrm>
          <a:prstGeom prst="rect">
            <a:avLst/>
          </a:prstGeom>
          <a:noFill/>
          <a:ln/>
        </p:spPr>
        <p:txBody>
          <a:bodyPr wrap="square" lIns="0" tIns="0" rIns="0" bIns="0" rtlCol="0" anchor="t"/>
          <a:lstStyle/>
          <a:p>
            <a:pPr algn="l">
              <a:lnSpc>
                <a:spcPct val="150000"/>
              </a:lnSpc>
            </a:pPr>
            <a:r>
              <a:rPr lang="en-US" sz="2400" dirty="0">
                <a:solidFill>
                  <a:srgbClr val="FFFFFF"/>
                </a:solidFill>
                <a:latin typeface="MiSans" pitchFamily="34" charset="0"/>
                <a:ea typeface="MiSans" pitchFamily="34" charset="-122"/>
                <a:cs typeface="MiSans" pitchFamily="34" charset="-120"/>
              </a:rPr>
              <a:t>系统不仅支持结构化筛选，还支持自然语言输入，能够理解"想吃辣的""不要太贵""适合聚餐"等模糊表达。</a:t>
            </a:r>
            <a:endParaRPr lang="en-US" sz="2400" dirty="0"/>
          </a:p>
        </p:txBody>
      </p:sp>
      <p:sp>
        <p:nvSpPr>
          <p:cNvPr id="10" name="Shape 7"/>
          <p:cNvSpPr/>
          <p:nvPr/>
        </p:nvSpPr>
        <p:spPr>
          <a:xfrm>
            <a:off x="5588000" y="1625600"/>
            <a:ext cx="4699000" cy="4838700"/>
          </a:xfrm>
          <a:prstGeom prst="roundRect">
            <a:avLst>
              <a:gd name="adj" fmla="val 6000"/>
            </a:avLst>
          </a:prstGeom>
          <a:gradFill flip="none" rotWithShape="1">
            <a:gsLst>
              <a:gs pos="0">
                <a:srgbClr val="DAAB00"/>
              </a:gs>
              <a:gs pos="100000">
                <a:srgbClr val="F8931D"/>
              </a:gs>
            </a:gsLst>
            <a:lin ang="2700000" scaled="1"/>
          </a:gradFill>
          <a:ln/>
        </p:spPr>
        <p:txBody>
          <a:bodyPr/>
          <a:lstStyle/>
          <a:p>
            <a:endParaRPr lang="zh-CN" altLang="en-US"/>
          </a:p>
        </p:txBody>
      </p:sp>
      <p:sp>
        <p:nvSpPr>
          <p:cNvPr id="11" name="Text 8"/>
          <p:cNvSpPr/>
          <p:nvPr/>
        </p:nvSpPr>
        <p:spPr>
          <a:xfrm>
            <a:off x="5842000" y="1803400"/>
            <a:ext cx="762000" cy="508000"/>
          </a:xfrm>
          <a:prstGeom prst="rect">
            <a:avLst/>
          </a:prstGeom>
          <a:noFill/>
          <a:ln/>
        </p:spPr>
        <p:txBody>
          <a:bodyPr wrap="none" lIns="0" tIns="0" rIns="0" bIns="0" rtlCol="0" anchor="ctr"/>
          <a:lstStyle/>
          <a:p>
            <a:pPr algn="l">
              <a:lnSpc>
                <a:spcPct val="120000"/>
              </a:lnSpc>
            </a:pPr>
            <a:r>
              <a:rPr lang="en-US" sz="3600" b="1" dirty="0">
                <a:solidFill>
                  <a:srgbClr val="FFFFFF"/>
                </a:solidFill>
                <a:latin typeface="Arial" pitchFamily="34" charset="0"/>
                <a:ea typeface="Arial" pitchFamily="34" charset="-122"/>
                <a:cs typeface="Arial" pitchFamily="34" charset="-120"/>
              </a:rPr>
              <a:t>02</a:t>
            </a:r>
            <a:endParaRPr lang="en-US" sz="3600" dirty="0"/>
          </a:p>
        </p:txBody>
      </p:sp>
      <p:sp>
        <p:nvSpPr>
          <p:cNvPr id="12" name="Text 9"/>
          <p:cNvSpPr/>
          <p:nvPr/>
        </p:nvSpPr>
        <p:spPr>
          <a:xfrm>
            <a:off x="5842000" y="2387600"/>
            <a:ext cx="4191000" cy="444500"/>
          </a:xfrm>
          <a:prstGeom prst="rect">
            <a:avLst/>
          </a:prstGeom>
          <a:noFill/>
          <a:ln/>
        </p:spPr>
        <p:txBody>
          <a:bodyPr wrap="none" lIns="0" tIns="0" rIns="0" bIns="0" rtlCol="0" anchor="ctr"/>
          <a:lstStyle/>
          <a:p>
            <a:pPr algn="l">
              <a:lnSpc>
                <a:spcPct val="120000"/>
              </a:lnSpc>
            </a:pPr>
            <a:r>
              <a:rPr lang="en-US" sz="2800" b="1" dirty="0">
                <a:solidFill>
                  <a:srgbClr val="FFFFFF"/>
                </a:solidFill>
                <a:latin typeface="汉仪行楷简" pitchFamily="34" charset="0"/>
                <a:ea typeface="汉仪行楷简" pitchFamily="34" charset="-122"/>
                <a:cs typeface="汉仪行楷简" pitchFamily="34" charset="-120"/>
              </a:rPr>
              <a:t>推荐结果可解释</a:t>
            </a:r>
            <a:endParaRPr lang="en-US" sz="2800" dirty="0"/>
          </a:p>
        </p:txBody>
      </p:sp>
      <p:sp>
        <p:nvSpPr>
          <p:cNvPr id="13" name="Text 10"/>
          <p:cNvSpPr/>
          <p:nvPr/>
        </p:nvSpPr>
        <p:spPr>
          <a:xfrm>
            <a:off x="5842000" y="2921000"/>
            <a:ext cx="4191000" cy="1905000"/>
          </a:xfrm>
          <a:prstGeom prst="rect">
            <a:avLst/>
          </a:prstGeom>
          <a:noFill/>
          <a:ln/>
        </p:spPr>
        <p:txBody>
          <a:bodyPr wrap="square" lIns="0" tIns="0" rIns="0" bIns="0" rtlCol="0" anchor="t"/>
          <a:lstStyle/>
          <a:p>
            <a:pPr algn="l">
              <a:lnSpc>
                <a:spcPct val="150000"/>
              </a:lnSpc>
            </a:pPr>
            <a:r>
              <a:rPr lang="en-US" sz="2400" dirty="0">
                <a:solidFill>
                  <a:srgbClr val="FFFFFF"/>
                </a:solidFill>
                <a:latin typeface="MiSans" pitchFamily="34" charset="0"/>
                <a:ea typeface="MiSans" pitchFamily="34" charset="-122"/>
                <a:cs typeface="MiSans" pitchFamily="34" charset="-120"/>
              </a:rPr>
              <a:t>系统不仅给出餐厅结果，还能说明推荐原因、评分维度和匹配逻辑，提升结果透明度与用户信任感。</a:t>
            </a:r>
            <a:endParaRPr lang="en-US" sz="2400" dirty="0"/>
          </a:p>
        </p:txBody>
      </p:sp>
      <p:sp>
        <p:nvSpPr>
          <p:cNvPr id="14" name="Shape 11"/>
          <p:cNvSpPr/>
          <p:nvPr/>
        </p:nvSpPr>
        <p:spPr>
          <a:xfrm>
            <a:off x="10541000" y="1625600"/>
            <a:ext cx="5080000" cy="4838700"/>
          </a:xfrm>
          <a:prstGeom prst="roundRect">
            <a:avLst>
              <a:gd name="adj" fmla="val 6000"/>
            </a:avLst>
          </a:prstGeom>
          <a:gradFill flip="none" rotWithShape="1">
            <a:gsLst>
              <a:gs pos="0">
                <a:srgbClr val="DAAB00"/>
              </a:gs>
              <a:gs pos="100000">
                <a:srgbClr val="F8931D"/>
              </a:gs>
            </a:gsLst>
            <a:lin ang="2700000" scaled="1"/>
          </a:gradFill>
          <a:ln/>
        </p:spPr>
        <p:txBody>
          <a:bodyPr/>
          <a:lstStyle/>
          <a:p>
            <a:endParaRPr lang="zh-CN" altLang="en-US"/>
          </a:p>
        </p:txBody>
      </p:sp>
      <p:sp>
        <p:nvSpPr>
          <p:cNvPr id="15" name="Text 12"/>
          <p:cNvSpPr/>
          <p:nvPr/>
        </p:nvSpPr>
        <p:spPr>
          <a:xfrm>
            <a:off x="10795000" y="1803400"/>
            <a:ext cx="762000" cy="508000"/>
          </a:xfrm>
          <a:prstGeom prst="rect">
            <a:avLst/>
          </a:prstGeom>
          <a:noFill/>
          <a:ln/>
        </p:spPr>
        <p:txBody>
          <a:bodyPr wrap="none" lIns="0" tIns="0" rIns="0" bIns="0" rtlCol="0" anchor="ctr"/>
          <a:lstStyle/>
          <a:p>
            <a:pPr algn="l">
              <a:lnSpc>
                <a:spcPct val="120000"/>
              </a:lnSpc>
            </a:pPr>
            <a:r>
              <a:rPr lang="en-US" sz="3600" b="1" dirty="0">
                <a:solidFill>
                  <a:srgbClr val="FFFFFF"/>
                </a:solidFill>
                <a:latin typeface="Arial" pitchFamily="34" charset="0"/>
                <a:ea typeface="Arial" pitchFamily="34" charset="-122"/>
                <a:cs typeface="Arial" pitchFamily="34" charset="-120"/>
              </a:rPr>
              <a:t>03</a:t>
            </a:r>
            <a:endParaRPr lang="en-US" sz="3600" dirty="0"/>
          </a:p>
        </p:txBody>
      </p:sp>
      <p:sp>
        <p:nvSpPr>
          <p:cNvPr id="16" name="Text 13"/>
          <p:cNvSpPr/>
          <p:nvPr/>
        </p:nvSpPr>
        <p:spPr>
          <a:xfrm>
            <a:off x="10795000" y="2387600"/>
            <a:ext cx="4572000" cy="444500"/>
          </a:xfrm>
          <a:prstGeom prst="rect">
            <a:avLst/>
          </a:prstGeom>
          <a:noFill/>
          <a:ln/>
        </p:spPr>
        <p:txBody>
          <a:bodyPr wrap="none" lIns="0" tIns="0" rIns="0" bIns="0" rtlCol="0" anchor="ctr"/>
          <a:lstStyle/>
          <a:p>
            <a:pPr algn="l">
              <a:lnSpc>
                <a:spcPct val="120000"/>
              </a:lnSpc>
            </a:pPr>
            <a:r>
              <a:rPr lang="en-US" sz="2800" b="1" dirty="0">
                <a:solidFill>
                  <a:srgbClr val="FFFFFF"/>
                </a:solidFill>
                <a:latin typeface="汉仪行楷简" pitchFamily="34" charset="0"/>
                <a:ea typeface="汉仪行楷简" pitchFamily="34" charset="-122"/>
                <a:cs typeface="汉仪行楷简" pitchFamily="34" charset="-120"/>
              </a:rPr>
              <a:t>工程实现更完整</a:t>
            </a:r>
            <a:endParaRPr lang="en-US" sz="2800" dirty="0"/>
          </a:p>
        </p:txBody>
      </p:sp>
      <p:sp>
        <p:nvSpPr>
          <p:cNvPr id="17" name="Text 14"/>
          <p:cNvSpPr/>
          <p:nvPr/>
        </p:nvSpPr>
        <p:spPr>
          <a:xfrm>
            <a:off x="10795000" y="2921000"/>
            <a:ext cx="4572000" cy="1905000"/>
          </a:xfrm>
          <a:prstGeom prst="rect">
            <a:avLst/>
          </a:prstGeom>
          <a:noFill/>
          <a:ln/>
        </p:spPr>
        <p:txBody>
          <a:bodyPr wrap="square" lIns="0" tIns="0" rIns="0" bIns="0" rtlCol="0" anchor="t"/>
          <a:lstStyle/>
          <a:p>
            <a:pPr algn="l">
              <a:lnSpc>
                <a:spcPct val="150000"/>
              </a:lnSpc>
            </a:pPr>
            <a:r>
              <a:rPr lang="en-US" sz="2400" dirty="0">
                <a:solidFill>
                  <a:srgbClr val="FFFFFF"/>
                </a:solidFill>
                <a:latin typeface="MiSans" pitchFamily="34" charset="0"/>
                <a:ea typeface="MiSans" pitchFamily="34" charset="-122"/>
                <a:cs typeface="MiSans" pitchFamily="34" charset="-120"/>
              </a:rPr>
              <a:t>系统同时考虑了缓存、异步处理、快慢模式切换和反馈闭环，不只是算法展示，更接近真实应用原型。</a:t>
            </a:r>
            <a:endParaRPr lang="en-US" sz="2400" dirty="0"/>
          </a:p>
        </p:txBody>
      </p:sp>
      <p:sp>
        <p:nvSpPr>
          <p:cNvPr id="18" name="Shape 15"/>
          <p:cNvSpPr/>
          <p:nvPr/>
        </p:nvSpPr>
        <p:spPr>
          <a:xfrm>
            <a:off x="635000" y="7340600"/>
            <a:ext cx="14986000" cy="698500"/>
          </a:xfrm>
          <a:prstGeom prst="roundRect">
            <a:avLst>
              <a:gd name="adj" fmla="val 5000"/>
            </a:avLst>
          </a:prstGeom>
          <a:solidFill>
            <a:srgbClr val="DAAB00">
              <a:alpha val="9412"/>
            </a:srgbClr>
          </a:solidFill>
          <a:ln/>
        </p:spPr>
        <p:txBody>
          <a:bodyPr/>
          <a:lstStyle/>
          <a:p>
            <a:endParaRPr lang="zh-CN" altLang="en-US"/>
          </a:p>
        </p:txBody>
      </p:sp>
      <p:sp>
        <p:nvSpPr>
          <p:cNvPr id="19" name="Text 16"/>
          <p:cNvSpPr/>
          <p:nvPr/>
        </p:nvSpPr>
        <p:spPr>
          <a:xfrm>
            <a:off x="889000" y="7340600"/>
            <a:ext cx="14478000" cy="698500"/>
          </a:xfrm>
          <a:prstGeom prst="rect">
            <a:avLst/>
          </a:prstGeom>
          <a:noFill/>
          <a:ln/>
        </p:spPr>
        <p:txBody>
          <a:bodyPr wrap="square" lIns="0" tIns="0" rIns="0" bIns="0" rtlCol="0" anchor="ctr"/>
          <a:lstStyle/>
          <a:p>
            <a:pPr algn="ctr">
              <a:lnSpc>
                <a:spcPct val="140000"/>
              </a:lnSpc>
            </a:pPr>
            <a:r>
              <a:rPr lang="en-US" sz="1600" b="1" dirty="0">
                <a:solidFill>
                  <a:srgbClr val="885500"/>
                </a:solidFill>
                <a:latin typeface="MiSans" pitchFamily="34" charset="0"/>
                <a:ea typeface="MiSans" pitchFamily="34" charset="-122"/>
                <a:cs typeface="MiSans" pitchFamily="34" charset="-120"/>
              </a:rPr>
              <a:t>本项目的创新不在于单一功能，而在于把"推荐、解释、反馈、优化"整合成一个完整系统。</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rial" pitchFamily="34" charset="0"/>
                <a:ea typeface="Arial" pitchFamily="34" charset="-122"/>
                <a:cs typeface="Arial" pitchFamily="34" charset="-120"/>
              </a:rPr>
              <a:t>16</a:t>
            </a:r>
            <a:endParaRPr lang="en-US" sz="1330" dirty="0"/>
          </a:p>
        </p:txBody>
      </p:sp>
      <p:sp>
        <p:nvSpPr>
          <p:cNvPr id="4" name="Text 1"/>
          <p:cNvSpPr/>
          <p:nvPr/>
        </p:nvSpPr>
        <p:spPr>
          <a:xfrm>
            <a:off x="880491" y="171450"/>
            <a:ext cx="14478000" cy="698500"/>
          </a:xfrm>
          <a:prstGeom prst="rect">
            <a:avLst/>
          </a:prstGeom>
          <a:noFill/>
          <a:ln/>
        </p:spPr>
        <p:txBody>
          <a:bodyPr wrap="non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双引擎推荐机制</a:t>
            </a:r>
            <a:endParaRPr lang="en-US" sz="3730" dirty="0"/>
          </a:p>
        </p:txBody>
      </p:sp>
      <p:sp>
        <p:nvSpPr>
          <p:cNvPr id="5" name="Text 2"/>
          <p:cNvSpPr/>
          <p:nvPr/>
        </p:nvSpPr>
        <p:spPr>
          <a:xfrm>
            <a:off x="880491" y="927100"/>
            <a:ext cx="14478000" cy="508000"/>
          </a:xfrm>
          <a:prstGeom prst="rect">
            <a:avLst/>
          </a:prstGeom>
          <a:noFill/>
          <a:ln/>
        </p:spPr>
        <p:txBody>
          <a:bodyPr wrap="square" lIns="0" tIns="0" rIns="0" bIns="0" rtlCol="0" anchor="t"/>
          <a:lstStyle/>
          <a:p>
            <a:pPr algn="l">
              <a:lnSpc>
                <a:spcPct val="130000"/>
              </a:lnSpc>
            </a:pPr>
            <a:r>
              <a:rPr lang="en-US" sz="1500" dirty="0">
                <a:solidFill>
                  <a:srgbClr val="555555"/>
                </a:solidFill>
                <a:latin typeface="MiSans" pitchFamily="34" charset="0"/>
                <a:ea typeface="MiSans" pitchFamily="34" charset="-122"/>
                <a:cs typeface="MiSans" pitchFamily="34" charset="-120"/>
              </a:rPr>
              <a:t>为了兼顾灵活交互与高效响应，项目设计了自然语言推荐与偏好推荐相结合的双引擎机制。</a:t>
            </a:r>
            <a:endParaRPr lang="en-US" sz="1500" dirty="0"/>
          </a:p>
        </p:txBody>
      </p:sp>
      <p:sp>
        <p:nvSpPr>
          <p:cNvPr id="6" name="Shape 3"/>
          <p:cNvSpPr/>
          <p:nvPr/>
        </p:nvSpPr>
        <p:spPr>
          <a:xfrm>
            <a:off x="889000" y="1625600"/>
            <a:ext cx="6858000" cy="5169647"/>
          </a:xfrm>
          <a:prstGeom prst="roundRect">
            <a:avLst>
              <a:gd name="adj" fmla="val 6000"/>
            </a:avLst>
          </a:prstGeom>
          <a:gradFill flip="none" rotWithShape="1">
            <a:gsLst>
              <a:gs pos="0">
                <a:srgbClr val="DAAB00"/>
              </a:gs>
              <a:gs pos="100000">
                <a:srgbClr val="F8931D"/>
              </a:gs>
            </a:gsLst>
            <a:lin ang="2700000" scaled="1"/>
          </a:gradFill>
          <a:ln/>
        </p:spPr>
        <p:txBody>
          <a:bodyPr/>
          <a:lstStyle/>
          <a:p>
            <a:endParaRPr lang="zh-CN" altLang="en-US"/>
          </a:p>
        </p:txBody>
      </p:sp>
      <p:sp>
        <p:nvSpPr>
          <p:cNvPr id="7" name="Shape 4"/>
          <p:cNvSpPr/>
          <p:nvPr/>
        </p:nvSpPr>
        <p:spPr>
          <a:xfrm>
            <a:off x="1143000" y="1879600"/>
            <a:ext cx="1803400" cy="482600"/>
          </a:xfrm>
          <a:prstGeom prst="roundRect">
            <a:avLst>
              <a:gd name="adj" fmla="val 12000"/>
            </a:avLst>
          </a:prstGeom>
          <a:solidFill>
            <a:srgbClr val="FFFFFF"/>
          </a:solidFill>
          <a:ln/>
        </p:spPr>
        <p:txBody>
          <a:bodyPr/>
          <a:lstStyle/>
          <a:p>
            <a:endParaRPr lang="zh-CN" altLang="en-US"/>
          </a:p>
        </p:txBody>
      </p:sp>
      <p:sp>
        <p:nvSpPr>
          <p:cNvPr id="8" name="Text 5"/>
          <p:cNvSpPr/>
          <p:nvPr/>
        </p:nvSpPr>
        <p:spPr>
          <a:xfrm>
            <a:off x="1143000" y="1879600"/>
            <a:ext cx="1803400" cy="482600"/>
          </a:xfrm>
          <a:prstGeom prst="rect">
            <a:avLst/>
          </a:prstGeom>
          <a:noFill/>
          <a:ln/>
        </p:spPr>
        <p:txBody>
          <a:bodyPr wrap="none" lIns="0" tIns="0" rIns="0" bIns="0" rtlCol="0" anchor="ctr"/>
          <a:lstStyle/>
          <a:p>
            <a:pPr algn="ctr">
              <a:lnSpc>
                <a:spcPct val="120000"/>
              </a:lnSpc>
            </a:pPr>
            <a:r>
              <a:rPr lang="en-US" sz="2000" b="1" dirty="0">
                <a:solidFill>
                  <a:srgbClr val="DAAB00"/>
                </a:solidFill>
                <a:latin typeface="Arial" pitchFamily="34" charset="0"/>
                <a:ea typeface="Arial" pitchFamily="34" charset="-122"/>
                <a:cs typeface="Arial" pitchFamily="34" charset="-120"/>
              </a:rPr>
              <a:t>01</a:t>
            </a:r>
            <a:endParaRPr lang="en-US" sz="2000" dirty="0"/>
          </a:p>
        </p:txBody>
      </p:sp>
      <p:sp>
        <p:nvSpPr>
          <p:cNvPr id="9" name="Text 6"/>
          <p:cNvSpPr/>
          <p:nvPr/>
        </p:nvSpPr>
        <p:spPr>
          <a:xfrm>
            <a:off x="1143000" y="2540000"/>
            <a:ext cx="6350000" cy="482600"/>
          </a:xfrm>
          <a:prstGeom prst="rect">
            <a:avLst/>
          </a:prstGeom>
          <a:noFill/>
          <a:ln/>
        </p:spPr>
        <p:txBody>
          <a:bodyPr wrap="none" lIns="0" tIns="0" rIns="0" bIns="0" rtlCol="0" anchor="ctr"/>
          <a:lstStyle/>
          <a:p>
            <a:pPr algn="l">
              <a:lnSpc>
                <a:spcPct val="120000"/>
              </a:lnSpc>
            </a:pPr>
            <a:r>
              <a:rPr lang="en-US" sz="3200" b="1" dirty="0">
                <a:solidFill>
                  <a:srgbClr val="FFFFFF"/>
                </a:solidFill>
                <a:latin typeface="汉仪行楷简" pitchFamily="34" charset="0"/>
                <a:ea typeface="汉仪行楷简" pitchFamily="34" charset="-122"/>
                <a:cs typeface="汉仪行楷简" pitchFamily="34" charset="-120"/>
              </a:rPr>
              <a:t>自然语言智能推荐</a:t>
            </a:r>
            <a:endParaRPr lang="en-US" sz="3200" dirty="0"/>
          </a:p>
        </p:txBody>
      </p:sp>
      <p:sp>
        <p:nvSpPr>
          <p:cNvPr id="10" name="Text 7"/>
          <p:cNvSpPr/>
          <p:nvPr/>
        </p:nvSpPr>
        <p:spPr>
          <a:xfrm>
            <a:off x="1143000" y="3175000"/>
            <a:ext cx="6350000" cy="2794000"/>
          </a:xfrm>
          <a:prstGeom prst="rect">
            <a:avLst/>
          </a:prstGeom>
          <a:noFill/>
          <a:ln/>
        </p:spPr>
        <p:txBody>
          <a:bodyPr wrap="square" lIns="0" tIns="0" rIns="0" bIns="0" rtlCol="0" anchor="t"/>
          <a:lstStyle/>
          <a:p>
            <a:pPr algn="l">
              <a:lnSpc>
                <a:spcPct val="160000"/>
              </a:lnSpc>
            </a:pPr>
            <a:r>
              <a:rPr lang="en-US" sz="2400" dirty="0">
                <a:solidFill>
                  <a:srgbClr val="FFFFFF"/>
                </a:solidFill>
                <a:latin typeface="MiSans" pitchFamily="34" charset="0"/>
                <a:ea typeface="MiSans" pitchFamily="34" charset="-122"/>
                <a:cs typeface="MiSans" pitchFamily="34" charset="-120"/>
              </a:rPr>
              <a:t>用户可直接输入完整需求</a:t>
            </a:r>
            <a:endParaRPr lang="en-US" sz="2400" dirty="0"/>
          </a:p>
          <a:p>
            <a:pPr algn="l">
              <a:lnSpc>
                <a:spcPct val="160000"/>
              </a:lnSpc>
            </a:pPr>
            <a:r>
              <a:rPr lang="en-US" sz="2400" dirty="0">
                <a:solidFill>
                  <a:srgbClr val="FFFFFF"/>
                </a:solidFill>
                <a:latin typeface="MiSans" pitchFamily="34" charset="0"/>
                <a:ea typeface="MiSans" pitchFamily="34" charset="-122"/>
                <a:cs typeface="MiSans" pitchFamily="34" charset="-120"/>
              </a:rPr>
              <a:t>系统通过 LLM 识别用户真实意图</a:t>
            </a:r>
            <a:endParaRPr lang="en-US" sz="2400" dirty="0"/>
          </a:p>
          <a:p>
            <a:pPr algn="l">
              <a:lnSpc>
                <a:spcPct val="160000"/>
              </a:lnSpc>
            </a:pPr>
            <a:r>
              <a:rPr lang="en-US" sz="2400" dirty="0">
                <a:solidFill>
                  <a:srgbClr val="FFFFFF"/>
                </a:solidFill>
                <a:latin typeface="MiSans" pitchFamily="34" charset="0"/>
                <a:ea typeface="MiSans" pitchFamily="34" charset="-122"/>
                <a:cs typeface="MiSans" pitchFamily="34" charset="-120"/>
              </a:rPr>
              <a:t>适用于模糊表达和复杂场景</a:t>
            </a:r>
            <a:endParaRPr lang="en-US" sz="2400" dirty="0"/>
          </a:p>
          <a:p>
            <a:pPr algn="l">
              <a:lnSpc>
                <a:spcPct val="160000"/>
              </a:lnSpc>
            </a:pPr>
            <a:r>
              <a:rPr lang="en-US" sz="2400" dirty="0">
                <a:solidFill>
                  <a:srgbClr val="FFFFFF"/>
                </a:solidFill>
                <a:latin typeface="MiSans" pitchFamily="34" charset="0"/>
                <a:ea typeface="MiSans" pitchFamily="34" charset="-122"/>
                <a:cs typeface="MiSans" pitchFamily="34" charset="-120"/>
              </a:rPr>
              <a:t>交互自然，智能性更强</a:t>
            </a:r>
            <a:endParaRPr lang="en-US" sz="2400" dirty="0"/>
          </a:p>
        </p:txBody>
      </p:sp>
      <p:sp>
        <p:nvSpPr>
          <p:cNvPr id="11" name="Shape 8"/>
          <p:cNvSpPr/>
          <p:nvPr/>
        </p:nvSpPr>
        <p:spPr>
          <a:xfrm>
            <a:off x="8128000" y="1625600"/>
            <a:ext cx="7239000" cy="5169648"/>
          </a:xfrm>
          <a:prstGeom prst="roundRect">
            <a:avLst>
              <a:gd name="adj" fmla="val 6000"/>
            </a:avLst>
          </a:prstGeom>
          <a:gradFill flip="none" rotWithShape="1">
            <a:gsLst>
              <a:gs pos="0">
                <a:srgbClr val="DAAB00"/>
              </a:gs>
              <a:gs pos="100000">
                <a:srgbClr val="F8931D"/>
              </a:gs>
            </a:gsLst>
            <a:lin ang="2700000" scaled="1"/>
          </a:gradFill>
          <a:ln/>
        </p:spPr>
        <p:txBody>
          <a:bodyPr/>
          <a:lstStyle/>
          <a:p>
            <a:endParaRPr lang="zh-CN" altLang="en-US"/>
          </a:p>
        </p:txBody>
      </p:sp>
      <p:sp>
        <p:nvSpPr>
          <p:cNvPr id="12" name="Shape 9"/>
          <p:cNvSpPr/>
          <p:nvPr/>
        </p:nvSpPr>
        <p:spPr>
          <a:xfrm>
            <a:off x="8382000" y="1879600"/>
            <a:ext cx="1803400" cy="482600"/>
          </a:xfrm>
          <a:prstGeom prst="roundRect">
            <a:avLst>
              <a:gd name="adj" fmla="val 12000"/>
            </a:avLst>
          </a:prstGeom>
          <a:solidFill>
            <a:srgbClr val="FFFFFF"/>
          </a:solidFill>
          <a:ln/>
        </p:spPr>
        <p:txBody>
          <a:bodyPr/>
          <a:lstStyle/>
          <a:p>
            <a:endParaRPr lang="zh-CN" altLang="en-US"/>
          </a:p>
        </p:txBody>
      </p:sp>
      <p:sp>
        <p:nvSpPr>
          <p:cNvPr id="13" name="Text 10"/>
          <p:cNvSpPr/>
          <p:nvPr/>
        </p:nvSpPr>
        <p:spPr>
          <a:xfrm>
            <a:off x="8382000" y="1879600"/>
            <a:ext cx="1803400" cy="482600"/>
          </a:xfrm>
          <a:prstGeom prst="rect">
            <a:avLst/>
          </a:prstGeom>
          <a:noFill/>
          <a:ln/>
        </p:spPr>
        <p:txBody>
          <a:bodyPr wrap="none" lIns="0" tIns="0" rIns="0" bIns="0" rtlCol="0" anchor="ctr"/>
          <a:lstStyle/>
          <a:p>
            <a:pPr algn="ctr">
              <a:lnSpc>
                <a:spcPct val="120000"/>
              </a:lnSpc>
            </a:pPr>
            <a:r>
              <a:rPr lang="en-US" sz="2000" b="1" dirty="0">
                <a:solidFill>
                  <a:srgbClr val="DAAB00"/>
                </a:solidFill>
                <a:latin typeface="Arial" pitchFamily="34" charset="0"/>
                <a:ea typeface="Arial" pitchFamily="34" charset="-122"/>
                <a:cs typeface="Arial" pitchFamily="34" charset="-120"/>
              </a:rPr>
              <a:t>02</a:t>
            </a:r>
            <a:endParaRPr lang="en-US" sz="2000" dirty="0"/>
          </a:p>
        </p:txBody>
      </p:sp>
      <p:sp>
        <p:nvSpPr>
          <p:cNvPr id="14" name="Text 11"/>
          <p:cNvSpPr/>
          <p:nvPr/>
        </p:nvSpPr>
        <p:spPr>
          <a:xfrm>
            <a:off x="8382000" y="2540000"/>
            <a:ext cx="6731000" cy="482600"/>
          </a:xfrm>
          <a:prstGeom prst="rect">
            <a:avLst/>
          </a:prstGeom>
          <a:noFill/>
          <a:ln/>
        </p:spPr>
        <p:txBody>
          <a:bodyPr wrap="none" lIns="0" tIns="0" rIns="0" bIns="0" rtlCol="0" anchor="ctr"/>
          <a:lstStyle/>
          <a:p>
            <a:pPr algn="l">
              <a:lnSpc>
                <a:spcPct val="120000"/>
              </a:lnSpc>
            </a:pPr>
            <a:r>
              <a:rPr lang="en-US" sz="3200" b="1" dirty="0">
                <a:solidFill>
                  <a:srgbClr val="FFFFFF"/>
                </a:solidFill>
                <a:latin typeface="汉仪行楷简" pitchFamily="34" charset="0"/>
                <a:ea typeface="汉仪行楷简" pitchFamily="34" charset="-122"/>
                <a:cs typeface="汉仪行楷简" pitchFamily="34" charset="-120"/>
              </a:rPr>
              <a:t>预设偏好快速推荐</a:t>
            </a:r>
            <a:endParaRPr lang="en-US" sz="3200" dirty="0"/>
          </a:p>
        </p:txBody>
      </p:sp>
      <p:sp>
        <p:nvSpPr>
          <p:cNvPr id="15" name="Text 12"/>
          <p:cNvSpPr/>
          <p:nvPr/>
        </p:nvSpPr>
        <p:spPr>
          <a:xfrm>
            <a:off x="8382000" y="3175000"/>
            <a:ext cx="6731000" cy="2794000"/>
          </a:xfrm>
          <a:prstGeom prst="rect">
            <a:avLst/>
          </a:prstGeom>
          <a:noFill/>
          <a:ln/>
        </p:spPr>
        <p:txBody>
          <a:bodyPr wrap="square" lIns="0" tIns="0" rIns="0" bIns="0" rtlCol="0" anchor="t"/>
          <a:lstStyle/>
          <a:p>
            <a:pPr algn="l">
              <a:lnSpc>
                <a:spcPct val="160000"/>
              </a:lnSpc>
            </a:pPr>
            <a:r>
              <a:rPr lang="en-US" sz="2400" dirty="0">
                <a:solidFill>
                  <a:srgbClr val="FFFFFF"/>
                </a:solidFill>
                <a:latin typeface="MiSans" pitchFamily="34" charset="0"/>
                <a:ea typeface="MiSans" pitchFamily="34" charset="-122"/>
                <a:cs typeface="MiSans" pitchFamily="34" charset="-120"/>
              </a:rPr>
              <a:t>基于用户既有标签、预算、距离偏好直接推荐</a:t>
            </a:r>
            <a:endParaRPr lang="en-US" sz="2400" dirty="0"/>
          </a:p>
          <a:p>
            <a:pPr algn="l">
              <a:lnSpc>
                <a:spcPct val="160000"/>
              </a:lnSpc>
            </a:pPr>
            <a:r>
              <a:rPr lang="en-US" sz="2400" dirty="0">
                <a:solidFill>
                  <a:srgbClr val="FFFFFF"/>
                </a:solidFill>
                <a:latin typeface="MiSans" pitchFamily="34" charset="0"/>
                <a:ea typeface="MiSans" pitchFamily="34" charset="-122"/>
                <a:cs typeface="MiSans" pitchFamily="34" charset="-120"/>
              </a:rPr>
              <a:t>不依赖 LLM，返回速度更快</a:t>
            </a:r>
            <a:endParaRPr lang="en-US" sz="2400" dirty="0"/>
          </a:p>
          <a:p>
            <a:pPr algn="l">
              <a:lnSpc>
                <a:spcPct val="160000"/>
              </a:lnSpc>
            </a:pPr>
            <a:r>
              <a:rPr lang="en-US" sz="2400" dirty="0">
                <a:solidFill>
                  <a:srgbClr val="FFFFFF"/>
                </a:solidFill>
                <a:latin typeface="MiSans" pitchFamily="34" charset="0"/>
                <a:ea typeface="MiSans" pitchFamily="34" charset="-122"/>
                <a:cs typeface="MiSans" pitchFamily="34" charset="-120"/>
              </a:rPr>
              <a:t>适合高频、快速决策场景</a:t>
            </a:r>
            <a:endParaRPr lang="en-US" sz="2400" dirty="0"/>
          </a:p>
          <a:p>
            <a:pPr algn="l">
              <a:lnSpc>
                <a:spcPct val="160000"/>
              </a:lnSpc>
            </a:pPr>
            <a:r>
              <a:rPr lang="en-US" sz="2400" dirty="0">
                <a:solidFill>
                  <a:srgbClr val="FFFFFF"/>
                </a:solidFill>
                <a:latin typeface="MiSans" pitchFamily="34" charset="0"/>
                <a:ea typeface="MiSans" pitchFamily="34" charset="-122"/>
                <a:cs typeface="MiSans" pitchFamily="34" charset="-120"/>
              </a:rPr>
              <a:t>运行稳定，适合页面常驻展示</a:t>
            </a:r>
            <a:endParaRPr lang="en-US" sz="2400" dirty="0"/>
          </a:p>
        </p:txBody>
      </p:sp>
      <p:sp>
        <p:nvSpPr>
          <p:cNvPr id="16" name="Text 13"/>
          <p:cNvSpPr/>
          <p:nvPr/>
        </p:nvSpPr>
        <p:spPr>
          <a:xfrm>
            <a:off x="889000" y="7518400"/>
            <a:ext cx="14478000" cy="698500"/>
          </a:xfrm>
          <a:prstGeom prst="rect">
            <a:avLst/>
          </a:prstGeom>
          <a:noFill/>
          <a:ln/>
        </p:spPr>
        <p:txBody>
          <a:bodyPr wrap="square" lIns="0" tIns="0" rIns="0" bIns="0" rtlCol="0" anchor="ctr"/>
          <a:lstStyle/>
          <a:p>
            <a:pPr algn="ctr">
              <a:lnSpc>
                <a:spcPct val="140000"/>
              </a:lnSpc>
            </a:pPr>
            <a:r>
              <a:rPr lang="en-US" sz="1600" b="1" dirty="0">
                <a:solidFill>
                  <a:srgbClr val="444444"/>
                </a:solidFill>
                <a:latin typeface="MiSans" pitchFamily="34" charset="0"/>
                <a:ea typeface="MiSans" pitchFamily="34" charset="-122"/>
                <a:cs typeface="MiSans" pitchFamily="34" charset="-120"/>
              </a:rPr>
              <a:t>双引擎设计使系统既能"听懂用户怎么说"，也能"快速给出可用结果"。</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rial" pitchFamily="34" charset="0"/>
                <a:ea typeface="Arial" pitchFamily="34" charset="-122"/>
                <a:cs typeface="Arial" pitchFamily="34" charset="-120"/>
              </a:rPr>
              <a:t>11</a:t>
            </a:r>
            <a:endParaRPr lang="en-US" sz="1330" dirty="0"/>
          </a:p>
        </p:txBody>
      </p:sp>
      <p:sp>
        <p:nvSpPr>
          <p:cNvPr id="4" name="Text 1"/>
          <p:cNvSpPr/>
          <p:nvPr/>
        </p:nvSpPr>
        <p:spPr>
          <a:xfrm>
            <a:off x="880491" y="171450"/>
            <a:ext cx="14478000" cy="698500"/>
          </a:xfrm>
          <a:prstGeom prst="rect">
            <a:avLst/>
          </a:prstGeom>
          <a:noFill/>
          <a:ln/>
        </p:spPr>
        <p:txBody>
          <a:bodyPr wrap="non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推荐流程与核心算法</a:t>
            </a:r>
            <a:endParaRPr lang="en-US" sz="3730" dirty="0"/>
          </a:p>
        </p:txBody>
      </p:sp>
      <p:sp>
        <p:nvSpPr>
          <p:cNvPr id="5" name="Text 2"/>
          <p:cNvSpPr/>
          <p:nvPr/>
        </p:nvSpPr>
        <p:spPr>
          <a:xfrm>
            <a:off x="880491" y="927100"/>
            <a:ext cx="14478000" cy="508000"/>
          </a:xfrm>
          <a:prstGeom prst="rect">
            <a:avLst/>
          </a:prstGeom>
          <a:noFill/>
          <a:ln/>
        </p:spPr>
        <p:txBody>
          <a:bodyPr wrap="square" lIns="0" tIns="0" rIns="0" bIns="0" rtlCol="0" anchor="t"/>
          <a:lstStyle/>
          <a:p>
            <a:pPr algn="l">
              <a:lnSpc>
                <a:spcPct val="130000"/>
              </a:lnSpc>
            </a:pPr>
            <a:r>
              <a:rPr lang="en-US" sz="1500" dirty="0">
                <a:solidFill>
                  <a:srgbClr val="555555"/>
                </a:solidFill>
                <a:latin typeface="MiSans" pitchFamily="34" charset="0"/>
                <a:ea typeface="MiSans" pitchFamily="34" charset="-122"/>
                <a:cs typeface="MiSans" pitchFamily="34" charset="-120"/>
              </a:rPr>
              <a:t>系统采用"规则评分为主、AI 能力为辅"的推荐思路，在保证可控性的同时提升智能化水平。</a:t>
            </a:r>
            <a:endParaRPr lang="en-US" sz="1500" dirty="0"/>
          </a:p>
        </p:txBody>
      </p:sp>
      <p:sp>
        <p:nvSpPr>
          <p:cNvPr id="6" name="Text 3"/>
          <p:cNvSpPr/>
          <p:nvPr/>
        </p:nvSpPr>
        <p:spPr>
          <a:xfrm>
            <a:off x="880491" y="1498600"/>
            <a:ext cx="2540000" cy="355600"/>
          </a:xfrm>
          <a:prstGeom prst="rect">
            <a:avLst/>
          </a:prstGeom>
          <a:noFill/>
          <a:ln/>
        </p:spPr>
        <p:txBody>
          <a:bodyPr wrap="none" lIns="0" tIns="0" rIns="0" bIns="0" rtlCol="0" anchor="ctr"/>
          <a:lstStyle/>
          <a:p>
            <a:pPr algn="l">
              <a:lnSpc>
                <a:spcPct val="120000"/>
              </a:lnSpc>
            </a:pPr>
            <a:r>
              <a:rPr lang="en-US" sz="2800" b="1" dirty="0">
                <a:solidFill>
                  <a:srgbClr val="000000"/>
                </a:solidFill>
                <a:latin typeface="汉仪行楷简" pitchFamily="34" charset="0"/>
                <a:ea typeface="汉仪行楷简" pitchFamily="34" charset="-122"/>
                <a:cs typeface="汉仪行楷简" pitchFamily="34" charset="-120"/>
              </a:rPr>
              <a:t>推荐流程</a:t>
            </a:r>
            <a:endParaRPr lang="en-US" sz="2800" dirty="0"/>
          </a:p>
        </p:txBody>
      </p:sp>
      <p:sp>
        <p:nvSpPr>
          <p:cNvPr id="7" name="Shape 4"/>
          <p:cNvSpPr/>
          <p:nvPr/>
        </p:nvSpPr>
        <p:spPr>
          <a:xfrm>
            <a:off x="698500" y="1930400"/>
            <a:ext cx="1778000" cy="609600"/>
          </a:xfrm>
          <a:prstGeom prst="roundRect">
            <a:avLst>
              <a:gd name="adj" fmla="val 10000"/>
            </a:avLst>
          </a:prstGeom>
          <a:solidFill>
            <a:srgbClr val="DAAB00"/>
          </a:solidFill>
          <a:ln/>
        </p:spPr>
        <p:txBody>
          <a:bodyPr/>
          <a:lstStyle/>
          <a:p>
            <a:endParaRPr lang="zh-CN" altLang="en-US"/>
          </a:p>
        </p:txBody>
      </p:sp>
      <p:sp>
        <p:nvSpPr>
          <p:cNvPr id="8" name="Text 5"/>
          <p:cNvSpPr/>
          <p:nvPr/>
        </p:nvSpPr>
        <p:spPr>
          <a:xfrm>
            <a:off x="698500" y="1930400"/>
            <a:ext cx="1778000" cy="609600"/>
          </a:xfrm>
          <a:prstGeom prst="rect">
            <a:avLst/>
          </a:prstGeom>
          <a:noFill/>
          <a:ln/>
        </p:spPr>
        <p:txBody>
          <a:bodyPr wrap="square" lIns="0" tIns="0" rIns="0" bIns="0" rtlCol="0" anchor="ctr"/>
          <a:lstStyle/>
          <a:p>
            <a:pPr algn="ctr">
              <a:lnSpc>
                <a:spcPct val="120000"/>
              </a:lnSpc>
            </a:pPr>
            <a:r>
              <a:rPr lang="en-US" b="1" dirty="0">
                <a:solidFill>
                  <a:srgbClr val="FFFFFF"/>
                </a:solidFill>
                <a:latin typeface="MiSans" pitchFamily="34" charset="0"/>
                <a:ea typeface="MiSans" pitchFamily="34" charset="-122"/>
                <a:cs typeface="MiSans" pitchFamily="34" charset="-120"/>
              </a:rPr>
              <a:t>用户输入需求</a:t>
            </a:r>
            <a:endParaRPr lang="en-US" dirty="0"/>
          </a:p>
        </p:txBody>
      </p:sp>
      <p:sp>
        <p:nvSpPr>
          <p:cNvPr id="9" name="Shape 6"/>
          <p:cNvSpPr/>
          <p:nvPr/>
        </p:nvSpPr>
        <p:spPr>
          <a:xfrm>
            <a:off x="2476500" y="2235200"/>
            <a:ext cx="228600" cy="0"/>
          </a:xfrm>
          <a:prstGeom prst="straightConnector1">
            <a:avLst/>
          </a:prstGeom>
          <a:noFill/>
          <a:ln w="25400">
            <a:solidFill>
              <a:srgbClr val="DAAB00"/>
            </a:solidFill>
            <a:prstDash val="solid"/>
            <a:headEnd type="none"/>
            <a:tailEnd type="arrow"/>
          </a:ln>
        </p:spPr>
        <p:txBody>
          <a:bodyPr/>
          <a:lstStyle/>
          <a:p>
            <a:endParaRPr lang="zh-CN" altLang="en-US"/>
          </a:p>
        </p:txBody>
      </p:sp>
      <p:sp>
        <p:nvSpPr>
          <p:cNvPr id="10" name="Shape 7"/>
          <p:cNvSpPr/>
          <p:nvPr/>
        </p:nvSpPr>
        <p:spPr>
          <a:xfrm>
            <a:off x="2705100" y="1930400"/>
            <a:ext cx="1524000" cy="609600"/>
          </a:xfrm>
          <a:prstGeom prst="roundRect">
            <a:avLst>
              <a:gd name="adj" fmla="val 10000"/>
            </a:avLst>
          </a:prstGeom>
          <a:solidFill>
            <a:srgbClr val="DAAB00"/>
          </a:solidFill>
          <a:ln/>
        </p:spPr>
        <p:txBody>
          <a:bodyPr/>
          <a:lstStyle/>
          <a:p>
            <a:endParaRPr lang="zh-CN" altLang="en-US"/>
          </a:p>
        </p:txBody>
      </p:sp>
      <p:sp>
        <p:nvSpPr>
          <p:cNvPr id="11" name="Text 8"/>
          <p:cNvSpPr/>
          <p:nvPr/>
        </p:nvSpPr>
        <p:spPr>
          <a:xfrm>
            <a:off x="2705100" y="1930400"/>
            <a:ext cx="1524000" cy="609600"/>
          </a:xfrm>
          <a:prstGeom prst="rect">
            <a:avLst/>
          </a:prstGeom>
          <a:noFill/>
          <a:ln/>
        </p:spPr>
        <p:txBody>
          <a:bodyPr wrap="square" lIns="0" tIns="0" rIns="0" bIns="0" rtlCol="0" anchor="ctr"/>
          <a:lstStyle/>
          <a:p>
            <a:pPr algn="ctr">
              <a:lnSpc>
                <a:spcPct val="120000"/>
              </a:lnSpc>
            </a:pPr>
            <a:r>
              <a:rPr lang="en-US" sz="1400" b="1" dirty="0">
                <a:solidFill>
                  <a:srgbClr val="FFFFFF"/>
                </a:solidFill>
                <a:latin typeface="MiSans" pitchFamily="34" charset="0"/>
                <a:ea typeface="MiSans" pitchFamily="34" charset="-122"/>
                <a:cs typeface="MiSans" pitchFamily="34" charset="-120"/>
              </a:rPr>
              <a:t>意图解析</a:t>
            </a:r>
            <a:endParaRPr lang="en-US" sz="1400" dirty="0"/>
          </a:p>
        </p:txBody>
      </p:sp>
      <p:sp>
        <p:nvSpPr>
          <p:cNvPr id="12" name="Shape 9"/>
          <p:cNvSpPr/>
          <p:nvPr/>
        </p:nvSpPr>
        <p:spPr>
          <a:xfrm>
            <a:off x="4229100" y="2235200"/>
            <a:ext cx="228600" cy="0"/>
          </a:xfrm>
          <a:prstGeom prst="straightConnector1">
            <a:avLst/>
          </a:prstGeom>
          <a:noFill/>
          <a:ln w="25400">
            <a:solidFill>
              <a:srgbClr val="DAAB00"/>
            </a:solidFill>
            <a:prstDash val="solid"/>
            <a:headEnd type="none"/>
            <a:tailEnd type="arrow"/>
          </a:ln>
        </p:spPr>
        <p:txBody>
          <a:bodyPr/>
          <a:lstStyle/>
          <a:p>
            <a:endParaRPr lang="zh-CN" altLang="en-US"/>
          </a:p>
        </p:txBody>
      </p:sp>
      <p:sp>
        <p:nvSpPr>
          <p:cNvPr id="13" name="Shape 10"/>
          <p:cNvSpPr/>
          <p:nvPr/>
        </p:nvSpPr>
        <p:spPr>
          <a:xfrm>
            <a:off x="4457700" y="1930400"/>
            <a:ext cx="1651000" cy="609600"/>
          </a:xfrm>
          <a:prstGeom prst="roundRect">
            <a:avLst>
              <a:gd name="adj" fmla="val 10000"/>
            </a:avLst>
          </a:prstGeom>
          <a:solidFill>
            <a:srgbClr val="DAAB00"/>
          </a:solidFill>
          <a:ln/>
        </p:spPr>
        <p:txBody>
          <a:bodyPr/>
          <a:lstStyle/>
          <a:p>
            <a:endParaRPr lang="zh-CN" altLang="en-US"/>
          </a:p>
        </p:txBody>
      </p:sp>
      <p:sp>
        <p:nvSpPr>
          <p:cNvPr id="14" name="Text 11"/>
          <p:cNvSpPr/>
          <p:nvPr/>
        </p:nvSpPr>
        <p:spPr>
          <a:xfrm>
            <a:off x="4457700" y="1930400"/>
            <a:ext cx="1651000" cy="609600"/>
          </a:xfrm>
          <a:prstGeom prst="rect">
            <a:avLst/>
          </a:prstGeom>
          <a:noFill/>
          <a:ln/>
        </p:spPr>
        <p:txBody>
          <a:bodyPr wrap="square" lIns="0" tIns="0" rIns="0" bIns="0" rtlCol="0" anchor="ctr"/>
          <a:lstStyle/>
          <a:p>
            <a:pPr algn="ctr">
              <a:lnSpc>
                <a:spcPct val="120000"/>
              </a:lnSpc>
            </a:pPr>
            <a:r>
              <a:rPr lang="en-US" sz="1400" b="1" dirty="0">
                <a:solidFill>
                  <a:srgbClr val="FFFFFF"/>
                </a:solidFill>
                <a:latin typeface="MiSans" pitchFamily="34" charset="0"/>
                <a:ea typeface="MiSans" pitchFamily="34" charset="-122"/>
                <a:cs typeface="MiSans" pitchFamily="34" charset="-120"/>
              </a:rPr>
              <a:t>获取周边餐厅</a:t>
            </a:r>
            <a:endParaRPr lang="en-US" sz="1400" dirty="0"/>
          </a:p>
        </p:txBody>
      </p:sp>
      <p:sp>
        <p:nvSpPr>
          <p:cNvPr id="15" name="Shape 12"/>
          <p:cNvSpPr/>
          <p:nvPr/>
        </p:nvSpPr>
        <p:spPr>
          <a:xfrm>
            <a:off x="6108700" y="2235200"/>
            <a:ext cx="228600" cy="0"/>
          </a:xfrm>
          <a:prstGeom prst="straightConnector1">
            <a:avLst/>
          </a:prstGeom>
          <a:noFill/>
          <a:ln w="25400">
            <a:solidFill>
              <a:srgbClr val="DAAB00"/>
            </a:solidFill>
            <a:prstDash val="solid"/>
            <a:headEnd type="none"/>
            <a:tailEnd type="arrow"/>
          </a:ln>
        </p:spPr>
        <p:txBody>
          <a:bodyPr/>
          <a:lstStyle/>
          <a:p>
            <a:endParaRPr lang="zh-CN" altLang="en-US"/>
          </a:p>
        </p:txBody>
      </p:sp>
      <p:sp>
        <p:nvSpPr>
          <p:cNvPr id="16" name="Shape 13"/>
          <p:cNvSpPr/>
          <p:nvPr/>
        </p:nvSpPr>
        <p:spPr>
          <a:xfrm>
            <a:off x="6337300" y="1930400"/>
            <a:ext cx="1651000" cy="609600"/>
          </a:xfrm>
          <a:prstGeom prst="roundRect">
            <a:avLst>
              <a:gd name="adj" fmla="val 10000"/>
            </a:avLst>
          </a:prstGeom>
          <a:solidFill>
            <a:srgbClr val="E5A010"/>
          </a:solidFill>
          <a:ln/>
        </p:spPr>
        <p:txBody>
          <a:bodyPr/>
          <a:lstStyle/>
          <a:p>
            <a:endParaRPr lang="zh-CN" altLang="en-US"/>
          </a:p>
        </p:txBody>
      </p:sp>
      <p:sp>
        <p:nvSpPr>
          <p:cNvPr id="17" name="Text 14"/>
          <p:cNvSpPr/>
          <p:nvPr/>
        </p:nvSpPr>
        <p:spPr>
          <a:xfrm>
            <a:off x="6337300" y="1930400"/>
            <a:ext cx="1651000" cy="609600"/>
          </a:xfrm>
          <a:prstGeom prst="rect">
            <a:avLst/>
          </a:prstGeom>
          <a:noFill/>
          <a:ln/>
        </p:spPr>
        <p:txBody>
          <a:bodyPr wrap="square" lIns="0" tIns="0" rIns="0" bIns="0" rtlCol="0" anchor="ctr"/>
          <a:lstStyle/>
          <a:p>
            <a:pPr algn="ctr">
              <a:lnSpc>
                <a:spcPct val="120000"/>
              </a:lnSpc>
            </a:pPr>
            <a:r>
              <a:rPr lang="en-US" sz="1400" b="1" dirty="0">
                <a:solidFill>
                  <a:srgbClr val="FFFFFF"/>
                </a:solidFill>
                <a:latin typeface="MiSans" pitchFamily="34" charset="0"/>
                <a:ea typeface="MiSans" pitchFamily="34" charset="-122"/>
                <a:cs typeface="MiSans" pitchFamily="34" charset="-120"/>
              </a:rPr>
              <a:t>数据清洗筛选</a:t>
            </a:r>
            <a:endParaRPr lang="en-US" sz="1400" dirty="0"/>
          </a:p>
        </p:txBody>
      </p:sp>
      <p:sp>
        <p:nvSpPr>
          <p:cNvPr id="18" name="Shape 15"/>
          <p:cNvSpPr/>
          <p:nvPr/>
        </p:nvSpPr>
        <p:spPr>
          <a:xfrm>
            <a:off x="7988300" y="2235200"/>
            <a:ext cx="228600" cy="0"/>
          </a:xfrm>
          <a:prstGeom prst="straightConnector1">
            <a:avLst/>
          </a:prstGeom>
          <a:noFill/>
          <a:ln w="25400">
            <a:solidFill>
              <a:srgbClr val="DAAB00"/>
            </a:solidFill>
            <a:prstDash val="solid"/>
            <a:headEnd type="none"/>
            <a:tailEnd type="arrow"/>
          </a:ln>
        </p:spPr>
        <p:txBody>
          <a:bodyPr/>
          <a:lstStyle/>
          <a:p>
            <a:endParaRPr lang="zh-CN" altLang="en-US"/>
          </a:p>
        </p:txBody>
      </p:sp>
      <p:sp>
        <p:nvSpPr>
          <p:cNvPr id="19" name="Shape 16"/>
          <p:cNvSpPr/>
          <p:nvPr/>
        </p:nvSpPr>
        <p:spPr>
          <a:xfrm>
            <a:off x="8216900" y="1930400"/>
            <a:ext cx="1778000" cy="609600"/>
          </a:xfrm>
          <a:prstGeom prst="roundRect">
            <a:avLst>
              <a:gd name="adj" fmla="val 10000"/>
            </a:avLst>
          </a:prstGeom>
          <a:solidFill>
            <a:srgbClr val="E5A010"/>
          </a:solidFill>
          <a:ln/>
        </p:spPr>
        <p:txBody>
          <a:bodyPr/>
          <a:lstStyle/>
          <a:p>
            <a:endParaRPr lang="zh-CN" altLang="en-US"/>
          </a:p>
        </p:txBody>
      </p:sp>
      <p:sp>
        <p:nvSpPr>
          <p:cNvPr id="20" name="Text 17"/>
          <p:cNvSpPr/>
          <p:nvPr/>
        </p:nvSpPr>
        <p:spPr>
          <a:xfrm>
            <a:off x="8216900" y="1930400"/>
            <a:ext cx="1778000" cy="609600"/>
          </a:xfrm>
          <a:prstGeom prst="rect">
            <a:avLst/>
          </a:prstGeom>
          <a:noFill/>
          <a:ln/>
        </p:spPr>
        <p:txBody>
          <a:bodyPr wrap="square" lIns="0" tIns="0" rIns="0" bIns="0" rtlCol="0" anchor="ctr"/>
          <a:lstStyle/>
          <a:p>
            <a:pPr algn="ctr">
              <a:lnSpc>
                <a:spcPct val="120000"/>
              </a:lnSpc>
            </a:pPr>
            <a:r>
              <a:rPr lang="en-US" sz="1400" b="1" dirty="0">
                <a:solidFill>
                  <a:srgbClr val="FFFFFF"/>
                </a:solidFill>
                <a:latin typeface="MiSans" pitchFamily="34" charset="0"/>
                <a:ea typeface="MiSans" pitchFamily="34" charset="-122"/>
                <a:cs typeface="MiSans" pitchFamily="34" charset="-120"/>
              </a:rPr>
              <a:t>多维度评分排序</a:t>
            </a:r>
            <a:endParaRPr lang="en-US" sz="1400" dirty="0"/>
          </a:p>
        </p:txBody>
      </p:sp>
      <p:sp>
        <p:nvSpPr>
          <p:cNvPr id="21" name="Shape 18"/>
          <p:cNvSpPr/>
          <p:nvPr/>
        </p:nvSpPr>
        <p:spPr>
          <a:xfrm>
            <a:off x="9994900" y="2235200"/>
            <a:ext cx="228600" cy="0"/>
          </a:xfrm>
          <a:prstGeom prst="straightConnector1">
            <a:avLst/>
          </a:prstGeom>
          <a:noFill/>
          <a:ln w="25400">
            <a:solidFill>
              <a:srgbClr val="DAAB00"/>
            </a:solidFill>
            <a:prstDash val="solid"/>
            <a:headEnd type="none"/>
            <a:tailEnd type="arrow"/>
          </a:ln>
        </p:spPr>
        <p:txBody>
          <a:bodyPr/>
          <a:lstStyle/>
          <a:p>
            <a:endParaRPr lang="zh-CN" altLang="en-US"/>
          </a:p>
        </p:txBody>
      </p:sp>
      <p:sp>
        <p:nvSpPr>
          <p:cNvPr id="22" name="Shape 19"/>
          <p:cNvSpPr/>
          <p:nvPr/>
        </p:nvSpPr>
        <p:spPr>
          <a:xfrm>
            <a:off x="10223500" y="1930400"/>
            <a:ext cx="1778000" cy="609600"/>
          </a:xfrm>
          <a:prstGeom prst="roundRect">
            <a:avLst>
              <a:gd name="adj" fmla="val 10000"/>
            </a:avLst>
          </a:prstGeom>
          <a:solidFill>
            <a:srgbClr val="DAAB00"/>
          </a:solidFill>
          <a:ln/>
        </p:spPr>
        <p:txBody>
          <a:bodyPr/>
          <a:lstStyle/>
          <a:p>
            <a:endParaRPr lang="zh-CN" altLang="en-US"/>
          </a:p>
        </p:txBody>
      </p:sp>
      <p:sp>
        <p:nvSpPr>
          <p:cNvPr id="23" name="Text 20"/>
          <p:cNvSpPr/>
          <p:nvPr/>
        </p:nvSpPr>
        <p:spPr>
          <a:xfrm>
            <a:off x="10223500" y="1930400"/>
            <a:ext cx="1778000" cy="609600"/>
          </a:xfrm>
          <a:prstGeom prst="rect">
            <a:avLst/>
          </a:prstGeom>
          <a:noFill/>
          <a:ln/>
        </p:spPr>
        <p:txBody>
          <a:bodyPr wrap="square" lIns="0" tIns="0" rIns="0" bIns="0" rtlCol="0" anchor="ctr"/>
          <a:lstStyle/>
          <a:p>
            <a:pPr algn="ctr">
              <a:lnSpc>
                <a:spcPct val="120000"/>
              </a:lnSpc>
            </a:pPr>
            <a:r>
              <a:rPr lang="en-US" sz="1400" b="1" dirty="0">
                <a:solidFill>
                  <a:srgbClr val="FFFFFF"/>
                </a:solidFill>
                <a:latin typeface="MiSans" pitchFamily="34" charset="0"/>
                <a:ea typeface="MiSans" pitchFamily="34" charset="-122"/>
                <a:cs typeface="MiSans" pitchFamily="34" charset="-120"/>
              </a:rPr>
              <a:t>生成推荐解释</a:t>
            </a:r>
            <a:endParaRPr lang="en-US" sz="1400" dirty="0"/>
          </a:p>
        </p:txBody>
      </p:sp>
      <p:sp>
        <p:nvSpPr>
          <p:cNvPr id="24" name="Shape 21"/>
          <p:cNvSpPr/>
          <p:nvPr/>
        </p:nvSpPr>
        <p:spPr>
          <a:xfrm>
            <a:off x="12001500" y="2235200"/>
            <a:ext cx="228600" cy="0"/>
          </a:xfrm>
          <a:prstGeom prst="straightConnector1">
            <a:avLst/>
          </a:prstGeom>
          <a:noFill/>
          <a:ln w="25400">
            <a:solidFill>
              <a:srgbClr val="DAAB00"/>
            </a:solidFill>
            <a:prstDash val="solid"/>
            <a:headEnd type="none"/>
            <a:tailEnd type="arrow"/>
          </a:ln>
        </p:spPr>
        <p:txBody>
          <a:bodyPr/>
          <a:lstStyle/>
          <a:p>
            <a:endParaRPr lang="zh-CN" altLang="en-US"/>
          </a:p>
        </p:txBody>
      </p:sp>
      <p:sp>
        <p:nvSpPr>
          <p:cNvPr id="25" name="Shape 22"/>
          <p:cNvSpPr/>
          <p:nvPr/>
        </p:nvSpPr>
        <p:spPr>
          <a:xfrm>
            <a:off x="12230100" y="1930400"/>
            <a:ext cx="1968500" cy="609600"/>
          </a:xfrm>
          <a:prstGeom prst="roundRect">
            <a:avLst>
              <a:gd name="adj" fmla="val 10000"/>
            </a:avLst>
          </a:prstGeom>
          <a:solidFill>
            <a:srgbClr val="DAAB00"/>
          </a:solidFill>
          <a:ln/>
        </p:spPr>
        <p:txBody>
          <a:bodyPr/>
          <a:lstStyle/>
          <a:p>
            <a:endParaRPr lang="zh-CN" altLang="en-US"/>
          </a:p>
        </p:txBody>
      </p:sp>
      <p:sp>
        <p:nvSpPr>
          <p:cNvPr id="26" name="Text 23"/>
          <p:cNvSpPr/>
          <p:nvPr/>
        </p:nvSpPr>
        <p:spPr>
          <a:xfrm>
            <a:off x="12230100" y="1930400"/>
            <a:ext cx="1968500" cy="609600"/>
          </a:xfrm>
          <a:prstGeom prst="rect">
            <a:avLst/>
          </a:prstGeom>
          <a:noFill/>
          <a:ln/>
        </p:spPr>
        <p:txBody>
          <a:bodyPr wrap="square" lIns="0" tIns="0" rIns="0" bIns="0" rtlCol="0" anchor="ctr"/>
          <a:lstStyle/>
          <a:p>
            <a:pPr algn="ctr">
              <a:lnSpc>
                <a:spcPct val="120000"/>
              </a:lnSpc>
            </a:pPr>
            <a:r>
              <a:rPr lang="en-US" sz="1400" b="1" dirty="0">
                <a:solidFill>
                  <a:srgbClr val="FFFFFF"/>
                </a:solidFill>
                <a:latin typeface="MiSans" pitchFamily="34" charset="0"/>
                <a:ea typeface="MiSans" pitchFamily="34" charset="-122"/>
                <a:cs typeface="MiSans" pitchFamily="34" charset="-120"/>
              </a:rPr>
              <a:t>用户反馈更新偏好</a:t>
            </a:r>
            <a:endParaRPr lang="en-US" sz="1400" dirty="0"/>
          </a:p>
        </p:txBody>
      </p:sp>
      <p:sp>
        <p:nvSpPr>
          <p:cNvPr id="27" name="Text 24"/>
          <p:cNvSpPr/>
          <p:nvPr/>
        </p:nvSpPr>
        <p:spPr>
          <a:xfrm>
            <a:off x="880491" y="2794000"/>
            <a:ext cx="2540000" cy="355600"/>
          </a:xfrm>
          <a:prstGeom prst="rect">
            <a:avLst/>
          </a:prstGeom>
          <a:noFill/>
          <a:ln/>
        </p:spPr>
        <p:txBody>
          <a:bodyPr wrap="none" lIns="0" tIns="0" rIns="0" bIns="0" rtlCol="0" anchor="ctr"/>
          <a:lstStyle/>
          <a:p>
            <a:pPr algn="l">
              <a:lnSpc>
                <a:spcPct val="120000"/>
              </a:lnSpc>
            </a:pPr>
            <a:r>
              <a:rPr lang="en-US" sz="1800" b="1" dirty="0">
                <a:solidFill>
                  <a:srgbClr val="000000"/>
                </a:solidFill>
                <a:latin typeface="汉仪行楷简" pitchFamily="34" charset="0"/>
                <a:ea typeface="汉仪行楷简" pitchFamily="34" charset="-122"/>
                <a:cs typeface="汉仪行楷简" pitchFamily="34" charset="-120"/>
              </a:rPr>
              <a:t>核心算法说明</a:t>
            </a:r>
            <a:endParaRPr lang="en-US" sz="1800" dirty="0"/>
          </a:p>
        </p:txBody>
      </p:sp>
      <p:sp>
        <p:nvSpPr>
          <p:cNvPr id="28" name="Shape 25"/>
          <p:cNvSpPr/>
          <p:nvPr/>
        </p:nvSpPr>
        <p:spPr>
          <a:xfrm>
            <a:off x="889000" y="3251199"/>
            <a:ext cx="6858000" cy="3092003"/>
          </a:xfrm>
          <a:prstGeom prst="roundRect">
            <a:avLst>
              <a:gd name="adj" fmla="val 6000"/>
            </a:avLst>
          </a:prstGeom>
          <a:gradFill flip="none" rotWithShape="1">
            <a:gsLst>
              <a:gs pos="0">
                <a:srgbClr val="DAAB00"/>
              </a:gs>
              <a:gs pos="100000">
                <a:srgbClr val="F8931D"/>
              </a:gs>
            </a:gsLst>
            <a:lin ang="2700000" scaled="1"/>
          </a:gradFill>
          <a:ln/>
        </p:spPr>
        <p:txBody>
          <a:bodyPr/>
          <a:lstStyle/>
          <a:p>
            <a:endParaRPr lang="zh-CN" altLang="en-US"/>
          </a:p>
        </p:txBody>
      </p:sp>
      <p:sp>
        <p:nvSpPr>
          <p:cNvPr id="29" name="Text 26"/>
          <p:cNvSpPr/>
          <p:nvPr/>
        </p:nvSpPr>
        <p:spPr>
          <a:xfrm>
            <a:off x="1117600" y="3352800"/>
            <a:ext cx="6350000" cy="381000"/>
          </a:xfrm>
          <a:prstGeom prst="rect">
            <a:avLst/>
          </a:prstGeom>
          <a:noFill/>
          <a:ln/>
        </p:spPr>
        <p:txBody>
          <a:bodyPr wrap="none" lIns="0" tIns="0" rIns="0" bIns="0" rtlCol="0" anchor="ctr"/>
          <a:lstStyle/>
          <a:p>
            <a:pPr algn="l">
              <a:lnSpc>
                <a:spcPct val="120000"/>
              </a:lnSpc>
            </a:pPr>
            <a:r>
              <a:rPr lang="en-US" sz="2400" b="1" dirty="0">
                <a:solidFill>
                  <a:srgbClr val="FFFFFF"/>
                </a:solidFill>
                <a:latin typeface="汉仪行楷简" pitchFamily="34" charset="0"/>
                <a:ea typeface="汉仪行楷简" pitchFamily="34" charset="-122"/>
                <a:cs typeface="汉仪行楷简" pitchFamily="34" charset="-120"/>
              </a:rPr>
              <a:t>评分维度</a:t>
            </a:r>
            <a:endParaRPr lang="en-US" sz="2400" dirty="0"/>
          </a:p>
        </p:txBody>
      </p:sp>
      <p:sp>
        <p:nvSpPr>
          <p:cNvPr id="30" name="Text 27"/>
          <p:cNvSpPr/>
          <p:nvPr/>
        </p:nvSpPr>
        <p:spPr>
          <a:xfrm>
            <a:off x="1117600" y="3784600"/>
            <a:ext cx="6350000" cy="1778000"/>
          </a:xfrm>
          <a:prstGeom prst="rect">
            <a:avLst/>
          </a:prstGeom>
          <a:noFill/>
          <a:ln/>
        </p:spPr>
        <p:txBody>
          <a:bodyPr wrap="square" lIns="0" tIns="0" rIns="0" bIns="0" rtlCol="0" anchor="t"/>
          <a:lstStyle/>
          <a:p>
            <a:pPr algn="l">
              <a:lnSpc>
                <a:spcPct val="150000"/>
              </a:lnSpc>
            </a:pPr>
            <a:r>
              <a:rPr lang="en-US" sz="2000" b="1" dirty="0">
                <a:solidFill>
                  <a:srgbClr val="FFFFFF"/>
                </a:solidFill>
                <a:latin typeface="MiSans" pitchFamily="34" charset="0"/>
                <a:ea typeface="MiSans" pitchFamily="34" charset="-122"/>
                <a:cs typeface="MiSans" pitchFamily="34" charset="-120"/>
              </a:rPr>
              <a:t>距离</a:t>
            </a:r>
            <a:r>
              <a:rPr lang="en-US" sz="2000" dirty="0">
                <a:solidFill>
                  <a:srgbClr val="FFFFFF"/>
                </a:solidFill>
                <a:latin typeface="MiSans" pitchFamily="34" charset="0"/>
                <a:ea typeface="MiSans" pitchFamily="34" charset="-122"/>
                <a:cs typeface="MiSans" pitchFamily="34" charset="-120"/>
              </a:rPr>
              <a:t>：衡量就餐便利性</a:t>
            </a:r>
            <a:endParaRPr lang="en-US" sz="2000" dirty="0"/>
          </a:p>
          <a:p>
            <a:pPr algn="l">
              <a:lnSpc>
                <a:spcPct val="150000"/>
              </a:lnSpc>
            </a:pPr>
            <a:r>
              <a:rPr lang="en-US" sz="2000" b="1" dirty="0">
                <a:solidFill>
                  <a:srgbClr val="FFFFFF"/>
                </a:solidFill>
                <a:latin typeface="MiSans" pitchFamily="34" charset="0"/>
                <a:ea typeface="MiSans" pitchFamily="34" charset="-122"/>
                <a:cs typeface="MiSans" pitchFamily="34" charset="-120"/>
              </a:rPr>
              <a:t>价格</a:t>
            </a:r>
            <a:r>
              <a:rPr lang="en-US" sz="2000" dirty="0">
                <a:solidFill>
                  <a:srgbClr val="FFFFFF"/>
                </a:solidFill>
                <a:latin typeface="MiSans" pitchFamily="34" charset="0"/>
                <a:ea typeface="MiSans" pitchFamily="34" charset="-122"/>
                <a:cs typeface="MiSans" pitchFamily="34" charset="-120"/>
              </a:rPr>
              <a:t>：衡量与预算的匹配程度</a:t>
            </a:r>
            <a:endParaRPr lang="en-US" sz="2000" dirty="0"/>
          </a:p>
          <a:p>
            <a:pPr algn="l">
              <a:lnSpc>
                <a:spcPct val="150000"/>
              </a:lnSpc>
            </a:pPr>
            <a:r>
              <a:rPr lang="en-US" sz="2000" b="1" dirty="0">
                <a:solidFill>
                  <a:srgbClr val="FFFFFF"/>
                </a:solidFill>
                <a:latin typeface="MiSans" pitchFamily="34" charset="0"/>
                <a:ea typeface="MiSans" pitchFamily="34" charset="-122"/>
                <a:cs typeface="MiSans" pitchFamily="34" charset="-120"/>
              </a:rPr>
              <a:t>评分</a:t>
            </a:r>
            <a:r>
              <a:rPr lang="en-US" sz="2000" dirty="0">
                <a:solidFill>
                  <a:srgbClr val="FFFFFF"/>
                </a:solidFill>
                <a:latin typeface="MiSans" pitchFamily="34" charset="0"/>
                <a:ea typeface="MiSans" pitchFamily="34" charset="-122"/>
                <a:cs typeface="MiSans" pitchFamily="34" charset="-120"/>
              </a:rPr>
              <a:t>：衡量餐厅整体口碑</a:t>
            </a:r>
            <a:endParaRPr lang="en-US" sz="2000" dirty="0"/>
          </a:p>
          <a:p>
            <a:pPr algn="l">
              <a:lnSpc>
                <a:spcPct val="150000"/>
              </a:lnSpc>
            </a:pPr>
            <a:r>
              <a:rPr lang="en-US" sz="2000" b="1" dirty="0">
                <a:solidFill>
                  <a:srgbClr val="FFFFFF"/>
                </a:solidFill>
                <a:latin typeface="MiSans" pitchFamily="34" charset="0"/>
                <a:ea typeface="MiSans" pitchFamily="34" charset="-122"/>
                <a:cs typeface="MiSans" pitchFamily="34" charset="-120"/>
              </a:rPr>
              <a:t>标签匹配</a:t>
            </a:r>
            <a:r>
              <a:rPr lang="en-US" sz="2000" dirty="0">
                <a:solidFill>
                  <a:srgbClr val="FFFFFF"/>
                </a:solidFill>
                <a:latin typeface="MiSans" pitchFamily="34" charset="0"/>
                <a:ea typeface="MiSans" pitchFamily="34" charset="-122"/>
                <a:cs typeface="MiSans" pitchFamily="34" charset="-120"/>
              </a:rPr>
              <a:t>：衡量口味与场景偏好的一致性</a:t>
            </a:r>
            <a:endParaRPr lang="en-US" sz="2000" dirty="0"/>
          </a:p>
        </p:txBody>
      </p:sp>
      <p:sp>
        <p:nvSpPr>
          <p:cNvPr id="31" name="Shape 28"/>
          <p:cNvSpPr/>
          <p:nvPr/>
        </p:nvSpPr>
        <p:spPr>
          <a:xfrm>
            <a:off x="8001000" y="3251199"/>
            <a:ext cx="7366000" cy="2109695"/>
          </a:xfrm>
          <a:prstGeom prst="roundRect">
            <a:avLst>
              <a:gd name="adj" fmla="val 6000"/>
            </a:avLst>
          </a:prstGeom>
          <a:gradFill flip="none" rotWithShape="1">
            <a:gsLst>
              <a:gs pos="0">
                <a:srgbClr val="DAAB00"/>
              </a:gs>
              <a:gs pos="100000">
                <a:srgbClr val="F8931D"/>
              </a:gs>
            </a:gsLst>
            <a:lin ang="2700000" scaled="1"/>
          </a:gradFill>
          <a:ln/>
        </p:spPr>
        <p:txBody>
          <a:bodyPr/>
          <a:lstStyle/>
          <a:p>
            <a:endParaRPr lang="zh-CN" altLang="en-US"/>
          </a:p>
        </p:txBody>
      </p:sp>
      <p:sp>
        <p:nvSpPr>
          <p:cNvPr id="32" name="Text 29"/>
          <p:cNvSpPr/>
          <p:nvPr/>
        </p:nvSpPr>
        <p:spPr>
          <a:xfrm>
            <a:off x="8229600" y="3352800"/>
            <a:ext cx="6858000" cy="381000"/>
          </a:xfrm>
          <a:prstGeom prst="rect">
            <a:avLst/>
          </a:prstGeom>
          <a:noFill/>
          <a:ln/>
        </p:spPr>
        <p:txBody>
          <a:bodyPr wrap="none" lIns="0" tIns="0" rIns="0" bIns="0" rtlCol="0" anchor="ctr"/>
          <a:lstStyle/>
          <a:p>
            <a:pPr algn="l">
              <a:lnSpc>
                <a:spcPct val="120000"/>
              </a:lnSpc>
            </a:pPr>
            <a:r>
              <a:rPr lang="en-US" sz="2400" b="1" dirty="0">
                <a:solidFill>
                  <a:srgbClr val="FFFFFF"/>
                </a:solidFill>
                <a:latin typeface="汉仪行楷简" pitchFamily="34" charset="0"/>
                <a:ea typeface="汉仪行楷简" pitchFamily="34" charset="-122"/>
                <a:cs typeface="汉仪行楷简" pitchFamily="34" charset="-120"/>
              </a:rPr>
              <a:t>算法特点</a:t>
            </a:r>
            <a:endParaRPr lang="en-US" sz="2400" dirty="0"/>
          </a:p>
        </p:txBody>
      </p:sp>
      <p:sp>
        <p:nvSpPr>
          <p:cNvPr id="33" name="Text 30"/>
          <p:cNvSpPr/>
          <p:nvPr/>
        </p:nvSpPr>
        <p:spPr>
          <a:xfrm>
            <a:off x="8229600" y="3784600"/>
            <a:ext cx="6858000" cy="1778000"/>
          </a:xfrm>
          <a:prstGeom prst="rect">
            <a:avLst/>
          </a:prstGeom>
          <a:noFill/>
          <a:ln/>
        </p:spPr>
        <p:txBody>
          <a:bodyPr wrap="square" lIns="0" tIns="0" rIns="0" bIns="0" rtlCol="0" anchor="t"/>
          <a:lstStyle/>
          <a:p>
            <a:pPr algn="l">
              <a:lnSpc>
                <a:spcPct val="150000"/>
              </a:lnSpc>
            </a:pPr>
            <a:r>
              <a:rPr lang="en-US" sz="2000" dirty="0">
                <a:solidFill>
                  <a:srgbClr val="FFFFFF"/>
                </a:solidFill>
                <a:latin typeface="MiSans" pitchFamily="34" charset="0"/>
                <a:ea typeface="MiSans" pitchFamily="34" charset="-122"/>
                <a:cs typeface="MiSans" pitchFamily="34" charset="-120"/>
              </a:rPr>
              <a:t>系统通过综合加权方式完成排序，不直接依赖大模型做推荐决策，从而保证结果具有较强的可解释性与稳定性。</a:t>
            </a:r>
            <a:endParaRPr lang="en-US" sz="2000" dirty="0"/>
          </a:p>
        </p:txBody>
      </p:sp>
      <p:sp>
        <p:nvSpPr>
          <p:cNvPr id="34" name="Shape 31"/>
          <p:cNvSpPr/>
          <p:nvPr/>
        </p:nvSpPr>
        <p:spPr>
          <a:xfrm>
            <a:off x="863600" y="7257605"/>
            <a:ext cx="14478000" cy="660400"/>
          </a:xfrm>
          <a:prstGeom prst="roundRect">
            <a:avLst>
              <a:gd name="adj" fmla="val 6000"/>
            </a:avLst>
          </a:prstGeom>
          <a:solidFill>
            <a:srgbClr val="DAAB00">
              <a:alpha val="9412"/>
            </a:srgbClr>
          </a:solidFill>
          <a:ln/>
        </p:spPr>
        <p:txBody>
          <a:bodyPr/>
          <a:lstStyle/>
          <a:p>
            <a:endParaRPr lang="zh-CN" altLang="en-US"/>
          </a:p>
        </p:txBody>
      </p:sp>
      <p:sp>
        <p:nvSpPr>
          <p:cNvPr id="35" name="Text 32"/>
          <p:cNvSpPr/>
          <p:nvPr/>
        </p:nvSpPr>
        <p:spPr>
          <a:xfrm>
            <a:off x="1092200" y="7257605"/>
            <a:ext cx="14020800" cy="660400"/>
          </a:xfrm>
          <a:prstGeom prst="rect">
            <a:avLst/>
          </a:prstGeom>
          <a:noFill/>
          <a:ln/>
        </p:spPr>
        <p:txBody>
          <a:bodyPr wrap="square" lIns="0" tIns="0" rIns="0" bIns="0" rtlCol="0" anchor="ctr"/>
          <a:lstStyle/>
          <a:p>
            <a:pPr algn="ctr">
              <a:lnSpc>
                <a:spcPct val="130000"/>
              </a:lnSpc>
            </a:pPr>
            <a:r>
              <a:rPr lang="en-US" sz="1700" b="1" dirty="0">
                <a:solidFill>
                  <a:srgbClr val="885500"/>
                </a:solidFill>
                <a:latin typeface="MiSans" pitchFamily="34" charset="0"/>
                <a:ea typeface="MiSans" pitchFamily="34" charset="-122"/>
                <a:cs typeface="MiSans" pitchFamily="34" charset="-120"/>
              </a:rPr>
              <a:t>AI 负责"理解用户"和"解释结果"，规则系统负责"真正排序"。</a:t>
            </a:r>
            <a:endParaRPr lang="en-US" sz="17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rial" pitchFamily="34" charset="0"/>
                <a:ea typeface="Arial" pitchFamily="34" charset="-122"/>
                <a:cs typeface="Arial" pitchFamily="34" charset="-120"/>
              </a:rPr>
              <a:t>17</a:t>
            </a:r>
            <a:endParaRPr lang="en-US" sz="1330" dirty="0"/>
          </a:p>
        </p:txBody>
      </p:sp>
      <p:sp>
        <p:nvSpPr>
          <p:cNvPr id="4" name="Text 1"/>
          <p:cNvSpPr/>
          <p:nvPr/>
        </p:nvSpPr>
        <p:spPr>
          <a:xfrm>
            <a:off x="889000" y="422088"/>
            <a:ext cx="14478000" cy="698500"/>
          </a:xfrm>
          <a:prstGeom prst="rect">
            <a:avLst/>
          </a:prstGeom>
          <a:noFill/>
          <a:ln/>
        </p:spPr>
        <p:txBody>
          <a:bodyPr wrap="non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可解释推荐机制</a:t>
            </a:r>
            <a:endParaRPr lang="en-US" sz="3730" dirty="0"/>
          </a:p>
        </p:txBody>
      </p:sp>
      <p:sp>
        <p:nvSpPr>
          <p:cNvPr id="6" name="Text 3"/>
          <p:cNvSpPr/>
          <p:nvPr/>
        </p:nvSpPr>
        <p:spPr>
          <a:xfrm>
            <a:off x="889000" y="1524000"/>
            <a:ext cx="3810000" cy="355600"/>
          </a:xfrm>
          <a:prstGeom prst="rect">
            <a:avLst/>
          </a:prstGeom>
          <a:noFill/>
          <a:ln/>
        </p:spPr>
        <p:txBody>
          <a:bodyPr wrap="none" lIns="0" tIns="0" rIns="0" bIns="0" rtlCol="0" anchor="ctr"/>
          <a:lstStyle/>
          <a:p>
            <a:pPr algn="l">
              <a:lnSpc>
                <a:spcPct val="120000"/>
              </a:lnSpc>
            </a:pPr>
            <a:r>
              <a:rPr lang="en-US" sz="2800" b="1" dirty="0">
                <a:solidFill>
                  <a:srgbClr val="000000"/>
                </a:solidFill>
                <a:latin typeface="汉仪行楷简" pitchFamily="34" charset="0"/>
                <a:ea typeface="汉仪行楷简" pitchFamily="34" charset="-122"/>
                <a:cs typeface="汉仪行楷简" pitchFamily="34" charset="-120"/>
              </a:rPr>
              <a:t>核心设计思想</a:t>
            </a:r>
            <a:endParaRPr lang="en-US" sz="2800" dirty="0"/>
          </a:p>
        </p:txBody>
      </p:sp>
      <p:sp>
        <p:nvSpPr>
          <p:cNvPr id="7" name="Shape 4"/>
          <p:cNvSpPr/>
          <p:nvPr/>
        </p:nvSpPr>
        <p:spPr>
          <a:xfrm>
            <a:off x="889000" y="1955800"/>
            <a:ext cx="14478000" cy="1143000"/>
          </a:xfrm>
          <a:prstGeom prst="roundRect">
            <a:avLst>
              <a:gd name="adj" fmla="val 5000"/>
            </a:avLst>
          </a:prstGeom>
          <a:solidFill>
            <a:srgbClr val="000000">
              <a:alpha val="784"/>
            </a:srgbClr>
          </a:solidFill>
          <a:ln/>
        </p:spPr>
        <p:txBody>
          <a:bodyPr/>
          <a:lstStyle/>
          <a:p>
            <a:endParaRPr lang="zh-CN" altLang="en-US"/>
          </a:p>
        </p:txBody>
      </p:sp>
      <p:sp>
        <p:nvSpPr>
          <p:cNvPr id="8" name="Text 5"/>
          <p:cNvSpPr/>
          <p:nvPr/>
        </p:nvSpPr>
        <p:spPr>
          <a:xfrm>
            <a:off x="1117600" y="2006600"/>
            <a:ext cx="14020800" cy="1041400"/>
          </a:xfrm>
          <a:prstGeom prst="rect">
            <a:avLst/>
          </a:prstGeom>
          <a:noFill/>
          <a:ln/>
        </p:spPr>
        <p:txBody>
          <a:bodyPr wrap="square" lIns="0" tIns="0" rIns="0" bIns="0" rtlCol="0" anchor="ctr"/>
          <a:lstStyle/>
          <a:p>
            <a:pPr algn="l">
              <a:lnSpc>
                <a:spcPct val="150000"/>
              </a:lnSpc>
            </a:pPr>
            <a:r>
              <a:rPr lang="en-US" sz="2000" dirty="0">
                <a:solidFill>
                  <a:srgbClr val="000000"/>
                </a:solidFill>
                <a:latin typeface="MiSans" pitchFamily="34" charset="0"/>
                <a:ea typeface="MiSans" pitchFamily="34" charset="-122"/>
                <a:cs typeface="MiSans" pitchFamily="34" charset="-120"/>
              </a:rPr>
              <a:t>项目采用"规则决定排序，AI 负责解释"的思路。推荐排序由距离、价格、评分和标签匹配等明确规则完成，AI 不直接参与最终打分，而是将系统计算结果转化为更自然、更易理解的语言表达。</a:t>
            </a:r>
            <a:endParaRPr lang="en-US" sz="2000" dirty="0"/>
          </a:p>
        </p:txBody>
      </p:sp>
      <p:sp>
        <p:nvSpPr>
          <p:cNvPr id="9" name="Text 6"/>
          <p:cNvSpPr/>
          <p:nvPr/>
        </p:nvSpPr>
        <p:spPr>
          <a:xfrm>
            <a:off x="889000" y="3302000"/>
            <a:ext cx="3810000" cy="355600"/>
          </a:xfrm>
          <a:prstGeom prst="rect">
            <a:avLst/>
          </a:prstGeom>
          <a:noFill/>
          <a:ln/>
        </p:spPr>
        <p:txBody>
          <a:bodyPr wrap="none" lIns="0" tIns="0" rIns="0" bIns="0" rtlCol="0" anchor="ctr"/>
          <a:lstStyle/>
          <a:p>
            <a:pPr algn="l">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解释内容包含</a:t>
            </a:r>
            <a:endParaRPr lang="en-US" sz="2400" dirty="0"/>
          </a:p>
        </p:txBody>
      </p:sp>
      <p:sp>
        <p:nvSpPr>
          <p:cNvPr id="10" name="Shape 7"/>
          <p:cNvSpPr/>
          <p:nvPr/>
        </p:nvSpPr>
        <p:spPr>
          <a:xfrm>
            <a:off x="889000" y="3759199"/>
            <a:ext cx="3366168" cy="1068811"/>
          </a:xfrm>
          <a:prstGeom prst="roundRect">
            <a:avLst>
              <a:gd name="adj" fmla="val 10000"/>
            </a:avLst>
          </a:prstGeom>
          <a:solidFill>
            <a:srgbClr val="DAAB00"/>
          </a:solidFill>
          <a:ln/>
        </p:spPr>
        <p:txBody>
          <a:bodyPr/>
          <a:lstStyle/>
          <a:p>
            <a:endParaRPr lang="zh-CN" altLang="en-US" sz="2000"/>
          </a:p>
        </p:txBody>
      </p:sp>
      <p:sp>
        <p:nvSpPr>
          <p:cNvPr id="11" name="Text 8"/>
          <p:cNvSpPr/>
          <p:nvPr/>
        </p:nvSpPr>
        <p:spPr>
          <a:xfrm>
            <a:off x="889000" y="3759199"/>
            <a:ext cx="3366168" cy="1068811"/>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MiSans" pitchFamily="34" charset="0"/>
                <a:ea typeface="MiSans" pitchFamily="34" charset="-122"/>
                <a:cs typeface="MiSans" pitchFamily="34" charset="-120"/>
              </a:rPr>
              <a:t>推荐摘要</a:t>
            </a:r>
            <a:endParaRPr lang="en-US" sz="2000" dirty="0"/>
          </a:p>
        </p:txBody>
      </p:sp>
      <p:sp>
        <p:nvSpPr>
          <p:cNvPr id="12" name="Shape 9"/>
          <p:cNvSpPr/>
          <p:nvPr/>
        </p:nvSpPr>
        <p:spPr>
          <a:xfrm>
            <a:off x="5144168" y="3749587"/>
            <a:ext cx="3366168" cy="1068811"/>
          </a:xfrm>
          <a:prstGeom prst="roundRect">
            <a:avLst>
              <a:gd name="adj" fmla="val 10000"/>
            </a:avLst>
          </a:prstGeom>
          <a:solidFill>
            <a:srgbClr val="DAAB00"/>
          </a:solidFill>
          <a:ln/>
        </p:spPr>
        <p:txBody>
          <a:bodyPr/>
          <a:lstStyle/>
          <a:p>
            <a:endParaRPr lang="zh-CN" altLang="en-US" sz="2000"/>
          </a:p>
        </p:txBody>
      </p:sp>
      <p:sp>
        <p:nvSpPr>
          <p:cNvPr id="13" name="Text 10"/>
          <p:cNvSpPr/>
          <p:nvPr/>
        </p:nvSpPr>
        <p:spPr>
          <a:xfrm>
            <a:off x="5144168" y="3749587"/>
            <a:ext cx="3366168" cy="1068811"/>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MiSans" pitchFamily="34" charset="0"/>
                <a:ea typeface="MiSans" pitchFamily="34" charset="-122"/>
                <a:cs typeface="MiSans" pitchFamily="34" charset="-120"/>
              </a:rPr>
              <a:t>首要原因</a:t>
            </a:r>
            <a:endParaRPr lang="en-US" sz="2000" dirty="0"/>
          </a:p>
        </p:txBody>
      </p:sp>
      <p:sp>
        <p:nvSpPr>
          <p:cNvPr id="14" name="Shape 11"/>
          <p:cNvSpPr/>
          <p:nvPr/>
        </p:nvSpPr>
        <p:spPr>
          <a:xfrm>
            <a:off x="9399336" y="3752333"/>
            <a:ext cx="3366168" cy="1068811"/>
          </a:xfrm>
          <a:prstGeom prst="roundRect">
            <a:avLst>
              <a:gd name="adj" fmla="val 10000"/>
            </a:avLst>
          </a:prstGeom>
          <a:solidFill>
            <a:srgbClr val="E5A010"/>
          </a:solidFill>
          <a:ln/>
        </p:spPr>
        <p:txBody>
          <a:bodyPr/>
          <a:lstStyle/>
          <a:p>
            <a:endParaRPr lang="zh-CN" altLang="en-US" dirty="0"/>
          </a:p>
        </p:txBody>
      </p:sp>
      <p:sp>
        <p:nvSpPr>
          <p:cNvPr id="15" name="Text 12"/>
          <p:cNvSpPr/>
          <p:nvPr/>
        </p:nvSpPr>
        <p:spPr>
          <a:xfrm>
            <a:off x="9399336" y="3752332"/>
            <a:ext cx="3366168" cy="1068811"/>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MiSans" pitchFamily="34" charset="0"/>
                <a:ea typeface="MiSans" pitchFamily="34" charset="-122"/>
                <a:cs typeface="MiSans" pitchFamily="34" charset="-120"/>
              </a:rPr>
              <a:t>次要原因</a:t>
            </a:r>
            <a:endParaRPr lang="en-US" sz="2000" dirty="0"/>
          </a:p>
        </p:txBody>
      </p:sp>
      <p:sp>
        <p:nvSpPr>
          <p:cNvPr id="16" name="Shape 13"/>
          <p:cNvSpPr/>
          <p:nvPr/>
        </p:nvSpPr>
        <p:spPr>
          <a:xfrm>
            <a:off x="880491" y="5140756"/>
            <a:ext cx="3374677" cy="1036904"/>
          </a:xfrm>
          <a:prstGeom prst="roundRect">
            <a:avLst>
              <a:gd name="adj" fmla="val 10000"/>
            </a:avLst>
          </a:prstGeom>
          <a:solidFill>
            <a:srgbClr val="E5A010"/>
          </a:solidFill>
          <a:ln/>
        </p:spPr>
        <p:txBody>
          <a:bodyPr/>
          <a:lstStyle/>
          <a:p>
            <a:endParaRPr lang="zh-CN" altLang="en-US" sz="2000"/>
          </a:p>
        </p:txBody>
      </p:sp>
      <p:sp>
        <p:nvSpPr>
          <p:cNvPr id="17" name="Text 14"/>
          <p:cNvSpPr/>
          <p:nvPr/>
        </p:nvSpPr>
        <p:spPr>
          <a:xfrm>
            <a:off x="880491" y="5140756"/>
            <a:ext cx="3374677" cy="1036904"/>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MiSans" pitchFamily="34" charset="0"/>
                <a:ea typeface="MiSans" pitchFamily="34" charset="-122"/>
                <a:cs typeface="MiSans" pitchFamily="34" charset="-120"/>
              </a:rPr>
              <a:t>各评分维度说明</a:t>
            </a:r>
            <a:endParaRPr lang="en-US" sz="2000" dirty="0"/>
          </a:p>
        </p:txBody>
      </p:sp>
      <p:sp>
        <p:nvSpPr>
          <p:cNvPr id="18" name="Shape 15"/>
          <p:cNvSpPr/>
          <p:nvPr/>
        </p:nvSpPr>
        <p:spPr>
          <a:xfrm>
            <a:off x="5144167" y="5139795"/>
            <a:ext cx="3366169" cy="1036904"/>
          </a:xfrm>
          <a:prstGeom prst="roundRect">
            <a:avLst>
              <a:gd name="adj" fmla="val 10000"/>
            </a:avLst>
          </a:prstGeom>
          <a:solidFill>
            <a:srgbClr val="DAAB00"/>
          </a:solidFill>
          <a:ln/>
        </p:spPr>
        <p:txBody>
          <a:bodyPr/>
          <a:lstStyle/>
          <a:p>
            <a:endParaRPr lang="zh-CN" altLang="en-US"/>
          </a:p>
        </p:txBody>
      </p:sp>
      <p:sp>
        <p:nvSpPr>
          <p:cNvPr id="19" name="Text 16"/>
          <p:cNvSpPr/>
          <p:nvPr/>
        </p:nvSpPr>
        <p:spPr>
          <a:xfrm>
            <a:off x="5129498" y="5162388"/>
            <a:ext cx="3366169" cy="1036904"/>
          </a:xfrm>
          <a:prstGeom prst="rect">
            <a:avLst/>
          </a:prstGeom>
          <a:noFill/>
          <a:ln/>
        </p:spPr>
        <p:txBody>
          <a:bodyPr wrap="none" lIns="0" tIns="0" rIns="0" bIns="0" rtlCol="0" anchor="ctr"/>
          <a:lstStyle/>
          <a:p>
            <a:pPr algn="ctr">
              <a:lnSpc>
                <a:spcPct val="120000"/>
              </a:lnSpc>
            </a:pPr>
            <a:r>
              <a:rPr lang="en-US" sz="2000" b="1" dirty="0">
                <a:solidFill>
                  <a:srgbClr val="FFFFFF"/>
                </a:solidFill>
                <a:latin typeface="MiSans" pitchFamily="34" charset="0"/>
                <a:ea typeface="MiSans" pitchFamily="34" charset="-122"/>
                <a:cs typeface="MiSans" pitchFamily="34" charset="-120"/>
              </a:rPr>
              <a:t>AI 点评文本</a:t>
            </a:r>
            <a:endParaRPr lang="en-US" sz="2000" dirty="0"/>
          </a:p>
        </p:txBody>
      </p:sp>
      <p:sp>
        <p:nvSpPr>
          <p:cNvPr id="20" name="Text 17"/>
          <p:cNvSpPr/>
          <p:nvPr/>
        </p:nvSpPr>
        <p:spPr>
          <a:xfrm>
            <a:off x="889000" y="6472433"/>
            <a:ext cx="3810000" cy="355600"/>
          </a:xfrm>
          <a:prstGeom prst="rect">
            <a:avLst/>
          </a:prstGeom>
          <a:noFill/>
          <a:ln/>
        </p:spPr>
        <p:txBody>
          <a:bodyPr wrap="none" lIns="0" tIns="0" rIns="0" bIns="0" rtlCol="0" anchor="ctr"/>
          <a:lstStyle/>
          <a:p>
            <a:pPr algn="l">
              <a:lnSpc>
                <a:spcPct val="120000"/>
              </a:lnSpc>
            </a:pPr>
            <a:r>
              <a:rPr lang="en-US" sz="1800" b="1" dirty="0">
                <a:solidFill>
                  <a:srgbClr val="000000"/>
                </a:solidFill>
                <a:latin typeface="汉仪行楷简" pitchFamily="34" charset="0"/>
                <a:ea typeface="汉仪行楷简" pitchFamily="34" charset="-122"/>
                <a:cs typeface="汉仪行楷简" pitchFamily="34" charset="-120"/>
              </a:rPr>
              <a:t>示例</a:t>
            </a:r>
            <a:endParaRPr lang="en-US" sz="1800" dirty="0"/>
          </a:p>
        </p:txBody>
      </p:sp>
      <p:sp>
        <p:nvSpPr>
          <p:cNvPr id="21" name="Shape 18"/>
          <p:cNvSpPr/>
          <p:nvPr/>
        </p:nvSpPr>
        <p:spPr>
          <a:xfrm>
            <a:off x="889000" y="6943337"/>
            <a:ext cx="14478000" cy="635000"/>
          </a:xfrm>
          <a:prstGeom prst="roundRect">
            <a:avLst>
              <a:gd name="adj" fmla="val 5000"/>
            </a:avLst>
          </a:prstGeom>
          <a:solidFill>
            <a:srgbClr val="DAAB00">
              <a:alpha val="9412"/>
            </a:srgbClr>
          </a:solidFill>
          <a:ln/>
        </p:spPr>
        <p:txBody>
          <a:bodyPr/>
          <a:lstStyle/>
          <a:p>
            <a:endParaRPr lang="zh-CN" altLang="en-US"/>
          </a:p>
        </p:txBody>
      </p:sp>
      <p:sp>
        <p:nvSpPr>
          <p:cNvPr id="22" name="Text 19"/>
          <p:cNvSpPr/>
          <p:nvPr/>
        </p:nvSpPr>
        <p:spPr>
          <a:xfrm>
            <a:off x="1003300" y="6943337"/>
            <a:ext cx="13716000" cy="584200"/>
          </a:xfrm>
          <a:prstGeom prst="rect">
            <a:avLst/>
          </a:prstGeom>
          <a:noFill/>
          <a:ln/>
        </p:spPr>
        <p:txBody>
          <a:bodyPr wrap="square" lIns="0" tIns="0" rIns="0" bIns="0" rtlCol="0" anchor="ctr"/>
          <a:lstStyle/>
          <a:p>
            <a:pPr algn="l">
              <a:lnSpc>
                <a:spcPct val="150000"/>
              </a:lnSpc>
            </a:pPr>
            <a:r>
              <a:rPr lang="en-US" sz="1800" dirty="0">
                <a:solidFill>
                  <a:srgbClr val="885500"/>
                </a:solidFill>
                <a:latin typeface="MiSans" pitchFamily="34" charset="0"/>
                <a:ea typeface="MiSans" pitchFamily="34" charset="-122"/>
                <a:cs typeface="MiSans" pitchFamily="34" charset="-120"/>
              </a:rPr>
              <a:t>"这家餐厅距离较近，价格处于预算范围内，评分较高，同时符合你偏好的辣味和聚餐场景，因此被优先推荐。"</a:t>
            </a:r>
            <a:endParaRPr lang="en-US" sz="1800" dirty="0"/>
          </a:p>
        </p:txBody>
      </p:sp>
      <p:sp>
        <p:nvSpPr>
          <p:cNvPr id="23" name="Text 20"/>
          <p:cNvSpPr/>
          <p:nvPr/>
        </p:nvSpPr>
        <p:spPr>
          <a:xfrm>
            <a:off x="880491" y="7743437"/>
            <a:ext cx="14478000" cy="508000"/>
          </a:xfrm>
          <a:prstGeom prst="rect">
            <a:avLst/>
          </a:prstGeom>
          <a:noFill/>
          <a:ln/>
        </p:spPr>
        <p:txBody>
          <a:bodyPr wrap="square" lIns="0" tIns="0" rIns="0" bIns="0" rtlCol="0" anchor="ctr"/>
          <a:lstStyle/>
          <a:p>
            <a:pPr algn="l">
              <a:lnSpc>
                <a:spcPct val="130000"/>
              </a:lnSpc>
            </a:pPr>
            <a:r>
              <a:rPr lang="en-US" sz="1500" dirty="0">
                <a:solidFill>
                  <a:srgbClr val="666666"/>
                </a:solidFill>
                <a:latin typeface="MiSans" pitchFamily="34" charset="0"/>
                <a:ea typeface="MiSans" pitchFamily="34" charset="-122"/>
                <a:cs typeface="MiSans" pitchFamily="34" charset="-120"/>
              </a:rPr>
              <a:t>这种设计有效降低了推荐系统"黑箱化"的问题，增强了系统的可控性和说服力。</a:t>
            </a:r>
            <a:endParaRPr lang="en-US" sz="15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rial" pitchFamily="34" charset="0"/>
                <a:ea typeface="Arial" pitchFamily="34" charset="-122"/>
                <a:cs typeface="Arial" pitchFamily="34" charset="-120"/>
              </a:rPr>
              <a:t>18</a:t>
            </a:r>
            <a:endParaRPr lang="en-US" sz="1330" dirty="0"/>
          </a:p>
        </p:txBody>
      </p:sp>
      <p:sp>
        <p:nvSpPr>
          <p:cNvPr id="4" name="Text 1"/>
          <p:cNvSpPr/>
          <p:nvPr/>
        </p:nvSpPr>
        <p:spPr>
          <a:xfrm>
            <a:off x="880491" y="171450"/>
            <a:ext cx="14478000" cy="698500"/>
          </a:xfrm>
          <a:prstGeom prst="rect">
            <a:avLst/>
          </a:prstGeom>
          <a:noFill/>
          <a:ln/>
        </p:spPr>
        <p:txBody>
          <a:bodyPr wrap="non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反馈闭环与工程创新</a:t>
            </a:r>
            <a:endParaRPr lang="en-US" sz="3730" dirty="0"/>
          </a:p>
        </p:txBody>
      </p:sp>
      <p:sp>
        <p:nvSpPr>
          <p:cNvPr id="5" name="Text 2"/>
          <p:cNvSpPr/>
          <p:nvPr/>
        </p:nvSpPr>
        <p:spPr>
          <a:xfrm>
            <a:off x="880491" y="927100"/>
            <a:ext cx="14478000" cy="508000"/>
          </a:xfrm>
          <a:prstGeom prst="rect">
            <a:avLst/>
          </a:prstGeom>
          <a:noFill/>
          <a:ln/>
        </p:spPr>
        <p:txBody>
          <a:bodyPr wrap="square" lIns="0" tIns="0" rIns="0" bIns="0" rtlCol="0" anchor="t"/>
          <a:lstStyle/>
          <a:p>
            <a:pPr algn="l">
              <a:lnSpc>
                <a:spcPct val="130000"/>
              </a:lnSpc>
            </a:pPr>
            <a:r>
              <a:rPr lang="en-US" sz="1500" dirty="0">
                <a:solidFill>
                  <a:srgbClr val="555555"/>
                </a:solidFill>
                <a:latin typeface="MiSans" pitchFamily="34" charset="0"/>
                <a:ea typeface="MiSans" pitchFamily="34" charset="-122"/>
                <a:cs typeface="MiSans" pitchFamily="34" charset="-120"/>
              </a:rPr>
              <a:t>项目不仅完成推荐输出，还通过用户反馈形成基础闭环，提升系统持续优化能力。</a:t>
            </a:r>
            <a:endParaRPr lang="en-US" sz="1500" dirty="0"/>
          </a:p>
        </p:txBody>
      </p:sp>
      <p:sp>
        <p:nvSpPr>
          <p:cNvPr id="6" name="Text 3"/>
          <p:cNvSpPr/>
          <p:nvPr/>
        </p:nvSpPr>
        <p:spPr>
          <a:xfrm>
            <a:off x="889000" y="1524000"/>
            <a:ext cx="3810000" cy="355600"/>
          </a:xfrm>
          <a:prstGeom prst="rect">
            <a:avLst/>
          </a:prstGeom>
          <a:noFill/>
          <a:ln/>
        </p:spPr>
        <p:txBody>
          <a:bodyPr wrap="none" lIns="0" tIns="0" rIns="0" bIns="0" rtlCol="0" anchor="ctr"/>
          <a:lstStyle/>
          <a:p>
            <a:pPr algn="l">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反馈闭环</a:t>
            </a:r>
            <a:endParaRPr lang="en-US" sz="2400" dirty="0"/>
          </a:p>
        </p:txBody>
      </p:sp>
      <p:sp>
        <p:nvSpPr>
          <p:cNvPr id="7" name="Shape 4"/>
          <p:cNvSpPr/>
          <p:nvPr/>
        </p:nvSpPr>
        <p:spPr>
          <a:xfrm>
            <a:off x="889000" y="1955800"/>
            <a:ext cx="14478000" cy="1651000"/>
          </a:xfrm>
          <a:prstGeom prst="roundRect">
            <a:avLst>
              <a:gd name="adj" fmla="val 5000"/>
            </a:avLst>
          </a:prstGeom>
          <a:solidFill>
            <a:srgbClr val="000000">
              <a:alpha val="784"/>
            </a:srgbClr>
          </a:solidFill>
          <a:ln/>
        </p:spPr>
        <p:txBody>
          <a:bodyPr/>
          <a:lstStyle/>
          <a:p>
            <a:endParaRPr lang="zh-CN" altLang="en-US"/>
          </a:p>
        </p:txBody>
      </p:sp>
      <p:sp>
        <p:nvSpPr>
          <p:cNvPr id="8" name="Text 5"/>
          <p:cNvSpPr/>
          <p:nvPr/>
        </p:nvSpPr>
        <p:spPr>
          <a:xfrm>
            <a:off x="1117600" y="2032000"/>
            <a:ext cx="14020800" cy="1498600"/>
          </a:xfrm>
          <a:prstGeom prst="rect">
            <a:avLst/>
          </a:prstGeom>
          <a:noFill/>
          <a:ln/>
        </p:spPr>
        <p:txBody>
          <a:bodyPr wrap="square" lIns="0" tIns="0" rIns="0" bIns="0" rtlCol="0" anchor="t"/>
          <a:lstStyle/>
          <a:p>
            <a:pPr algn="l">
              <a:lnSpc>
                <a:spcPct val="160000"/>
              </a:lnSpc>
            </a:pPr>
            <a:r>
              <a:rPr lang="en-US" dirty="0">
                <a:solidFill>
                  <a:srgbClr val="000000"/>
                </a:solidFill>
                <a:latin typeface="MiSans" pitchFamily="34" charset="0"/>
                <a:ea typeface="MiSans" pitchFamily="34" charset="-122"/>
                <a:cs typeface="MiSans" pitchFamily="34" charset="-120"/>
              </a:rPr>
              <a:t>用户在获得推荐后，可以提交评分、选择结果和偏好反馈。</a:t>
            </a:r>
            <a:endParaRPr lang="en-US" dirty="0"/>
          </a:p>
          <a:p>
            <a:pPr algn="l">
              <a:lnSpc>
                <a:spcPct val="160000"/>
              </a:lnSpc>
            </a:pPr>
            <a:r>
              <a:rPr lang="en-US" dirty="0">
                <a:solidFill>
                  <a:srgbClr val="000000"/>
                </a:solidFill>
                <a:latin typeface="MiSans" pitchFamily="34" charset="0"/>
                <a:ea typeface="MiSans" pitchFamily="34" charset="-122"/>
                <a:cs typeface="MiSans" pitchFamily="34" charset="-120"/>
              </a:rPr>
              <a:t>系统将这些数据写入反馈记录和交互记录，并用于后续偏好更新。</a:t>
            </a:r>
            <a:endParaRPr lang="en-US" dirty="0"/>
          </a:p>
          <a:p>
            <a:pPr algn="l">
              <a:lnSpc>
                <a:spcPct val="160000"/>
              </a:lnSpc>
            </a:pPr>
            <a:r>
              <a:rPr lang="en-US" dirty="0">
                <a:solidFill>
                  <a:srgbClr val="000000"/>
                </a:solidFill>
                <a:latin typeface="MiSans" pitchFamily="34" charset="0"/>
                <a:ea typeface="MiSans" pitchFamily="34" charset="-122"/>
                <a:cs typeface="MiSans" pitchFamily="34" charset="-120"/>
              </a:rPr>
              <a:t>这样，系统能够逐步学习用户的长期口味倾向，而不是每次都从零开始推荐。</a:t>
            </a:r>
            <a:endParaRPr lang="en-US" dirty="0"/>
          </a:p>
        </p:txBody>
      </p:sp>
      <p:sp>
        <p:nvSpPr>
          <p:cNvPr id="9" name="Text 6"/>
          <p:cNvSpPr/>
          <p:nvPr/>
        </p:nvSpPr>
        <p:spPr>
          <a:xfrm>
            <a:off x="889000" y="3810000"/>
            <a:ext cx="3810000" cy="355600"/>
          </a:xfrm>
          <a:prstGeom prst="rect">
            <a:avLst/>
          </a:prstGeom>
          <a:noFill/>
          <a:ln/>
        </p:spPr>
        <p:txBody>
          <a:bodyPr wrap="none" lIns="0" tIns="0" rIns="0" bIns="0" rtlCol="0" anchor="ctr"/>
          <a:lstStyle/>
          <a:p>
            <a:pPr algn="l">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工程实现创新</a:t>
            </a:r>
            <a:endParaRPr lang="en-US" sz="2400" dirty="0"/>
          </a:p>
        </p:txBody>
      </p:sp>
      <p:sp>
        <p:nvSpPr>
          <p:cNvPr id="10" name="Shape 7"/>
          <p:cNvSpPr/>
          <p:nvPr/>
        </p:nvSpPr>
        <p:spPr>
          <a:xfrm>
            <a:off x="889000" y="4368800"/>
            <a:ext cx="7048500" cy="863600"/>
          </a:xfrm>
          <a:prstGeom prst="roundRect">
            <a:avLst>
              <a:gd name="adj" fmla="val 8000"/>
            </a:avLst>
          </a:prstGeom>
          <a:gradFill flip="none" rotWithShape="1">
            <a:gsLst>
              <a:gs pos="0">
                <a:srgbClr val="DAAB00"/>
              </a:gs>
              <a:gs pos="100000">
                <a:srgbClr val="F8931D"/>
              </a:gs>
            </a:gsLst>
            <a:lin ang="0" scaled="1"/>
          </a:gradFill>
          <a:ln/>
        </p:spPr>
        <p:txBody>
          <a:bodyPr/>
          <a:lstStyle/>
          <a:p>
            <a:endParaRPr lang="zh-CN" altLang="en-US" dirty="0"/>
          </a:p>
        </p:txBody>
      </p:sp>
      <p:sp>
        <p:nvSpPr>
          <p:cNvPr id="11" name="Text 8"/>
          <p:cNvSpPr/>
          <p:nvPr/>
        </p:nvSpPr>
        <p:spPr>
          <a:xfrm>
            <a:off x="1117600" y="4445000"/>
            <a:ext cx="6604000" cy="711200"/>
          </a:xfrm>
          <a:prstGeom prst="rect">
            <a:avLst/>
          </a:prstGeom>
          <a:noFill/>
          <a:ln/>
        </p:spPr>
        <p:txBody>
          <a:bodyPr wrap="square" lIns="0" tIns="0" rIns="0" bIns="0" rtlCol="0" anchor="ctr"/>
          <a:lstStyle/>
          <a:p>
            <a:pPr algn="l">
              <a:lnSpc>
                <a:spcPct val="130000"/>
              </a:lnSpc>
            </a:pPr>
            <a:r>
              <a:rPr lang="en-US" sz="1700" b="1" dirty="0">
                <a:solidFill>
                  <a:srgbClr val="FFFFFF"/>
                </a:solidFill>
                <a:latin typeface="MiSans" pitchFamily="34" charset="0"/>
                <a:ea typeface="MiSans" pitchFamily="34" charset="-122"/>
                <a:cs typeface="MiSans" pitchFamily="34" charset="-120"/>
              </a:rPr>
              <a:t>周边餐厅预取</a:t>
            </a:r>
            <a:r>
              <a:rPr lang="en-US" sz="1700" dirty="0">
                <a:solidFill>
                  <a:srgbClr val="FFFFFF"/>
                </a:solidFill>
                <a:latin typeface="MiSans" pitchFamily="34" charset="0"/>
                <a:ea typeface="MiSans" pitchFamily="34" charset="-122"/>
                <a:cs typeface="MiSans" pitchFamily="34" charset="-120"/>
              </a:rPr>
              <a:t>：减少首次等待时间</a:t>
            </a:r>
            <a:endParaRPr lang="en-US" sz="1700" dirty="0"/>
          </a:p>
        </p:txBody>
      </p:sp>
      <p:sp>
        <p:nvSpPr>
          <p:cNvPr id="12" name="Shape 9"/>
          <p:cNvSpPr/>
          <p:nvPr/>
        </p:nvSpPr>
        <p:spPr>
          <a:xfrm>
            <a:off x="8318500" y="4368800"/>
            <a:ext cx="7048500" cy="863600"/>
          </a:xfrm>
          <a:prstGeom prst="roundRect">
            <a:avLst>
              <a:gd name="adj" fmla="val 8000"/>
            </a:avLst>
          </a:prstGeom>
          <a:gradFill flip="none" rotWithShape="1">
            <a:gsLst>
              <a:gs pos="0">
                <a:srgbClr val="DAAB00"/>
              </a:gs>
              <a:gs pos="100000">
                <a:srgbClr val="F8931D"/>
              </a:gs>
            </a:gsLst>
            <a:lin ang="0" scaled="1"/>
          </a:gradFill>
          <a:ln/>
        </p:spPr>
        <p:txBody>
          <a:bodyPr/>
          <a:lstStyle/>
          <a:p>
            <a:endParaRPr lang="zh-CN" altLang="en-US"/>
          </a:p>
        </p:txBody>
      </p:sp>
      <p:sp>
        <p:nvSpPr>
          <p:cNvPr id="13" name="Text 10"/>
          <p:cNvSpPr/>
          <p:nvPr/>
        </p:nvSpPr>
        <p:spPr>
          <a:xfrm>
            <a:off x="8534400" y="4445000"/>
            <a:ext cx="6604000" cy="711200"/>
          </a:xfrm>
          <a:prstGeom prst="rect">
            <a:avLst/>
          </a:prstGeom>
          <a:noFill/>
          <a:ln/>
        </p:spPr>
        <p:txBody>
          <a:bodyPr wrap="square" lIns="0" tIns="0" rIns="0" bIns="0" rtlCol="0" anchor="ctr"/>
          <a:lstStyle/>
          <a:p>
            <a:pPr algn="l">
              <a:lnSpc>
                <a:spcPct val="130000"/>
              </a:lnSpc>
            </a:pPr>
            <a:r>
              <a:rPr lang="en-US" sz="1700" b="1" dirty="0">
                <a:solidFill>
                  <a:srgbClr val="FFFFFF"/>
                </a:solidFill>
                <a:latin typeface="MiSans" pitchFamily="34" charset="0"/>
                <a:ea typeface="MiSans" pitchFamily="34" charset="-122"/>
                <a:cs typeface="MiSans" pitchFamily="34" charset="-120"/>
              </a:rPr>
              <a:t>Redis 缓存</a:t>
            </a:r>
            <a:r>
              <a:rPr lang="en-US" sz="1700" dirty="0">
                <a:solidFill>
                  <a:srgbClr val="FFFFFF"/>
                </a:solidFill>
                <a:latin typeface="MiSans" pitchFamily="34" charset="0"/>
                <a:ea typeface="MiSans" pitchFamily="34" charset="-122"/>
                <a:cs typeface="MiSans" pitchFamily="34" charset="-120"/>
              </a:rPr>
              <a:t>：降低重复请求压力</a:t>
            </a:r>
            <a:endParaRPr lang="en-US" sz="1700" dirty="0"/>
          </a:p>
        </p:txBody>
      </p:sp>
      <p:sp>
        <p:nvSpPr>
          <p:cNvPr id="14" name="Shape 11"/>
          <p:cNvSpPr/>
          <p:nvPr/>
        </p:nvSpPr>
        <p:spPr>
          <a:xfrm>
            <a:off x="880491" y="5664200"/>
            <a:ext cx="7048500" cy="863600"/>
          </a:xfrm>
          <a:prstGeom prst="roundRect">
            <a:avLst>
              <a:gd name="adj" fmla="val 8000"/>
            </a:avLst>
          </a:prstGeom>
          <a:gradFill flip="none" rotWithShape="1">
            <a:gsLst>
              <a:gs pos="0">
                <a:srgbClr val="E5A010"/>
              </a:gs>
              <a:gs pos="100000">
                <a:srgbClr val="F8931D"/>
              </a:gs>
            </a:gsLst>
            <a:lin ang="0" scaled="1"/>
          </a:gradFill>
          <a:ln/>
        </p:spPr>
        <p:txBody>
          <a:bodyPr/>
          <a:lstStyle/>
          <a:p>
            <a:endParaRPr lang="zh-CN" altLang="en-US"/>
          </a:p>
        </p:txBody>
      </p:sp>
      <p:sp>
        <p:nvSpPr>
          <p:cNvPr id="15" name="Text 12"/>
          <p:cNvSpPr/>
          <p:nvPr/>
        </p:nvSpPr>
        <p:spPr>
          <a:xfrm>
            <a:off x="1104900" y="5740400"/>
            <a:ext cx="6604000" cy="711200"/>
          </a:xfrm>
          <a:prstGeom prst="rect">
            <a:avLst/>
          </a:prstGeom>
          <a:noFill/>
          <a:ln/>
        </p:spPr>
        <p:txBody>
          <a:bodyPr wrap="square" lIns="0" tIns="0" rIns="0" bIns="0" rtlCol="0" anchor="ctr"/>
          <a:lstStyle/>
          <a:p>
            <a:pPr algn="l">
              <a:lnSpc>
                <a:spcPct val="130000"/>
              </a:lnSpc>
            </a:pPr>
            <a:r>
              <a:rPr lang="en-US" sz="1700" b="1" dirty="0">
                <a:solidFill>
                  <a:srgbClr val="FFFFFF"/>
                </a:solidFill>
                <a:latin typeface="MiSans" pitchFamily="34" charset="0"/>
                <a:ea typeface="MiSans" pitchFamily="34" charset="-122"/>
                <a:cs typeface="MiSans" pitchFamily="34" charset="-120"/>
              </a:rPr>
              <a:t>异步生成 AI 解释</a:t>
            </a:r>
            <a:r>
              <a:rPr lang="en-US" sz="1700" dirty="0">
                <a:solidFill>
                  <a:srgbClr val="FFFFFF"/>
                </a:solidFill>
                <a:latin typeface="MiSans" pitchFamily="34" charset="0"/>
                <a:ea typeface="MiSans" pitchFamily="34" charset="-122"/>
                <a:cs typeface="MiSans" pitchFamily="34" charset="-120"/>
              </a:rPr>
              <a:t>：提升交互流畅性</a:t>
            </a:r>
            <a:endParaRPr lang="en-US" sz="1700" dirty="0"/>
          </a:p>
        </p:txBody>
      </p:sp>
      <p:sp>
        <p:nvSpPr>
          <p:cNvPr id="16" name="Shape 13"/>
          <p:cNvSpPr/>
          <p:nvPr/>
        </p:nvSpPr>
        <p:spPr>
          <a:xfrm>
            <a:off x="8318500" y="5664200"/>
            <a:ext cx="7048500" cy="863600"/>
          </a:xfrm>
          <a:prstGeom prst="roundRect">
            <a:avLst>
              <a:gd name="adj" fmla="val 8000"/>
            </a:avLst>
          </a:prstGeom>
          <a:gradFill flip="none" rotWithShape="1">
            <a:gsLst>
              <a:gs pos="0">
                <a:srgbClr val="E5A010"/>
              </a:gs>
              <a:gs pos="100000">
                <a:srgbClr val="F8931D"/>
              </a:gs>
            </a:gsLst>
            <a:lin ang="0" scaled="1"/>
          </a:gradFill>
          <a:ln/>
        </p:spPr>
        <p:txBody>
          <a:bodyPr/>
          <a:lstStyle/>
          <a:p>
            <a:endParaRPr lang="zh-CN" altLang="en-US"/>
          </a:p>
        </p:txBody>
      </p:sp>
      <p:sp>
        <p:nvSpPr>
          <p:cNvPr id="17" name="Text 14"/>
          <p:cNvSpPr/>
          <p:nvPr/>
        </p:nvSpPr>
        <p:spPr>
          <a:xfrm>
            <a:off x="8547100" y="5720237"/>
            <a:ext cx="6604000" cy="711200"/>
          </a:xfrm>
          <a:prstGeom prst="rect">
            <a:avLst/>
          </a:prstGeom>
          <a:noFill/>
          <a:ln/>
        </p:spPr>
        <p:txBody>
          <a:bodyPr wrap="square" lIns="0" tIns="0" rIns="0" bIns="0" rtlCol="0" anchor="ctr"/>
          <a:lstStyle/>
          <a:p>
            <a:pPr algn="l">
              <a:lnSpc>
                <a:spcPct val="130000"/>
              </a:lnSpc>
            </a:pPr>
            <a:r>
              <a:rPr lang="en-US" sz="1700" b="1" dirty="0">
                <a:solidFill>
                  <a:srgbClr val="FFFFFF"/>
                </a:solidFill>
                <a:latin typeface="MiSans" pitchFamily="34" charset="0"/>
                <a:ea typeface="MiSans" pitchFamily="34" charset="-122"/>
                <a:cs typeface="MiSans" pitchFamily="34" charset="-120"/>
              </a:rPr>
              <a:t>标准/极速模式分离</a:t>
            </a:r>
            <a:r>
              <a:rPr lang="en-US" sz="1700" dirty="0">
                <a:solidFill>
                  <a:srgbClr val="FFFFFF"/>
                </a:solidFill>
                <a:latin typeface="MiSans" pitchFamily="34" charset="0"/>
                <a:ea typeface="MiSans" pitchFamily="34" charset="-122"/>
                <a:cs typeface="MiSans" pitchFamily="34" charset="-120"/>
              </a:rPr>
              <a:t>：兼顾智能性和速度</a:t>
            </a:r>
            <a:endParaRPr lang="en-US" sz="17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rial" pitchFamily="34" charset="0"/>
                <a:ea typeface="Arial" pitchFamily="34" charset="-122"/>
                <a:cs typeface="Arial" pitchFamily="34" charset="-120"/>
              </a:rPr>
              <a:t>12</a:t>
            </a:r>
            <a:endParaRPr lang="en-US" sz="1330" dirty="0"/>
          </a:p>
        </p:txBody>
      </p:sp>
      <p:sp>
        <p:nvSpPr>
          <p:cNvPr id="4" name="Text 1"/>
          <p:cNvSpPr/>
          <p:nvPr/>
        </p:nvSpPr>
        <p:spPr>
          <a:xfrm>
            <a:off x="880491" y="171450"/>
            <a:ext cx="14478000" cy="698500"/>
          </a:xfrm>
          <a:prstGeom prst="rect">
            <a:avLst/>
          </a:prstGeom>
          <a:noFill/>
          <a:ln/>
        </p:spPr>
        <p:txBody>
          <a:bodyPr wrap="non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接口设计与性能优化</a:t>
            </a:r>
            <a:endParaRPr lang="en-US" sz="3730" dirty="0"/>
          </a:p>
        </p:txBody>
      </p:sp>
      <p:sp>
        <p:nvSpPr>
          <p:cNvPr id="5" name="Text 2"/>
          <p:cNvSpPr/>
          <p:nvPr/>
        </p:nvSpPr>
        <p:spPr>
          <a:xfrm>
            <a:off x="880491" y="927100"/>
            <a:ext cx="14478000" cy="508000"/>
          </a:xfrm>
          <a:prstGeom prst="rect">
            <a:avLst/>
          </a:prstGeom>
          <a:noFill/>
          <a:ln/>
        </p:spPr>
        <p:txBody>
          <a:bodyPr wrap="square" lIns="0" tIns="0" rIns="0" bIns="0" rtlCol="0" anchor="t"/>
          <a:lstStyle/>
          <a:p>
            <a:pPr algn="l">
              <a:lnSpc>
                <a:spcPct val="130000"/>
              </a:lnSpc>
            </a:pPr>
            <a:r>
              <a:rPr lang="en-US" sz="1500" dirty="0">
                <a:solidFill>
                  <a:srgbClr val="555555"/>
                </a:solidFill>
                <a:latin typeface="MiSans" pitchFamily="34" charset="0"/>
                <a:ea typeface="MiSans" pitchFamily="34" charset="-122"/>
                <a:cs typeface="MiSans" pitchFamily="34" charset="-120"/>
              </a:rPr>
              <a:t>围绕推荐主链路，系统设计了完整的业务接口，并针对响应速度进行了专门优化。</a:t>
            </a:r>
            <a:endParaRPr lang="en-US" sz="1500" dirty="0"/>
          </a:p>
        </p:txBody>
      </p:sp>
      <p:sp>
        <p:nvSpPr>
          <p:cNvPr id="6" name="Text 3"/>
          <p:cNvSpPr/>
          <p:nvPr/>
        </p:nvSpPr>
        <p:spPr>
          <a:xfrm>
            <a:off x="889000" y="1498600"/>
            <a:ext cx="2540000" cy="355600"/>
          </a:xfrm>
          <a:prstGeom prst="rect">
            <a:avLst/>
          </a:prstGeom>
          <a:noFill/>
          <a:ln/>
        </p:spPr>
        <p:txBody>
          <a:bodyPr wrap="none" lIns="0" tIns="0" rIns="0" bIns="0" rtlCol="0" anchor="ctr"/>
          <a:lstStyle/>
          <a:p>
            <a:pPr algn="l">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核心接口</a:t>
            </a:r>
            <a:endParaRPr lang="en-US" sz="2400" dirty="0"/>
          </a:p>
        </p:txBody>
      </p:sp>
      <p:sp>
        <p:nvSpPr>
          <p:cNvPr id="7" name="Shape 4"/>
          <p:cNvSpPr/>
          <p:nvPr/>
        </p:nvSpPr>
        <p:spPr>
          <a:xfrm>
            <a:off x="889000" y="1930400"/>
            <a:ext cx="6858000" cy="660400"/>
          </a:xfrm>
          <a:prstGeom prst="roundRect">
            <a:avLst>
              <a:gd name="adj" fmla="val 8000"/>
            </a:avLst>
          </a:prstGeom>
          <a:solidFill>
            <a:srgbClr val="DAAB00"/>
          </a:solidFill>
          <a:ln/>
        </p:spPr>
        <p:txBody>
          <a:bodyPr/>
          <a:lstStyle/>
          <a:p>
            <a:endParaRPr lang="zh-CN" altLang="en-US"/>
          </a:p>
        </p:txBody>
      </p:sp>
      <p:sp>
        <p:nvSpPr>
          <p:cNvPr id="8" name="Text 5"/>
          <p:cNvSpPr/>
          <p:nvPr/>
        </p:nvSpPr>
        <p:spPr>
          <a:xfrm>
            <a:off x="1079500" y="1930400"/>
            <a:ext cx="6477000" cy="660400"/>
          </a:xfrm>
          <a:prstGeom prst="rect">
            <a:avLst/>
          </a:prstGeom>
          <a:noFill/>
          <a:ln/>
        </p:spPr>
        <p:txBody>
          <a:bodyPr wrap="square" lIns="0" tIns="0" rIns="0" bIns="0" rtlCol="0" anchor="ctr"/>
          <a:lstStyle/>
          <a:p>
            <a:pPr algn="l">
              <a:lnSpc>
                <a:spcPct val="130000"/>
              </a:lnSpc>
            </a:pPr>
            <a:r>
              <a:rPr lang="en-US" sz="1400" b="1" dirty="0">
                <a:solidFill>
                  <a:srgbClr val="FFFFFF"/>
                </a:solidFill>
                <a:latin typeface="MiSans" pitchFamily="34" charset="0"/>
                <a:ea typeface="MiSans" pitchFamily="34" charset="-122"/>
                <a:cs typeface="MiSans" pitchFamily="34" charset="-120"/>
              </a:rPr>
              <a:t>/api/health</a:t>
            </a:r>
            <a:r>
              <a:rPr lang="en-US" sz="1400" dirty="0">
                <a:solidFill>
                  <a:srgbClr val="FFFFFF"/>
                </a:solidFill>
                <a:latin typeface="MiSans" pitchFamily="34" charset="0"/>
                <a:ea typeface="MiSans" pitchFamily="34" charset="-122"/>
                <a:cs typeface="MiSans" pitchFamily="34" charset="-120"/>
              </a:rPr>
              <a:t>  —  健康检查接口，用于检测系统服务状态</a:t>
            </a:r>
            <a:endParaRPr lang="en-US" sz="1400" dirty="0"/>
          </a:p>
        </p:txBody>
      </p:sp>
      <p:sp>
        <p:nvSpPr>
          <p:cNvPr id="9" name="Shape 6"/>
          <p:cNvSpPr/>
          <p:nvPr/>
        </p:nvSpPr>
        <p:spPr>
          <a:xfrm>
            <a:off x="889000" y="2692400"/>
            <a:ext cx="6858000" cy="660400"/>
          </a:xfrm>
          <a:prstGeom prst="roundRect">
            <a:avLst>
              <a:gd name="adj" fmla="val 8000"/>
            </a:avLst>
          </a:prstGeom>
          <a:solidFill>
            <a:srgbClr val="DAAB00"/>
          </a:solidFill>
          <a:ln/>
        </p:spPr>
        <p:txBody>
          <a:bodyPr/>
          <a:lstStyle/>
          <a:p>
            <a:endParaRPr lang="zh-CN" altLang="en-US"/>
          </a:p>
        </p:txBody>
      </p:sp>
      <p:sp>
        <p:nvSpPr>
          <p:cNvPr id="10" name="Text 7"/>
          <p:cNvSpPr/>
          <p:nvPr/>
        </p:nvSpPr>
        <p:spPr>
          <a:xfrm>
            <a:off x="1079500" y="2692400"/>
            <a:ext cx="6477000" cy="660400"/>
          </a:xfrm>
          <a:prstGeom prst="rect">
            <a:avLst/>
          </a:prstGeom>
          <a:noFill/>
          <a:ln/>
        </p:spPr>
        <p:txBody>
          <a:bodyPr wrap="square" lIns="0" tIns="0" rIns="0" bIns="0" rtlCol="0" anchor="ctr"/>
          <a:lstStyle/>
          <a:p>
            <a:pPr algn="l">
              <a:lnSpc>
                <a:spcPct val="130000"/>
              </a:lnSpc>
            </a:pPr>
            <a:r>
              <a:rPr lang="en-US" sz="1400" b="1" dirty="0">
                <a:solidFill>
                  <a:srgbClr val="FFFFFF"/>
                </a:solidFill>
                <a:latin typeface="MiSans" pitchFamily="34" charset="0"/>
                <a:ea typeface="MiSans" pitchFamily="34" charset="-122"/>
                <a:cs typeface="MiSans" pitchFamily="34" charset="-120"/>
              </a:rPr>
              <a:t>/api/nearby</a:t>
            </a:r>
            <a:r>
              <a:rPr lang="en-US" sz="1400" dirty="0">
                <a:solidFill>
                  <a:srgbClr val="FFFFFF"/>
                </a:solidFill>
                <a:latin typeface="MiSans" pitchFamily="34" charset="0"/>
                <a:ea typeface="MiSans" pitchFamily="34" charset="-122"/>
                <a:cs typeface="MiSans" pitchFamily="34" charset="-120"/>
              </a:rPr>
              <a:t>  —  周边预取接口，提前获取周边餐厅信息</a:t>
            </a:r>
            <a:endParaRPr lang="en-US" sz="1400" dirty="0"/>
          </a:p>
        </p:txBody>
      </p:sp>
      <p:sp>
        <p:nvSpPr>
          <p:cNvPr id="11" name="Shape 8"/>
          <p:cNvSpPr/>
          <p:nvPr/>
        </p:nvSpPr>
        <p:spPr>
          <a:xfrm>
            <a:off x="889000" y="3454400"/>
            <a:ext cx="6858000" cy="660400"/>
          </a:xfrm>
          <a:prstGeom prst="roundRect">
            <a:avLst>
              <a:gd name="adj" fmla="val 8000"/>
            </a:avLst>
          </a:prstGeom>
          <a:solidFill>
            <a:srgbClr val="E5A010"/>
          </a:solidFill>
          <a:ln/>
        </p:spPr>
        <p:txBody>
          <a:bodyPr/>
          <a:lstStyle/>
          <a:p>
            <a:endParaRPr lang="zh-CN" altLang="en-US"/>
          </a:p>
        </p:txBody>
      </p:sp>
      <p:sp>
        <p:nvSpPr>
          <p:cNvPr id="12" name="Text 9"/>
          <p:cNvSpPr/>
          <p:nvPr/>
        </p:nvSpPr>
        <p:spPr>
          <a:xfrm>
            <a:off x="1079500" y="3454400"/>
            <a:ext cx="6477000" cy="660400"/>
          </a:xfrm>
          <a:prstGeom prst="rect">
            <a:avLst/>
          </a:prstGeom>
          <a:noFill/>
          <a:ln/>
        </p:spPr>
        <p:txBody>
          <a:bodyPr wrap="square" lIns="0" tIns="0" rIns="0" bIns="0" rtlCol="0" anchor="ctr"/>
          <a:lstStyle/>
          <a:p>
            <a:pPr algn="l">
              <a:lnSpc>
                <a:spcPct val="130000"/>
              </a:lnSpc>
            </a:pPr>
            <a:r>
              <a:rPr lang="en-US" sz="1400" b="1" dirty="0">
                <a:solidFill>
                  <a:srgbClr val="FFFFFF"/>
                </a:solidFill>
                <a:latin typeface="MiSans" pitchFamily="34" charset="0"/>
                <a:ea typeface="MiSans" pitchFamily="34" charset="-122"/>
                <a:cs typeface="MiSans" pitchFamily="34" charset="-120"/>
              </a:rPr>
              <a:t>/api/recommend</a:t>
            </a:r>
            <a:r>
              <a:rPr lang="en-US" sz="1400" dirty="0">
                <a:solidFill>
                  <a:srgbClr val="FFFFFF"/>
                </a:solidFill>
                <a:latin typeface="MiSans" pitchFamily="34" charset="0"/>
                <a:ea typeface="MiSans" pitchFamily="34" charset="-122"/>
                <a:cs typeface="MiSans" pitchFamily="34" charset="-120"/>
              </a:rPr>
              <a:t>  —  智能推荐接口，处理自然语言或结构化输入</a:t>
            </a:r>
            <a:endParaRPr lang="en-US" sz="1400" dirty="0"/>
          </a:p>
        </p:txBody>
      </p:sp>
      <p:sp>
        <p:nvSpPr>
          <p:cNvPr id="13" name="Shape 10"/>
          <p:cNvSpPr/>
          <p:nvPr/>
        </p:nvSpPr>
        <p:spPr>
          <a:xfrm>
            <a:off x="889000" y="4216400"/>
            <a:ext cx="6858000" cy="660400"/>
          </a:xfrm>
          <a:prstGeom prst="roundRect">
            <a:avLst>
              <a:gd name="adj" fmla="val 8000"/>
            </a:avLst>
          </a:prstGeom>
          <a:solidFill>
            <a:srgbClr val="DAAB00"/>
          </a:solidFill>
          <a:ln/>
        </p:spPr>
        <p:txBody>
          <a:bodyPr/>
          <a:lstStyle/>
          <a:p>
            <a:endParaRPr lang="zh-CN" altLang="en-US"/>
          </a:p>
        </p:txBody>
      </p:sp>
      <p:sp>
        <p:nvSpPr>
          <p:cNvPr id="14" name="Text 11"/>
          <p:cNvSpPr/>
          <p:nvPr/>
        </p:nvSpPr>
        <p:spPr>
          <a:xfrm>
            <a:off x="1079500" y="4216400"/>
            <a:ext cx="6477000" cy="660400"/>
          </a:xfrm>
          <a:prstGeom prst="rect">
            <a:avLst/>
          </a:prstGeom>
          <a:noFill/>
          <a:ln/>
        </p:spPr>
        <p:txBody>
          <a:bodyPr wrap="square" lIns="0" tIns="0" rIns="0" bIns="0" rtlCol="0" anchor="ctr"/>
          <a:lstStyle/>
          <a:p>
            <a:pPr algn="l">
              <a:lnSpc>
                <a:spcPct val="130000"/>
              </a:lnSpc>
            </a:pPr>
            <a:r>
              <a:rPr lang="en-US" sz="1400" b="1" dirty="0">
                <a:solidFill>
                  <a:srgbClr val="FFFFFF"/>
                </a:solidFill>
                <a:latin typeface="MiSans" pitchFamily="34" charset="0"/>
                <a:ea typeface="MiSans" pitchFamily="34" charset="-122"/>
                <a:cs typeface="MiSans" pitchFamily="34" charset="-120"/>
              </a:rPr>
              <a:t>/api/preset-recommend</a:t>
            </a:r>
            <a:r>
              <a:rPr lang="en-US" sz="1400" dirty="0">
                <a:solidFill>
                  <a:srgbClr val="FFFFFF"/>
                </a:solidFill>
                <a:latin typeface="MiSans" pitchFamily="34" charset="0"/>
                <a:ea typeface="MiSans" pitchFamily="34" charset="-122"/>
                <a:cs typeface="MiSans" pitchFamily="34" charset="-120"/>
              </a:rPr>
              <a:t>  —  偏好推荐接口，根据用户偏好快速推荐</a:t>
            </a:r>
            <a:endParaRPr lang="en-US" sz="1400" dirty="0"/>
          </a:p>
        </p:txBody>
      </p:sp>
      <p:sp>
        <p:nvSpPr>
          <p:cNvPr id="15" name="Shape 12"/>
          <p:cNvSpPr/>
          <p:nvPr/>
        </p:nvSpPr>
        <p:spPr>
          <a:xfrm>
            <a:off x="889000" y="4978400"/>
            <a:ext cx="6858000" cy="660400"/>
          </a:xfrm>
          <a:prstGeom prst="roundRect">
            <a:avLst>
              <a:gd name="adj" fmla="val 8000"/>
            </a:avLst>
          </a:prstGeom>
          <a:solidFill>
            <a:srgbClr val="DAAB00"/>
          </a:solidFill>
          <a:ln/>
        </p:spPr>
        <p:txBody>
          <a:bodyPr/>
          <a:lstStyle/>
          <a:p>
            <a:endParaRPr lang="zh-CN" altLang="en-US"/>
          </a:p>
        </p:txBody>
      </p:sp>
      <p:sp>
        <p:nvSpPr>
          <p:cNvPr id="16" name="Text 13"/>
          <p:cNvSpPr/>
          <p:nvPr/>
        </p:nvSpPr>
        <p:spPr>
          <a:xfrm>
            <a:off x="1079500" y="4978400"/>
            <a:ext cx="6477000" cy="660400"/>
          </a:xfrm>
          <a:prstGeom prst="rect">
            <a:avLst/>
          </a:prstGeom>
          <a:noFill/>
          <a:ln/>
        </p:spPr>
        <p:txBody>
          <a:bodyPr wrap="square" lIns="0" tIns="0" rIns="0" bIns="0" rtlCol="0" anchor="ctr"/>
          <a:lstStyle/>
          <a:p>
            <a:pPr algn="l">
              <a:lnSpc>
                <a:spcPct val="130000"/>
              </a:lnSpc>
            </a:pPr>
            <a:r>
              <a:rPr lang="en-US" sz="1400" b="1" dirty="0">
                <a:solidFill>
                  <a:srgbClr val="FFFFFF"/>
                </a:solidFill>
                <a:latin typeface="MiSans" pitchFamily="34" charset="0"/>
                <a:ea typeface="MiSans" pitchFamily="34" charset="-122"/>
                <a:cs typeface="MiSans" pitchFamily="34" charset="-120"/>
              </a:rPr>
              <a:t>/api/feedback</a:t>
            </a:r>
            <a:r>
              <a:rPr lang="en-US" sz="1400" dirty="0">
                <a:solidFill>
                  <a:srgbClr val="FFFFFF"/>
                </a:solidFill>
                <a:latin typeface="MiSans" pitchFamily="34" charset="0"/>
                <a:ea typeface="MiSans" pitchFamily="34" charset="-122"/>
                <a:cs typeface="MiSans" pitchFamily="34" charset="-120"/>
              </a:rPr>
              <a:t>  —  反馈接口，记录用户评价和选择结果</a:t>
            </a:r>
            <a:endParaRPr lang="en-US" sz="1400" dirty="0"/>
          </a:p>
        </p:txBody>
      </p:sp>
      <p:sp>
        <p:nvSpPr>
          <p:cNvPr id="17" name="Shape 14"/>
          <p:cNvSpPr/>
          <p:nvPr/>
        </p:nvSpPr>
        <p:spPr>
          <a:xfrm>
            <a:off x="889000" y="5740400"/>
            <a:ext cx="6858000" cy="660400"/>
          </a:xfrm>
          <a:prstGeom prst="roundRect">
            <a:avLst>
              <a:gd name="adj" fmla="val 8000"/>
            </a:avLst>
          </a:prstGeom>
          <a:solidFill>
            <a:srgbClr val="DAAB00"/>
          </a:solidFill>
          <a:ln/>
        </p:spPr>
        <p:txBody>
          <a:bodyPr/>
          <a:lstStyle/>
          <a:p>
            <a:endParaRPr lang="zh-CN" altLang="en-US"/>
          </a:p>
        </p:txBody>
      </p:sp>
      <p:sp>
        <p:nvSpPr>
          <p:cNvPr id="18" name="Text 15"/>
          <p:cNvSpPr/>
          <p:nvPr/>
        </p:nvSpPr>
        <p:spPr>
          <a:xfrm>
            <a:off x="1079500" y="5740400"/>
            <a:ext cx="6477000" cy="660400"/>
          </a:xfrm>
          <a:prstGeom prst="rect">
            <a:avLst/>
          </a:prstGeom>
          <a:noFill/>
          <a:ln/>
        </p:spPr>
        <p:txBody>
          <a:bodyPr wrap="square" lIns="0" tIns="0" rIns="0" bIns="0" rtlCol="0" anchor="ctr"/>
          <a:lstStyle/>
          <a:p>
            <a:pPr algn="l">
              <a:lnSpc>
                <a:spcPct val="130000"/>
              </a:lnSpc>
            </a:pPr>
            <a:r>
              <a:rPr lang="en-US" sz="1400" b="1" dirty="0">
                <a:solidFill>
                  <a:srgbClr val="FFFFFF"/>
                </a:solidFill>
                <a:latin typeface="MiSans" pitchFamily="34" charset="0"/>
                <a:ea typeface="MiSans" pitchFamily="34" charset="-122"/>
                <a:cs typeface="MiSans" pitchFamily="34" charset="-120"/>
              </a:rPr>
              <a:t>/api/history</a:t>
            </a:r>
            <a:r>
              <a:rPr lang="en-US" sz="1400" dirty="0">
                <a:solidFill>
                  <a:srgbClr val="FFFFFF"/>
                </a:solidFill>
                <a:latin typeface="MiSans" pitchFamily="34" charset="0"/>
                <a:ea typeface="MiSans" pitchFamily="34" charset="-122"/>
                <a:cs typeface="MiSans" pitchFamily="34" charset="-120"/>
              </a:rPr>
              <a:t>  —  历史接口，保存和查询历史推荐记录</a:t>
            </a:r>
            <a:endParaRPr lang="en-US" sz="1400" dirty="0"/>
          </a:p>
        </p:txBody>
      </p:sp>
      <p:sp>
        <p:nvSpPr>
          <p:cNvPr id="19" name="Text 16"/>
          <p:cNvSpPr/>
          <p:nvPr/>
        </p:nvSpPr>
        <p:spPr>
          <a:xfrm>
            <a:off x="8128000" y="1498600"/>
            <a:ext cx="2540000" cy="355600"/>
          </a:xfrm>
          <a:prstGeom prst="rect">
            <a:avLst/>
          </a:prstGeom>
          <a:noFill/>
          <a:ln/>
        </p:spPr>
        <p:txBody>
          <a:bodyPr wrap="none" lIns="0" tIns="0" rIns="0" bIns="0" rtlCol="0" anchor="ctr"/>
          <a:lstStyle/>
          <a:p>
            <a:pPr algn="l">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性能优化方案</a:t>
            </a:r>
            <a:endParaRPr lang="en-US" sz="2400" dirty="0"/>
          </a:p>
        </p:txBody>
      </p:sp>
      <p:sp>
        <p:nvSpPr>
          <p:cNvPr id="20" name="Shape 17"/>
          <p:cNvSpPr/>
          <p:nvPr/>
        </p:nvSpPr>
        <p:spPr>
          <a:xfrm>
            <a:off x="8128000" y="1930400"/>
            <a:ext cx="7239000" cy="1333500"/>
          </a:xfrm>
          <a:prstGeom prst="roundRect">
            <a:avLst>
              <a:gd name="adj" fmla="val 6000"/>
            </a:avLst>
          </a:prstGeom>
          <a:solidFill>
            <a:srgbClr val="000000">
              <a:alpha val="784"/>
            </a:srgbClr>
          </a:solidFill>
          <a:ln/>
        </p:spPr>
        <p:txBody>
          <a:bodyPr/>
          <a:lstStyle/>
          <a:p>
            <a:endParaRPr lang="zh-CN" altLang="en-US"/>
          </a:p>
        </p:txBody>
      </p:sp>
      <p:sp>
        <p:nvSpPr>
          <p:cNvPr id="21" name="Text 18"/>
          <p:cNvSpPr/>
          <p:nvPr/>
        </p:nvSpPr>
        <p:spPr>
          <a:xfrm>
            <a:off x="8318500" y="2006600"/>
            <a:ext cx="6858000" cy="330200"/>
          </a:xfrm>
          <a:prstGeom prst="rect">
            <a:avLst/>
          </a:prstGeom>
          <a:noFill/>
          <a:ln/>
        </p:spPr>
        <p:txBody>
          <a:bodyPr wrap="none" lIns="0" tIns="0" rIns="0" bIns="0" rtlCol="0" anchor="ctr"/>
          <a:lstStyle/>
          <a:p>
            <a:pPr algn="l">
              <a:lnSpc>
                <a:spcPct val="120000"/>
              </a:lnSpc>
            </a:pPr>
            <a:r>
              <a:rPr lang="en-US" sz="2000" b="1" dirty="0">
                <a:solidFill>
                  <a:srgbClr val="000000"/>
                </a:solidFill>
                <a:latin typeface="汉仪行楷简" pitchFamily="34" charset="0"/>
                <a:ea typeface="汉仪行楷简" pitchFamily="34" charset="-122"/>
                <a:cs typeface="汉仪行楷简" pitchFamily="34" charset="-120"/>
              </a:rPr>
              <a:t>双模式设计</a:t>
            </a:r>
            <a:endParaRPr lang="en-US" sz="2000" b="1" dirty="0"/>
          </a:p>
        </p:txBody>
      </p:sp>
      <p:sp>
        <p:nvSpPr>
          <p:cNvPr id="22" name="Text 19"/>
          <p:cNvSpPr/>
          <p:nvPr/>
        </p:nvSpPr>
        <p:spPr>
          <a:xfrm>
            <a:off x="8318500" y="2387600"/>
            <a:ext cx="6858000" cy="762000"/>
          </a:xfrm>
          <a:prstGeom prst="rect">
            <a:avLst/>
          </a:prstGeom>
          <a:noFill/>
          <a:ln/>
        </p:spPr>
        <p:txBody>
          <a:bodyPr wrap="square" lIns="0" tIns="0" rIns="0" bIns="0" rtlCol="0" anchor="t"/>
          <a:lstStyle/>
          <a:p>
            <a:pPr algn="l">
              <a:lnSpc>
                <a:spcPct val="140000"/>
              </a:lnSpc>
            </a:pPr>
            <a:r>
              <a:rPr lang="en-US" sz="2000" dirty="0">
                <a:solidFill>
                  <a:srgbClr val="000000"/>
                </a:solidFill>
                <a:latin typeface="MiSans" pitchFamily="34" charset="0"/>
                <a:ea typeface="MiSans" pitchFamily="34" charset="-122"/>
                <a:cs typeface="MiSans" pitchFamily="34" charset="-120"/>
              </a:rPr>
              <a:t>标准模式支持 LLM 意图识别与推荐解释；极速模式跳过 LLM，直接基于规则快速返回结果。</a:t>
            </a:r>
            <a:endParaRPr lang="en-US" sz="2000" dirty="0"/>
          </a:p>
        </p:txBody>
      </p:sp>
      <p:sp>
        <p:nvSpPr>
          <p:cNvPr id="23" name="Shape 20"/>
          <p:cNvSpPr/>
          <p:nvPr/>
        </p:nvSpPr>
        <p:spPr>
          <a:xfrm>
            <a:off x="8128000" y="3403600"/>
            <a:ext cx="7239000" cy="1333500"/>
          </a:xfrm>
          <a:prstGeom prst="roundRect">
            <a:avLst>
              <a:gd name="adj" fmla="val 6000"/>
            </a:avLst>
          </a:prstGeom>
          <a:solidFill>
            <a:srgbClr val="000000">
              <a:alpha val="784"/>
            </a:srgbClr>
          </a:solidFill>
          <a:ln/>
        </p:spPr>
        <p:txBody>
          <a:bodyPr/>
          <a:lstStyle/>
          <a:p>
            <a:endParaRPr lang="zh-CN" altLang="en-US"/>
          </a:p>
        </p:txBody>
      </p:sp>
      <p:sp>
        <p:nvSpPr>
          <p:cNvPr id="24" name="Text 21"/>
          <p:cNvSpPr/>
          <p:nvPr/>
        </p:nvSpPr>
        <p:spPr>
          <a:xfrm>
            <a:off x="8318500" y="3479800"/>
            <a:ext cx="6858000" cy="330200"/>
          </a:xfrm>
          <a:prstGeom prst="rect">
            <a:avLst/>
          </a:prstGeom>
          <a:noFill/>
          <a:ln/>
        </p:spPr>
        <p:txBody>
          <a:bodyPr wrap="none" lIns="0" tIns="0" rIns="0" bIns="0" rtlCol="0" anchor="ctr"/>
          <a:lstStyle/>
          <a:p>
            <a:pPr algn="l">
              <a:lnSpc>
                <a:spcPct val="120000"/>
              </a:lnSpc>
            </a:pPr>
            <a:r>
              <a:rPr lang="en-US" sz="2000" b="1" dirty="0">
                <a:solidFill>
                  <a:srgbClr val="000000"/>
                </a:solidFill>
                <a:latin typeface="汉仪行楷简" pitchFamily="34" charset="0"/>
                <a:ea typeface="汉仪行楷简" pitchFamily="34" charset="-122"/>
                <a:cs typeface="汉仪行楷简" pitchFamily="34" charset="-120"/>
              </a:rPr>
              <a:t>缓存优化</a:t>
            </a:r>
            <a:endParaRPr lang="en-US" sz="2000" b="1" dirty="0"/>
          </a:p>
        </p:txBody>
      </p:sp>
      <p:sp>
        <p:nvSpPr>
          <p:cNvPr id="25" name="Text 22"/>
          <p:cNvSpPr/>
          <p:nvPr/>
        </p:nvSpPr>
        <p:spPr>
          <a:xfrm>
            <a:off x="8318500" y="3860800"/>
            <a:ext cx="6858000" cy="762000"/>
          </a:xfrm>
          <a:prstGeom prst="rect">
            <a:avLst/>
          </a:prstGeom>
          <a:noFill/>
          <a:ln/>
        </p:spPr>
        <p:txBody>
          <a:bodyPr wrap="square" lIns="0" tIns="0" rIns="0" bIns="0" rtlCol="0" anchor="t"/>
          <a:lstStyle/>
          <a:p>
            <a:pPr algn="l">
              <a:lnSpc>
                <a:spcPct val="140000"/>
              </a:lnSpc>
            </a:pPr>
            <a:r>
              <a:rPr lang="en-US" sz="2000" dirty="0">
                <a:solidFill>
                  <a:srgbClr val="000000"/>
                </a:solidFill>
                <a:latin typeface="MiSans" pitchFamily="34" charset="0"/>
                <a:ea typeface="MiSans" pitchFamily="34" charset="-122"/>
                <a:cs typeface="MiSans" pitchFamily="34" charset="-120"/>
              </a:rPr>
              <a:t>利用 Redis 缓存周边餐厅和中间结果，降低重复请求带来的性能损耗。</a:t>
            </a:r>
            <a:endParaRPr lang="en-US" sz="2000" dirty="0"/>
          </a:p>
        </p:txBody>
      </p:sp>
      <p:sp>
        <p:nvSpPr>
          <p:cNvPr id="26" name="Shape 23"/>
          <p:cNvSpPr/>
          <p:nvPr/>
        </p:nvSpPr>
        <p:spPr>
          <a:xfrm>
            <a:off x="8128000" y="4876800"/>
            <a:ext cx="7239000" cy="1333500"/>
          </a:xfrm>
          <a:prstGeom prst="roundRect">
            <a:avLst>
              <a:gd name="adj" fmla="val 6000"/>
            </a:avLst>
          </a:prstGeom>
          <a:solidFill>
            <a:srgbClr val="000000">
              <a:alpha val="784"/>
            </a:srgbClr>
          </a:solidFill>
          <a:ln/>
        </p:spPr>
        <p:txBody>
          <a:bodyPr/>
          <a:lstStyle/>
          <a:p>
            <a:endParaRPr lang="zh-CN" altLang="en-US"/>
          </a:p>
        </p:txBody>
      </p:sp>
      <p:sp>
        <p:nvSpPr>
          <p:cNvPr id="27" name="Text 24"/>
          <p:cNvSpPr/>
          <p:nvPr/>
        </p:nvSpPr>
        <p:spPr>
          <a:xfrm>
            <a:off x="8318500" y="4953000"/>
            <a:ext cx="6858000" cy="330200"/>
          </a:xfrm>
          <a:prstGeom prst="rect">
            <a:avLst/>
          </a:prstGeom>
          <a:noFill/>
          <a:ln/>
        </p:spPr>
        <p:txBody>
          <a:bodyPr wrap="none" lIns="0" tIns="0" rIns="0" bIns="0" rtlCol="0" anchor="ctr"/>
          <a:lstStyle/>
          <a:p>
            <a:pPr algn="l">
              <a:lnSpc>
                <a:spcPct val="120000"/>
              </a:lnSpc>
            </a:pPr>
            <a:r>
              <a:rPr lang="en-US" sz="2000" b="1" dirty="0">
                <a:solidFill>
                  <a:srgbClr val="000000"/>
                </a:solidFill>
                <a:latin typeface="汉仪行楷简" pitchFamily="34" charset="0"/>
                <a:ea typeface="汉仪行楷简" pitchFamily="34" charset="-122"/>
                <a:cs typeface="汉仪行楷简" pitchFamily="34" charset="-120"/>
              </a:rPr>
              <a:t>异步处理</a:t>
            </a:r>
            <a:endParaRPr lang="en-US" sz="2000" b="1" dirty="0"/>
          </a:p>
        </p:txBody>
      </p:sp>
      <p:sp>
        <p:nvSpPr>
          <p:cNvPr id="28" name="Text 25"/>
          <p:cNvSpPr/>
          <p:nvPr/>
        </p:nvSpPr>
        <p:spPr>
          <a:xfrm>
            <a:off x="8318500" y="5334000"/>
            <a:ext cx="6858000" cy="762000"/>
          </a:xfrm>
          <a:prstGeom prst="rect">
            <a:avLst/>
          </a:prstGeom>
          <a:noFill/>
          <a:ln/>
        </p:spPr>
        <p:txBody>
          <a:bodyPr wrap="square" lIns="0" tIns="0" rIns="0" bIns="0" rtlCol="0" anchor="t"/>
          <a:lstStyle/>
          <a:p>
            <a:pPr algn="l">
              <a:lnSpc>
                <a:spcPct val="140000"/>
              </a:lnSpc>
            </a:pPr>
            <a:r>
              <a:rPr lang="en-US" sz="2000" dirty="0">
                <a:solidFill>
                  <a:srgbClr val="000000"/>
                </a:solidFill>
                <a:latin typeface="MiSans" pitchFamily="34" charset="0"/>
                <a:ea typeface="MiSans" pitchFamily="34" charset="-122"/>
                <a:cs typeface="MiSans" pitchFamily="34" charset="-120"/>
              </a:rPr>
              <a:t>将部分 AI 解释生成过程异步化，提升用户感知速度。</a:t>
            </a:r>
            <a:endParaRPr lang="en-US" sz="2000" dirty="0"/>
          </a:p>
        </p:txBody>
      </p:sp>
      <p:sp>
        <p:nvSpPr>
          <p:cNvPr id="29" name="Shape 26"/>
          <p:cNvSpPr/>
          <p:nvPr/>
        </p:nvSpPr>
        <p:spPr>
          <a:xfrm>
            <a:off x="889000" y="6604000"/>
            <a:ext cx="14478000" cy="914400"/>
          </a:xfrm>
          <a:prstGeom prst="roundRect">
            <a:avLst>
              <a:gd name="adj" fmla="val 5000"/>
            </a:avLst>
          </a:prstGeom>
          <a:gradFill flip="none" rotWithShape="1">
            <a:gsLst>
              <a:gs pos="0">
                <a:srgbClr val="DAAB00"/>
              </a:gs>
              <a:gs pos="100000">
                <a:srgbClr val="F8931D"/>
              </a:gs>
            </a:gsLst>
            <a:lin ang="0" scaled="1"/>
          </a:gradFill>
          <a:ln/>
        </p:spPr>
        <p:txBody>
          <a:bodyPr/>
          <a:lstStyle/>
          <a:p>
            <a:endParaRPr lang="zh-CN" altLang="en-US"/>
          </a:p>
        </p:txBody>
      </p:sp>
      <p:sp>
        <p:nvSpPr>
          <p:cNvPr id="30" name="Text 27"/>
          <p:cNvSpPr/>
          <p:nvPr/>
        </p:nvSpPr>
        <p:spPr>
          <a:xfrm>
            <a:off x="1117600" y="6604000"/>
            <a:ext cx="14020800" cy="914400"/>
          </a:xfrm>
          <a:prstGeom prst="rect">
            <a:avLst/>
          </a:prstGeom>
          <a:noFill/>
          <a:ln/>
        </p:spPr>
        <p:txBody>
          <a:bodyPr wrap="square" lIns="0" tIns="0" rIns="0" bIns="0" rtlCol="0" anchor="ctr"/>
          <a:lstStyle/>
          <a:p>
            <a:pPr algn="ctr">
              <a:lnSpc>
                <a:spcPct val="140000"/>
              </a:lnSpc>
            </a:pPr>
            <a:r>
              <a:rPr lang="en-US" sz="1800" b="1" dirty="0">
                <a:solidFill>
                  <a:srgbClr val="FFFFFF"/>
                </a:solidFill>
                <a:latin typeface="MiSans" pitchFamily="34" charset="0"/>
                <a:ea typeface="MiSans" pitchFamily="34" charset="-122"/>
                <a:cs typeface="MiSans" pitchFamily="34" charset="-120"/>
              </a:rPr>
              <a:t>极速模式平均响应时间约 31 ms ｜ 标准模式平均响应时间约 6359 ms ｜ 两种模式成功率均为 100%</a:t>
            </a:r>
            <a:endParaRPr lang="en-US" sz="1800" dirty="0"/>
          </a:p>
        </p:txBody>
      </p:sp>
      <p:sp>
        <p:nvSpPr>
          <p:cNvPr id="31" name="Text 28"/>
          <p:cNvSpPr/>
          <p:nvPr/>
        </p:nvSpPr>
        <p:spPr>
          <a:xfrm>
            <a:off x="889000" y="7670800"/>
            <a:ext cx="14478000" cy="381000"/>
          </a:xfrm>
          <a:prstGeom prst="rect">
            <a:avLst/>
          </a:prstGeom>
          <a:noFill/>
          <a:ln/>
        </p:spPr>
        <p:txBody>
          <a:bodyPr wrap="square" lIns="0" tIns="0" rIns="0" bIns="0" rtlCol="0" anchor="ctr"/>
          <a:lstStyle/>
          <a:p>
            <a:pPr algn="l">
              <a:lnSpc>
                <a:spcPct val="130000"/>
              </a:lnSpc>
            </a:pPr>
            <a:r>
              <a:rPr lang="en-US" sz="1500" dirty="0">
                <a:solidFill>
                  <a:srgbClr val="666666"/>
                </a:solidFill>
                <a:latin typeface="MiSans" pitchFamily="34" charset="0"/>
                <a:ea typeface="MiSans" pitchFamily="34" charset="-122"/>
                <a:cs typeface="MiSans" pitchFamily="34" charset="-120"/>
              </a:rPr>
              <a:t>系统通过"快慢分层"的方式，在智能性和可用性之间取得了平衡。</a:t>
            </a:r>
            <a:endParaRPr lang="en-US" sz="15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C501A3A-E51E-66CE-3935-A9556E54DED4}"/>
            </a:ext>
          </a:extLst>
        </p:cNvPr>
        <p:cNvGrpSpPr/>
        <p:nvPr/>
      </p:nvGrpSpPr>
      <p:grpSpPr>
        <a:xfrm>
          <a:off x="0" y="0"/>
          <a:ext cx="0" cy="0"/>
          <a:chOff x="0" y="0"/>
          <a:chExt cx="0" cy="0"/>
        </a:xfrm>
      </p:grpSpPr>
      <p:pic>
        <p:nvPicPr>
          <p:cNvPr id="2" name="Image 0" descr="https://kimi-img.moonshot.cn/pub/slides/okc/mijziqmdxzd3g/mnt/agents/output/converted/images/image_3.png">
            <a:extLst>
              <a:ext uri="{FF2B5EF4-FFF2-40B4-BE49-F238E27FC236}">
                <a16:creationId xmlns:a16="http://schemas.microsoft.com/office/drawing/2014/main" id="{4D3D5A4D-7C0F-26A1-61B1-973FB3DC93D0}"/>
              </a:ext>
            </a:extLst>
          </p:cNvPr>
          <p:cNvPicPr>
            <a:picLocks noChangeAspect="1"/>
          </p:cNvPicPr>
          <p:nvPr/>
        </p:nvPicPr>
        <p:blipFill>
          <a:blip r:embed="rId3"/>
          <a:stretch>
            <a:fillRect/>
          </a:stretch>
        </p:blipFill>
        <p:spPr>
          <a:xfrm>
            <a:off x="-22098" y="0"/>
            <a:ext cx="16256000" cy="9144000"/>
          </a:xfrm>
          <a:prstGeom prst="rect">
            <a:avLst/>
          </a:prstGeom>
        </p:spPr>
      </p:pic>
      <p:sp>
        <p:nvSpPr>
          <p:cNvPr id="3" name="Text 0">
            <a:extLst>
              <a:ext uri="{FF2B5EF4-FFF2-40B4-BE49-F238E27FC236}">
                <a16:creationId xmlns:a16="http://schemas.microsoft.com/office/drawing/2014/main" id="{E0C908DD-E4F4-5DEF-0DA5-75812C884CCC}"/>
              </a:ext>
            </a:extLst>
          </p:cNvPr>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3</a:t>
            </a:r>
            <a:endParaRPr lang="en-US" sz="1330" dirty="0"/>
          </a:p>
        </p:txBody>
      </p:sp>
      <p:sp>
        <p:nvSpPr>
          <p:cNvPr id="4" name="Text 1">
            <a:extLst>
              <a:ext uri="{FF2B5EF4-FFF2-40B4-BE49-F238E27FC236}">
                <a16:creationId xmlns:a16="http://schemas.microsoft.com/office/drawing/2014/main" id="{CA024F82-4C0F-E2D5-DB4F-10EF840A7A7B}"/>
              </a:ext>
            </a:extLst>
          </p:cNvPr>
          <p:cNvSpPr/>
          <p:nvPr/>
        </p:nvSpPr>
        <p:spPr>
          <a:xfrm>
            <a:off x="2500503" y="5481066"/>
            <a:ext cx="11254994" cy="1025906"/>
          </a:xfrm>
          <a:prstGeom prst="rect">
            <a:avLst/>
          </a:prstGeom>
          <a:noFill/>
          <a:ln/>
        </p:spPr>
        <p:txBody>
          <a:bodyPr wrap="square" lIns="0" tIns="0" rIns="0" bIns="0" rtlCol="0" anchor="ctr"/>
          <a:lstStyle/>
          <a:p>
            <a:pPr algn="ctr">
              <a:lnSpc>
                <a:spcPct val="120000"/>
              </a:lnSpc>
            </a:pPr>
            <a:r>
              <a:rPr lang="zh-CN" altLang="en-US" sz="5870" dirty="0">
                <a:solidFill>
                  <a:srgbClr val="000000"/>
                </a:solidFill>
                <a:latin typeface="汉仪行楷简" pitchFamily="34" charset="0"/>
                <a:ea typeface="汉仪行楷简" pitchFamily="34" charset="-122"/>
              </a:rPr>
              <a:t>分布式课程问题分析</a:t>
            </a:r>
            <a:endParaRPr lang="en-US" altLang="zh-CN" sz="5870" dirty="0">
              <a:solidFill>
                <a:srgbClr val="000000"/>
              </a:solidFill>
              <a:latin typeface="汉仪行楷简" pitchFamily="34" charset="0"/>
              <a:ea typeface="汉仪行楷简" pitchFamily="34" charset="-122"/>
            </a:endParaRPr>
          </a:p>
        </p:txBody>
      </p:sp>
    </p:spTree>
    <p:extLst>
      <p:ext uri="{BB962C8B-B14F-4D97-AF65-F5344CB8AC3E}">
        <p14:creationId xmlns:p14="http://schemas.microsoft.com/office/powerpoint/2010/main" val="29145357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Shape 1"/>
          <p:cNvSpPr/>
          <p:nvPr/>
        </p:nvSpPr>
        <p:spPr>
          <a:xfrm>
            <a:off x="1083818" y="2120900"/>
            <a:ext cx="4406392" cy="4902200"/>
          </a:xfrm>
          <a:prstGeom prst="roundRect">
            <a:avLst>
              <a:gd name="adj" fmla="val 3352"/>
            </a:avLst>
          </a:prstGeom>
          <a:solidFill>
            <a:srgbClr val="DAAB00"/>
          </a:solidFill>
          <a:ln/>
        </p:spPr>
        <p:txBody>
          <a:bodyPr/>
          <a:lstStyle/>
          <a:p>
            <a:endParaRPr lang="zh-CN" altLang="en-US"/>
          </a:p>
        </p:txBody>
      </p:sp>
      <p:sp>
        <p:nvSpPr>
          <p:cNvPr id="5" name="Text 2"/>
          <p:cNvSpPr/>
          <p:nvPr/>
        </p:nvSpPr>
        <p:spPr>
          <a:xfrm>
            <a:off x="1216025" y="4607052"/>
            <a:ext cx="4141724" cy="2224532"/>
          </a:xfrm>
          <a:prstGeom prst="rect">
            <a:avLst/>
          </a:prstGeom>
          <a:noFill/>
          <a:ln/>
        </p:spPr>
        <p:txBody>
          <a:bodyPr wrap="square" lIns="0" tIns="0" rIns="0" bIns="0" rtlCol="0" anchor="t"/>
          <a:lstStyle/>
          <a:p>
            <a:pPr algn="ctr">
              <a:lnSpc>
                <a:spcPct val="120000"/>
              </a:lnSpc>
            </a:pPr>
            <a:r>
              <a:rPr lang="en-US" sz="2400" dirty="0">
                <a:solidFill>
                  <a:srgbClr val="FFFFFF"/>
                </a:solidFill>
                <a:latin typeface="黑体" panose="02010609060101010101" pitchFamily="49" charset="-122"/>
                <a:ea typeface="黑体" panose="02010609060101010101" pitchFamily="49" charset="-122"/>
                <a:cs typeface="思源黑体 CN Regular" pitchFamily="34" charset="-120"/>
              </a:rPr>
              <a:t>外部LLM服务的响应时间长 （秒级），且波动大，是标准模式下的主要延迟来源。</a:t>
            </a:r>
            <a:endParaRPr lang="en-US" sz="2400" dirty="0"/>
          </a:p>
        </p:txBody>
      </p:sp>
      <p:sp>
        <p:nvSpPr>
          <p:cNvPr id="6" name="Text 3"/>
          <p:cNvSpPr/>
          <p:nvPr/>
        </p:nvSpPr>
        <p:spPr>
          <a:xfrm>
            <a:off x="1216025" y="3496056"/>
            <a:ext cx="4141724" cy="874014"/>
          </a:xfrm>
          <a:prstGeom prst="rect">
            <a:avLst/>
          </a:prstGeom>
          <a:noFill/>
          <a:ln/>
        </p:spPr>
        <p:txBody>
          <a:bodyPr wrap="square" lIns="0" tIns="0" rIns="0" bIns="0" rtlCol="0" anchor="b"/>
          <a:lstStyle/>
          <a:p>
            <a:pPr algn="ctr">
              <a:lnSpc>
                <a:spcPct val="120000"/>
              </a:lnSpc>
            </a:pPr>
            <a:r>
              <a:rPr lang="en-US" sz="3200" b="1" dirty="0">
                <a:solidFill>
                  <a:srgbClr val="FFFFFF"/>
                </a:solidFill>
                <a:latin typeface="Average" pitchFamily="34" charset="0"/>
                <a:ea typeface="Average" pitchFamily="34" charset="-122"/>
                <a:cs typeface="Average" pitchFamily="34" charset="-120"/>
              </a:rPr>
              <a:t>LLM调用高延迟</a:t>
            </a:r>
            <a:endParaRPr lang="en-US" sz="3200" dirty="0"/>
          </a:p>
        </p:txBody>
      </p:sp>
      <p:sp>
        <p:nvSpPr>
          <p:cNvPr id="7" name="Text 4"/>
          <p:cNvSpPr/>
          <p:nvPr/>
        </p:nvSpPr>
        <p:spPr>
          <a:xfrm>
            <a:off x="1216025" y="2303526"/>
            <a:ext cx="4141724" cy="1192530"/>
          </a:xfrm>
          <a:prstGeom prst="rect">
            <a:avLst/>
          </a:prstGeom>
          <a:noFill/>
          <a:ln/>
        </p:spPr>
        <p:txBody>
          <a:bodyPr wrap="none" lIns="0" tIns="0" rIns="0" bIns="0" rtlCol="0" anchor="b"/>
          <a:lstStyle/>
          <a:p>
            <a:pPr algn="ctr">
              <a:lnSpc>
                <a:spcPct val="120000"/>
              </a:lnSpc>
            </a:pPr>
            <a:r>
              <a:rPr lang="en-US" sz="5330" b="1" dirty="0">
                <a:solidFill>
                  <a:srgbClr val="FFFFFF"/>
                </a:solidFill>
                <a:latin typeface="Arial" pitchFamily="34" charset="0"/>
                <a:ea typeface="Arial" pitchFamily="34" charset="-122"/>
                <a:cs typeface="Arial" pitchFamily="34" charset="-120"/>
              </a:rPr>
              <a:t>01</a:t>
            </a:r>
            <a:endParaRPr lang="en-US" sz="5330" dirty="0"/>
          </a:p>
        </p:txBody>
      </p:sp>
      <p:sp>
        <p:nvSpPr>
          <p:cNvPr id="8" name="Shape 5"/>
          <p:cNvSpPr/>
          <p:nvPr/>
        </p:nvSpPr>
        <p:spPr>
          <a:xfrm>
            <a:off x="5924804" y="2120900"/>
            <a:ext cx="4406392" cy="4902200"/>
          </a:xfrm>
          <a:prstGeom prst="roundRect">
            <a:avLst>
              <a:gd name="adj" fmla="val 3457"/>
            </a:avLst>
          </a:prstGeom>
          <a:solidFill>
            <a:srgbClr val="DAAB00"/>
          </a:solidFill>
          <a:ln/>
        </p:spPr>
        <p:txBody>
          <a:bodyPr/>
          <a:lstStyle/>
          <a:p>
            <a:endParaRPr lang="zh-CN" altLang="en-US"/>
          </a:p>
        </p:txBody>
      </p:sp>
      <p:sp>
        <p:nvSpPr>
          <p:cNvPr id="9" name="Text 6"/>
          <p:cNvSpPr/>
          <p:nvPr/>
        </p:nvSpPr>
        <p:spPr>
          <a:xfrm>
            <a:off x="6057138" y="4607052"/>
            <a:ext cx="4141724" cy="2224532"/>
          </a:xfrm>
          <a:prstGeom prst="rect">
            <a:avLst/>
          </a:prstGeom>
          <a:noFill/>
          <a:ln/>
        </p:spPr>
        <p:txBody>
          <a:bodyPr wrap="square" lIns="0" tIns="0" rIns="0" bIns="0" rtlCol="0" anchor="t"/>
          <a:lstStyle/>
          <a:p>
            <a:pPr algn="ctr">
              <a:lnSpc>
                <a:spcPct val="120000"/>
              </a:lnSpc>
            </a:pPr>
            <a:r>
              <a:rPr lang="en-US" sz="2400" dirty="0">
                <a:solidFill>
                  <a:srgbClr val="FFFFFF"/>
                </a:solidFill>
                <a:latin typeface="黑体" panose="02010609060101010101" pitchFamily="49" charset="-122"/>
                <a:ea typeface="黑体" panose="02010609060101010101" pitchFamily="49" charset="-122"/>
                <a:cs typeface="思源黑体 CN Regular" pitchFamily="34" charset="-120"/>
              </a:rPr>
              <a:t>高德地图等外部API存在调用频率限制，高并发下可能触发限流，导致服务不可用。</a:t>
            </a:r>
            <a:endParaRPr lang="en-US" sz="2400" dirty="0"/>
          </a:p>
        </p:txBody>
      </p:sp>
      <p:sp>
        <p:nvSpPr>
          <p:cNvPr id="10" name="Text 7"/>
          <p:cNvSpPr/>
          <p:nvPr/>
        </p:nvSpPr>
        <p:spPr>
          <a:xfrm>
            <a:off x="6057138" y="3496056"/>
            <a:ext cx="4141724" cy="874014"/>
          </a:xfrm>
          <a:prstGeom prst="rect">
            <a:avLst/>
          </a:prstGeom>
          <a:noFill/>
          <a:ln/>
        </p:spPr>
        <p:txBody>
          <a:bodyPr wrap="square" lIns="0" tIns="0" rIns="0" bIns="0" rtlCol="0" anchor="b"/>
          <a:lstStyle/>
          <a:p>
            <a:pPr algn="ctr">
              <a:lnSpc>
                <a:spcPct val="120000"/>
              </a:lnSpc>
            </a:pPr>
            <a:r>
              <a:rPr lang="en-US" sz="3200" b="1" dirty="0">
                <a:solidFill>
                  <a:srgbClr val="FFFFFF"/>
                </a:solidFill>
                <a:latin typeface="汉仪行楷简" pitchFamily="34" charset="0"/>
                <a:ea typeface="汉仪行楷简" pitchFamily="34" charset="-122"/>
                <a:cs typeface="汉仪行楷简" pitchFamily="34" charset="-120"/>
              </a:rPr>
              <a:t>地图API限流风险</a:t>
            </a:r>
            <a:endParaRPr lang="en-US" sz="3200" dirty="0"/>
          </a:p>
        </p:txBody>
      </p:sp>
      <p:sp>
        <p:nvSpPr>
          <p:cNvPr id="11" name="Text 8"/>
          <p:cNvSpPr/>
          <p:nvPr/>
        </p:nvSpPr>
        <p:spPr>
          <a:xfrm>
            <a:off x="6057138" y="2303526"/>
            <a:ext cx="4141724" cy="1192530"/>
          </a:xfrm>
          <a:prstGeom prst="rect">
            <a:avLst/>
          </a:prstGeom>
          <a:noFill/>
          <a:ln/>
        </p:spPr>
        <p:txBody>
          <a:bodyPr wrap="none" lIns="0" tIns="0" rIns="0" bIns="0" rtlCol="0" anchor="b"/>
          <a:lstStyle/>
          <a:p>
            <a:pPr algn="ctr">
              <a:lnSpc>
                <a:spcPct val="120000"/>
              </a:lnSpc>
            </a:pPr>
            <a:r>
              <a:rPr lang="en-US" sz="5330" b="1" dirty="0">
                <a:solidFill>
                  <a:srgbClr val="FFFFFF"/>
                </a:solidFill>
                <a:latin typeface="Arial" pitchFamily="34" charset="0"/>
                <a:ea typeface="Arial" pitchFamily="34" charset="-122"/>
                <a:cs typeface="Arial" pitchFamily="34" charset="-120"/>
              </a:rPr>
              <a:t>02</a:t>
            </a:r>
            <a:endParaRPr lang="en-US" sz="5330" dirty="0"/>
          </a:p>
        </p:txBody>
      </p:sp>
      <p:sp>
        <p:nvSpPr>
          <p:cNvPr id="12" name="Shape 9"/>
          <p:cNvSpPr/>
          <p:nvPr/>
        </p:nvSpPr>
        <p:spPr>
          <a:xfrm>
            <a:off x="10765790" y="2120900"/>
            <a:ext cx="4406392" cy="4902200"/>
          </a:xfrm>
          <a:prstGeom prst="roundRect">
            <a:avLst>
              <a:gd name="adj" fmla="val 3457"/>
            </a:avLst>
          </a:prstGeom>
          <a:solidFill>
            <a:srgbClr val="DAAB00"/>
          </a:solidFill>
          <a:ln/>
        </p:spPr>
        <p:txBody>
          <a:bodyPr/>
          <a:lstStyle/>
          <a:p>
            <a:endParaRPr lang="zh-CN" altLang="en-US"/>
          </a:p>
        </p:txBody>
      </p:sp>
      <p:sp>
        <p:nvSpPr>
          <p:cNvPr id="13" name="Text 10"/>
          <p:cNvSpPr/>
          <p:nvPr/>
        </p:nvSpPr>
        <p:spPr>
          <a:xfrm>
            <a:off x="10898124" y="4607052"/>
            <a:ext cx="4141724" cy="2224532"/>
          </a:xfrm>
          <a:prstGeom prst="rect">
            <a:avLst/>
          </a:prstGeom>
          <a:noFill/>
          <a:ln/>
        </p:spPr>
        <p:txBody>
          <a:bodyPr wrap="square" lIns="0" tIns="0" rIns="0" bIns="0" rtlCol="0" anchor="t"/>
          <a:lstStyle/>
          <a:p>
            <a:pPr algn="ctr">
              <a:lnSpc>
                <a:spcPct val="120000"/>
              </a:lnSpc>
            </a:pPr>
            <a:r>
              <a:rPr lang="en-US" sz="2400" dirty="0">
                <a:solidFill>
                  <a:srgbClr val="FFFFFF"/>
                </a:solidFill>
                <a:latin typeface="黑体" panose="02010609060101010101" pitchFamily="49" charset="-122"/>
                <a:ea typeface="黑体" panose="02010609060101010101" pitchFamily="49" charset="-122"/>
                <a:cs typeface="思源黑体 CN Regular" pitchFamily="34" charset="-120"/>
              </a:rPr>
              <a:t>外部服务的可用性不受系统控制，网络抖动、服务降级等问题会直接影响本系统的核心功能。</a:t>
            </a:r>
            <a:endParaRPr lang="en-US" sz="2400" dirty="0"/>
          </a:p>
        </p:txBody>
      </p:sp>
      <p:sp>
        <p:nvSpPr>
          <p:cNvPr id="14" name="Text 11"/>
          <p:cNvSpPr/>
          <p:nvPr/>
        </p:nvSpPr>
        <p:spPr>
          <a:xfrm>
            <a:off x="10778490" y="3503549"/>
            <a:ext cx="4141724" cy="874014"/>
          </a:xfrm>
          <a:prstGeom prst="rect">
            <a:avLst/>
          </a:prstGeom>
          <a:noFill/>
          <a:ln/>
        </p:spPr>
        <p:txBody>
          <a:bodyPr wrap="square" lIns="0" tIns="0" rIns="0" bIns="0" rtlCol="0" anchor="b"/>
          <a:lstStyle/>
          <a:p>
            <a:pPr algn="ctr">
              <a:lnSpc>
                <a:spcPct val="120000"/>
              </a:lnSpc>
            </a:pPr>
            <a:r>
              <a:rPr lang="en-US" sz="3200" b="1" dirty="0">
                <a:solidFill>
                  <a:srgbClr val="FFFFFF"/>
                </a:solidFill>
                <a:latin typeface="汉仪行楷简" pitchFamily="34" charset="0"/>
                <a:ea typeface="汉仪行楷简" pitchFamily="34" charset="-122"/>
                <a:cs typeface="汉仪行楷简" pitchFamily="34" charset="-120"/>
              </a:rPr>
              <a:t>依赖不稳定性</a:t>
            </a:r>
            <a:endParaRPr lang="en-US" sz="3200" dirty="0"/>
          </a:p>
        </p:txBody>
      </p:sp>
      <p:sp>
        <p:nvSpPr>
          <p:cNvPr id="15" name="Text 12"/>
          <p:cNvSpPr/>
          <p:nvPr/>
        </p:nvSpPr>
        <p:spPr>
          <a:xfrm>
            <a:off x="10898124" y="2303526"/>
            <a:ext cx="4141724" cy="1192530"/>
          </a:xfrm>
          <a:prstGeom prst="rect">
            <a:avLst/>
          </a:prstGeom>
          <a:noFill/>
          <a:ln/>
        </p:spPr>
        <p:txBody>
          <a:bodyPr wrap="none" lIns="0" tIns="0" rIns="0" bIns="0" rtlCol="0" anchor="b"/>
          <a:lstStyle/>
          <a:p>
            <a:pPr algn="ctr">
              <a:lnSpc>
                <a:spcPct val="120000"/>
              </a:lnSpc>
            </a:pPr>
            <a:r>
              <a:rPr lang="en-US" sz="5330" b="1" dirty="0">
                <a:solidFill>
                  <a:srgbClr val="FFFFFF"/>
                </a:solidFill>
                <a:latin typeface="Arial" pitchFamily="34" charset="0"/>
                <a:ea typeface="Arial" pitchFamily="34" charset="-122"/>
                <a:cs typeface="Arial" pitchFamily="34" charset="-120"/>
              </a:rPr>
              <a:t>03</a:t>
            </a:r>
            <a:endParaRPr lang="en-US" sz="5330" dirty="0"/>
          </a:p>
        </p:txBody>
      </p:sp>
      <p:sp>
        <p:nvSpPr>
          <p:cNvPr id="16" name="Text 13"/>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Noto Sans SC" pitchFamily="34" charset="0"/>
                <a:ea typeface="Noto Sans SC" pitchFamily="34" charset="-122"/>
                <a:cs typeface="Noto Sans SC" pitchFamily="34" charset="-120"/>
              </a:rPr>
              <a:t>问题分析</a:t>
            </a:r>
            <a:endParaRPr lang="en-US" sz="373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Shape 1"/>
          <p:cNvSpPr/>
          <p:nvPr/>
        </p:nvSpPr>
        <p:spPr>
          <a:xfrm>
            <a:off x="2391283" y="2874391"/>
            <a:ext cx="3510026" cy="0"/>
          </a:xfrm>
          <a:prstGeom prst="line">
            <a:avLst/>
          </a:prstGeom>
          <a:noFill/>
          <a:ln w="9525">
            <a:solidFill>
              <a:srgbClr val="6323FA"/>
            </a:solidFill>
            <a:prstDash val="solid"/>
            <a:headEnd type="none"/>
            <a:tailEnd type="none"/>
          </a:ln>
        </p:spPr>
        <p:txBody>
          <a:bodyPr/>
          <a:lstStyle/>
          <a:p>
            <a:endParaRPr lang="zh-CN" altLang="en-US"/>
          </a:p>
        </p:txBody>
      </p:sp>
      <p:sp>
        <p:nvSpPr>
          <p:cNvPr id="5" name="Shape 2"/>
          <p:cNvSpPr/>
          <p:nvPr/>
        </p:nvSpPr>
        <p:spPr>
          <a:xfrm>
            <a:off x="6562344" y="2874391"/>
            <a:ext cx="3124835" cy="0"/>
          </a:xfrm>
          <a:prstGeom prst="line">
            <a:avLst/>
          </a:prstGeom>
          <a:noFill/>
          <a:ln w="9525">
            <a:solidFill>
              <a:srgbClr val="6323FA"/>
            </a:solidFill>
            <a:prstDash val="solid"/>
            <a:headEnd type="none"/>
            <a:tailEnd type="none"/>
          </a:ln>
        </p:spPr>
        <p:txBody>
          <a:bodyPr/>
          <a:lstStyle/>
          <a:p>
            <a:endParaRPr lang="zh-CN" altLang="en-US"/>
          </a:p>
        </p:txBody>
      </p:sp>
      <p:sp>
        <p:nvSpPr>
          <p:cNvPr id="6" name="Shape 3"/>
          <p:cNvSpPr/>
          <p:nvPr/>
        </p:nvSpPr>
        <p:spPr>
          <a:xfrm>
            <a:off x="10330307" y="2874391"/>
            <a:ext cx="3534410" cy="0"/>
          </a:xfrm>
          <a:prstGeom prst="line">
            <a:avLst/>
          </a:prstGeom>
          <a:noFill/>
          <a:ln w="9525">
            <a:solidFill>
              <a:srgbClr val="6323FA"/>
            </a:solidFill>
            <a:prstDash val="solid"/>
            <a:headEnd type="none"/>
            <a:tailEnd type="none"/>
          </a:ln>
        </p:spPr>
        <p:txBody>
          <a:bodyPr/>
          <a:lstStyle/>
          <a:p>
            <a:endParaRPr lang="zh-CN" altLang="en-US"/>
          </a:p>
        </p:txBody>
      </p:sp>
      <p:sp>
        <p:nvSpPr>
          <p:cNvPr id="7" name="Shape 4"/>
          <p:cNvSpPr/>
          <p:nvPr/>
        </p:nvSpPr>
        <p:spPr>
          <a:xfrm>
            <a:off x="2151253" y="2552700"/>
            <a:ext cx="643128" cy="643128"/>
          </a:xfrm>
          <a:prstGeom prst="roundRect">
            <a:avLst>
              <a:gd name="adj" fmla="val 16667"/>
            </a:avLst>
          </a:prstGeom>
          <a:solidFill>
            <a:srgbClr val="DAAB00"/>
          </a:solidFill>
          <a:ln/>
        </p:spPr>
        <p:txBody>
          <a:bodyPr/>
          <a:lstStyle/>
          <a:p>
            <a:endParaRPr lang="zh-CN" altLang="en-US"/>
          </a:p>
        </p:txBody>
      </p:sp>
      <p:sp>
        <p:nvSpPr>
          <p:cNvPr id="8" name="Text 5"/>
          <p:cNvSpPr/>
          <p:nvPr/>
        </p:nvSpPr>
        <p:spPr>
          <a:xfrm>
            <a:off x="2182622" y="2584069"/>
            <a:ext cx="580390" cy="580390"/>
          </a:xfrm>
          <a:prstGeom prst="rect">
            <a:avLst/>
          </a:prstGeom>
          <a:noFill/>
          <a:ln/>
        </p:spPr>
        <p:txBody>
          <a:bodyPr wrap="non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01</a:t>
            </a:r>
            <a:endParaRPr lang="en-US" sz="2130" dirty="0"/>
          </a:p>
        </p:txBody>
      </p:sp>
      <p:sp>
        <p:nvSpPr>
          <p:cNvPr id="9" name="Text 6"/>
          <p:cNvSpPr/>
          <p:nvPr/>
        </p:nvSpPr>
        <p:spPr>
          <a:xfrm>
            <a:off x="889000" y="3305302"/>
            <a:ext cx="3207639" cy="1056640"/>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LLM高并发调用</a:t>
            </a:r>
            <a:endParaRPr lang="en-US" sz="3200" dirty="0"/>
          </a:p>
        </p:txBody>
      </p:sp>
      <p:sp>
        <p:nvSpPr>
          <p:cNvPr id="10" name="Text 7"/>
          <p:cNvSpPr/>
          <p:nvPr/>
        </p:nvSpPr>
        <p:spPr>
          <a:xfrm>
            <a:off x="1219200" y="4361815"/>
            <a:ext cx="2540000" cy="2229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LLM高并发调用请求会导致应用响应时间过长，造成较高延迟</a:t>
            </a:r>
            <a:endParaRPr lang="en-US" sz="2130" dirty="0"/>
          </a:p>
        </p:txBody>
      </p:sp>
      <p:sp>
        <p:nvSpPr>
          <p:cNvPr id="11" name="Shape 8"/>
          <p:cNvSpPr/>
          <p:nvPr/>
        </p:nvSpPr>
        <p:spPr>
          <a:xfrm>
            <a:off x="5919216" y="2552700"/>
            <a:ext cx="643128" cy="643128"/>
          </a:xfrm>
          <a:prstGeom prst="roundRect">
            <a:avLst>
              <a:gd name="adj" fmla="val 16667"/>
            </a:avLst>
          </a:prstGeom>
          <a:solidFill>
            <a:srgbClr val="DAAB00"/>
          </a:solidFill>
          <a:ln/>
        </p:spPr>
        <p:txBody>
          <a:bodyPr/>
          <a:lstStyle/>
          <a:p>
            <a:endParaRPr lang="zh-CN" altLang="en-US"/>
          </a:p>
        </p:txBody>
      </p:sp>
      <p:sp>
        <p:nvSpPr>
          <p:cNvPr id="12" name="Text 9"/>
          <p:cNvSpPr/>
          <p:nvPr/>
        </p:nvSpPr>
        <p:spPr>
          <a:xfrm>
            <a:off x="5950585" y="2584069"/>
            <a:ext cx="580390" cy="580390"/>
          </a:xfrm>
          <a:prstGeom prst="rect">
            <a:avLst/>
          </a:prstGeom>
          <a:noFill/>
          <a:ln/>
        </p:spPr>
        <p:txBody>
          <a:bodyPr wrap="non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02</a:t>
            </a:r>
            <a:endParaRPr lang="en-US" sz="2130" dirty="0"/>
          </a:p>
        </p:txBody>
      </p:sp>
      <p:sp>
        <p:nvSpPr>
          <p:cNvPr id="13" name="Text 10"/>
          <p:cNvSpPr/>
          <p:nvPr/>
        </p:nvSpPr>
        <p:spPr>
          <a:xfrm>
            <a:off x="4645787" y="3305302"/>
            <a:ext cx="3207639" cy="1056640"/>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外部接口成瓶颈</a:t>
            </a:r>
            <a:endParaRPr lang="en-US" sz="3200" dirty="0"/>
          </a:p>
        </p:txBody>
      </p:sp>
      <p:sp>
        <p:nvSpPr>
          <p:cNvPr id="14" name="Text 11"/>
          <p:cNvSpPr/>
          <p:nvPr/>
        </p:nvSpPr>
        <p:spPr>
          <a:xfrm>
            <a:off x="4978400" y="4361815"/>
            <a:ext cx="2540000" cy="2229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在推荐链路中，对高德API的调用可能成为性能瓶颈，尤其是在缓存失效后。</a:t>
            </a:r>
            <a:endParaRPr lang="en-US" sz="2130" dirty="0"/>
          </a:p>
        </p:txBody>
      </p:sp>
      <p:sp>
        <p:nvSpPr>
          <p:cNvPr id="15" name="Shape 12"/>
          <p:cNvSpPr/>
          <p:nvPr/>
        </p:nvSpPr>
        <p:spPr>
          <a:xfrm>
            <a:off x="9687179" y="2552700"/>
            <a:ext cx="643128" cy="643128"/>
          </a:xfrm>
          <a:prstGeom prst="roundRect">
            <a:avLst>
              <a:gd name="adj" fmla="val 16667"/>
            </a:avLst>
          </a:prstGeom>
          <a:solidFill>
            <a:srgbClr val="DAAB00"/>
          </a:solidFill>
          <a:ln/>
        </p:spPr>
        <p:txBody>
          <a:bodyPr/>
          <a:lstStyle/>
          <a:p>
            <a:endParaRPr lang="zh-CN" altLang="en-US"/>
          </a:p>
        </p:txBody>
      </p:sp>
      <p:sp>
        <p:nvSpPr>
          <p:cNvPr id="16" name="Text 13"/>
          <p:cNvSpPr/>
          <p:nvPr/>
        </p:nvSpPr>
        <p:spPr>
          <a:xfrm>
            <a:off x="9718548" y="2584069"/>
            <a:ext cx="580390" cy="580390"/>
          </a:xfrm>
          <a:prstGeom prst="rect">
            <a:avLst/>
          </a:prstGeom>
          <a:noFill/>
          <a:ln/>
        </p:spPr>
        <p:txBody>
          <a:bodyPr wrap="non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03</a:t>
            </a:r>
            <a:endParaRPr lang="en-US" sz="2130" dirty="0"/>
          </a:p>
        </p:txBody>
      </p:sp>
      <p:sp>
        <p:nvSpPr>
          <p:cNvPr id="17" name="Text 14"/>
          <p:cNvSpPr/>
          <p:nvPr/>
        </p:nvSpPr>
        <p:spPr>
          <a:xfrm>
            <a:off x="8402574" y="3305302"/>
            <a:ext cx="3207639" cy="1056640"/>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缓存击穿与失效</a:t>
            </a:r>
            <a:endParaRPr lang="en-US" sz="3200" dirty="0"/>
          </a:p>
        </p:txBody>
      </p:sp>
      <p:sp>
        <p:nvSpPr>
          <p:cNvPr id="18" name="Text 15"/>
          <p:cNvSpPr/>
          <p:nvPr/>
        </p:nvSpPr>
        <p:spPr>
          <a:xfrm>
            <a:off x="8735187" y="4361815"/>
            <a:ext cx="2540000" cy="2229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热点数据缓存失效或被穿透，可能导致大量请求直接打到后端服务，引发雪崩效应。</a:t>
            </a:r>
            <a:endParaRPr lang="en-US" sz="2130" dirty="0"/>
          </a:p>
        </p:txBody>
      </p:sp>
      <p:sp>
        <p:nvSpPr>
          <p:cNvPr id="19" name="Shape 16"/>
          <p:cNvSpPr/>
          <p:nvPr/>
        </p:nvSpPr>
        <p:spPr>
          <a:xfrm>
            <a:off x="13455142" y="2552700"/>
            <a:ext cx="643128" cy="643128"/>
          </a:xfrm>
          <a:prstGeom prst="roundRect">
            <a:avLst>
              <a:gd name="adj" fmla="val 16667"/>
            </a:avLst>
          </a:prstGeom>
          <a:solidFill>
            <a:srgbClr val="DAAB00"/>
          </a:solidFill>
          <a:ln/>
        </p:spPr>
        <p:txBody>
          <a:bodyPr/>
          <a:lstStyle/>
          <a:p>
            <a:endParaRPr lang="zh-CN" altLang="en-US"/>
          </a:p>
        </p:txBody>
      </p:sp>
      <p:sp>
        <p:nvSpPr>
          <p:cNvPr id="20" name="Text 17"/>
          <p:cNvSpPr/>
          <p:nvPr/>
        </p:nvSpPr>
        <p:spPr>
          <a:xfrm>
            <a:off x="13486511" y="2584069"/>
            <a:ext cx="580390" cy="580390"/>
          </a:xfrm>
          <a:prstGeom prst="rect">
            <a:avLst/>
          </a:prstGeom>
          <a:noFill/>
          <a:ln/>
        </p:spPr>
        <p:txBody>
          <a:bodyPr wrap="none" lIns="0" tIns="0" rIns="0" bIns="0" rtlCol="0" anchor="ctr"/>
          <a:lstStyle/>
          <a:p>
            <a:pPr algn="ctr">
              <a:lnSpc>
                <a:spcPct val="120000"/>
              </a:lnSpc>
            </a:pPr>
            <a:r>
              <a:rPr lang="en-US" sz="2130" b="1" dirty="0">
                <a:solidFill>
                  <a:srgbClr val="FFFFFF"/>
                </a:solidFill>
                <a:latin typeface="Arial" pitchFamily="34" charset="0"/>
                <a:ea typeface="Arial" pitchFamily="34" charset="-122"/>
                <a:cs typeface="Arial" pitchFamily="34" charset="-120"/>
              </a:rPr>
              <a:t>04</a:t>
            </a:r>
            <a:endParaRPr lang="en-US" sz="2130" dirty="0"/>
          </a:p>
        </p:txBody>
      </p:sp>
      <p:sp>
        <p:nvSpPr>
          <p:cNvPr id="21" name="Text 18"/>
          <p:cNvSpPr/>
          <p:nvPr/>
        </p:nvSpPr>
        <p:spPr>
          <a:xfrm>
            <a:off x="11995912" y="3298317"/>
            <a:ext cx="3534410" cy="1056640"/>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无结果可用性问题</a:t>
            </a:r>
            <a:endParaRPr lang="en-US" sz="3200" dirty="0"/>
          </a:p>
        </p:txBody>
      </p:sp>
      <p:sp>
        <p:nvSpPr>
          <p:cNvPr id="22" name="Text 19"/>
          <p:cNvSpPr/>
          <p:nvPr/>
        </p:nvSpPr>
        <p:spPr>
          <a:xfrm>
            <a:off x="12491974" y="4361815"/>
            <a:ext cx="2540000" cy="2229358"/>
          </a:xfrm>
          <a:prstGeom prst="rect">
            <a:avLst/>
          </a:prstGeom>
          <a:noFill/>
          <a:ln/>
        </p:spPr>
        <p:txBody>
          <a:bodyPr wrap="square" lIns="0" tIns="0" rIns="0" bIns="0" rtlCol="0" anchor="t"/>
          <a:lstStyle/>
          <a:p>
            <a:pPr algn="ctr">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若用户输入条件过严，可能导致候选集为空，影响用户体验，需有兜底策略。</a:t>
            </a:r>
            <a:endParaRPr lang="en-US" sz="2130" dirty="0"/>
          </a:p>
        </p:txBody>
      </p:sp>
      <p:sp>
        <p:nvSpPr>
          <p:cNvPr id="23" name="Text 20"/>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高并发瓶颈</a:t>
            </a:r>
            <a:endParaRPr lang="en-US" sz="373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Text 1"/>
          <p:cNvSpPr/>
          <p:nvPr/>
        </p:nvSpPr>
        <p:spPr>
          <a:xfrm>
            <a:off x="872109" y="2854198"/>
            <a:ext cx="4297934" cy="102400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LLM链路不可避免</a:t>
            </a:r>
            <a:endParaRPr lang="en-US" sz="3730" dirty="0"/>
          </a:p>
        </p:txBody>
      </p:sp>
      <p:sp>
        <p:nvSpPr>
          <p:cNvPr id="5" name="Text 2"/>
          <p:cNvSpPr/>
          <p:nvPr/>
        </p:nvSpPr>
        <p:spPr>
          <a:xfrm>
            <a:off x="872109" y="3878326"/>
            <a:ext cx="4297934" cy="4046474"/>
          </a:xfrm>
          <a:prstGeom prst="rect">
            <a:avLst/>
          </a:prstGeom>
          <a:noFill/>
          <a:ln/>
        </p:spPr>
        <p:txBody>
          <a:bodyPr wrap="square" lIns="0" tIns="0" rIns="0" bIns="0" rtlCol="0" anchor="t"/>
          <a:lstStyle/>
          <a:p>
            <a:pPr algn="l">
              <a:lnSpc>
                <a:spcPct val="120000"/>
              </a:lnSpc>
            </a:pPr>
            <a:r>
              <a:rPr lang="en-US" sz="2400" dirty="0">
                <a:solidFill>
                  <a:srgbClr val="000000"/>
                </a:solidFill>
                <a:latin typeface="黑体" panose="02010609060101010101" pitchFamily="49" charset="-122"/>
                <a:ea typeface="黑体" panose="02010609060101010101" pitchFamily="49" charset="-122"/>
                <a:cs typeface="思源黑体 CN Regular" pitchFamily="34" charset="-120"/>
              </a:rPr>
              <a:t>标准推荐模式依赖 LLM 完成意图解析和推荐解释生成，导致请求链路明显变长。</a:t>
            </a:r>
            <a:endParaRPr lang="en-US" sz="2400" dirty="0"/>
          </a:p>
        </p:txBody>
      </p:sp>
      <p:sp>
        <p:nvSpPr>
          <p:cNvPr id="6" name="Text 3"/>
          <p:cNvSpPr/>
          <p:nvPr/>
        </p:nvSpPr>
        <p:spPr>
          <a:xfrm>
            <a:off x="872109" y="1422400"/>
            <a:ext cx="4297934" cy="1431798"/>
          </a:xfrm>
          <a:prstGeom prst="rect">
            <a:avLst/>
          </a:prstGeom>
          <a:noFill/>
          <a:ln/>
        </p:spPr>
        <p:txBody>
          <a:bodyPr wrap="none" lIns="0" tIns="0" rIns="0" bIns="0" rtlCol="0" anchor="b"/>
          <a:lstStyle/>
          <a:p>
            <a:pPr algn="l">
              <a:lnSpc>
                <a:spcPct val="120000"/>
              </a:lnSpc>
            </a:pPr>
            <a:r>
              <a:rPr lang="en-US" sz="4270" b="1" dirty="0">
                <a:solidFill>
                  <a:srgbClr val="DAAB00"/>
                </a:solidFill>
                <a:latin typeface="Arial" pitchFamily="34" charset="0"/>
                <a:ea typeface="Arial" pitchFamily="34" charset="-122"/>
                <a:cs typeface="Arial" pitchFamily="34" charset="-120"/>
              </a:rPr>
              <a:t>01.</a:t>
            </a:r>
            <a:endParaRPr lang="en-US" sz="4270" dirty="0"/>
          </a:p>
        </p:txBody>
      </p:sp>
      <p:sp>
        <p:nvSpPr>
          <p:cNvPr id="7" name="Text 4"/>
          <p:cNvSpPr/>
          <p:nvPr/>
        </p:nvSpPr>
        <p:spPr>
          <a:xfrm>
            <a:off x="5962142" y="2854198"/>
            <a:ext cx="4297934" cy="102400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外部服务能力有限</a:t>
            </a:r>
            <a:endParaRPr lang="en-US" sz="3730" dirty="0"/>
          </a:p>
        </p:txBody>
      </p:sp>
      <p:sp>
        <p:nvSpPr>
          <p:cNvPr id="8" name="Text 5"/>
          <p:cNvSpPr/>
          <p:nvPr/>
        </p:nvSpPr>
        <p:spPr>
          <a:xfrm>
            <a:off x="5962142" y="3878326"/>
            <a:ext cx="4297934" cy="4046474"/>
          </a:xfrm>
          <a:prstGeom prst="rect">
            <a:avLst/>
          </a:prstGeom>
          <a:noFill/>
          <a:ln/>
        </p:spPr>
        <p:txBody>
          <a:bodyPr wrap="square" lIns="0" tIns="0" rIns="0" bIns="0" rtlCol="0" anchor="t"/>
          <a:lstStyle/>
          <a:p>
            <a:pPr algn="l">
              <a:lnSpc>
                <a:spcPct val="120000"/>
              </a:lnSpc>
            </a:pPr>
            <a:r>
              <a:rPr lang="en-US" sz="2400" dirty="0">
                <a:solidFill>
                  <a:srgbClr val="000000"/>
                </a:solidFill>
                <a:latin typeface="黑体" panose="02010609060101010101" pitchFamily="49" charset="-122"/>
                <a:ea typeface="黑体" panose="02010609060101010101" pitchFamily="49" charset="-122"/>
                <a:cs typeface="思源黑体 CN Regular" pitchFamily="34" charset="-120"/>
              </a:rPr>
              <a:t>LLM 属于外部智能服务，存在响应时间波动大、并发能力有限、偶发超时和限流的问题。</a:t>
            </a:r>
            <a:endParaRPr lang="en-US" sz="2400" dirty="0"/>
          </a:p>
        </p:txBody>
      </p:sp>
      <p:sp>
        <p:nvSpPr>
          <p:cNvPr id="9" name="Text 6"/>
          <p:cNvSpPr/>
          <p:nvPr/>
        </p:nvSpPr>
        <p:spPr>
          <a:xfrm>
            <a:off x="5962142" y="1422400"/>
            <a:ext cx="4297934" cy="1431798"/>
          </a:xfrm>
          <a:prstGeom prst="rect">
            <a:avLst/>
          </a:prstGeom>
          <a:noFill/>
          <a:ln/>
        </p:spPr>
        <p:txBody>
          <a:bodyPr wrap="none" lIns="0" tIns="0" rIns="0" bIns="0" rtlCol="0" anchor="b"/>
          <a:lstStyle/>
          <a:p>
            <a:pPr algn="l">
              <a:lnSpc>
                <a:spcPct val="120000"/>
              </a:lnSpc>
            </a:pPr>
            <a:r>
              <a:rPr lang="en-US" sz="4270" b="1" dirty="0">
                <a:solidFill>
                  <a:srgbClr val="DAAB00"/>
                </a:solidFill>
                <a:latin typeface="Arial" pitchFamily="34" charset="0"/>
                <a:ea typeface="Arial" pitchFamily="34" charset="-122"/>
                <a:cs typeface="Arial" pitchFamily="34" charset="-120"/>
              </a:rPr>
              <a:t>02.</a:t>
            </a:r>
            <a:endParaRPr lang="en-US" sz="4270" dirty="0"/>
          </a:p>
        </p:txBody>
      </p:sp>
      <p:sp>
        <p:nvSpPr>
          <p:cNvPr id="10" name="Text 7"/>
          <p:cNvSpPr/>
          <p:nvPr/>
        </p:nvSpPr>
        <p:spPr>
          <a:xfrm>
            <a:off x="11052175" y="2854198"/>
            <a:ext cx="4297934" cy="102400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并发同步等待</a:t>
            </a:r>
            <a:endParaRPr lang="en-US" sz="3730" dirty="0"/>
          </a:p>
        </p:txBody>
      </p:sp>
      <p:sp>
        <p:nvSpPr>
          <p:cNvPr id="11" name="Text 8"/>
          <p:cNvSpPr/>
          <p:nvPr/>
        </p:nvSpPr>
        <p:spPr>
          <a:xfrm>
            <a:off x="11052175" y="3878326"/>
            <a:ext cx="4297934" cy="4046474"/>
          </a:xfrm>
          <a:prstGeom prst="rect">
            <a:avLst/>
          </a:prstGeom>
          <a:noFill/>
          <a:ln/>
        </p:spPr>
        <p:txBody>
          <a:bodyPr wrap="square" lIns="0" tIns="0" rIns="0" bIns="0" rtlCol="0" anchor="t"/>
          <a:lstStyle/>
          <a:p>
            <a:pPr algn="l">
              <a:lnSpc>
                <a:spcPct val="120000"/>
              </a:lnSpc>
            </a:pPr>
            <a:r>
              <a:rPr lang="en-US" sz="2400" dirty="0">
                <a:solidFill>
                  <a:srgbClr val="000000"/>
                </a:solidFill>
                <a:latin typeface="黑体" panose="02010609060101010101" pitchFamily="49" charset="-122"/>
                <a:ea typeface="黑体" panose="02010609060101010101" pitchFamily="49" charset="-122"/>
                <a:cs typeface="思源黑体 CN Regular" pitchFamily="34" charset="-120"/>
              </a:rPr>
              <a:t>在并发场景下，如果所有请求都同步等待 LLM 返回，系统整体吞吐会下降，用户体验明显变差。</a:t>
            </a:r>
            <a:endParaRPr lang="en-US" sz="2400" dirty="0"/>
          </a:p>
        </p:txBody>
      </p:sp>
      <p:sp>
        <p:nvSpPr>
          <p:cNvPr id="12" name="Text 9"/>
          <p:cNvSpPr/>
          <p:nvPr/>
        </p:nvSpPr>
        <p:spPr>
          <a:xfrm>
            <a:off x="11052175" y="1422400"/>
            <a:ext cx="4297934" cy="1431798"/>
          </a:xfrm>
          <a:prstGeom prst="rect">
            <a:avLst/>
          </a:prstGeom>
          <a:noFill/>
          <a:ln/>
        </p:spPr>
        <p:txBody>
          <a:bodyPr wrap="none" lIns="0" tIns="0" rIns="0" bIns="0" rtlCol="0" anchor="b"/>
          <a:lstStyle/>
          <a:p>
            <a:pPr algn="l">
              <a:lnSpc>
                <a:spcPct val="120000"/>
              </a:lnSpc>
            </a:pPr>
            <a:r>
              <a:rPr lang="en-US" sz="4270" b="1" dirty="0">
                <a:solidFill>
                  <a:srgbClr val="DAAB00"/>
                </a:solidFill>
                <a:latin typeface="Arial" pitchFamily="34" charset="0"/>
                <a:ea typeface="Arial" pitchFamily="34" charset="-122"/>
                <a:cs typeface="Arial" pitchFamily="34" charset="-120"/>
              </a:rPr>
              <a:t>03.</a:t>
            </a:r>
            <a:endParaRPr lang="en-US" sz="4270" dirty="0"/>
          </a:p>
        </p:txBody>
      </p:sp>
      <p:sp>
        <p:nvSpPr>
          <p:cNvPr id="13" name="Text 10"/>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LLM 高并发下延迟高、响应慢的问题</a:t>
            </a:r>
            <a:endParaRPr lang="en-US" sz="3730" dirty="0"/>
          </a:p>
        </p:txBody>
      </p:sp>
      <p:sp>
        <p:nvSpPr>
          <p:cNvPr id="14" name="Text 11"/>
          <p:cNvSpPr/>
          <p:nvPr/>
        </p:nvSpPr>
        <p:spPr>
          <a:xfrm>
            <a:off x="872109" y="6523863"/>
            <a:ext cx="13247624" cy="615569"/>
          </a:xfrm>
          <a:prstGeom prst="rect">
            <a:avLst/>
          </a:prstGeom>
          <a:noFill/>
          <a:ln/>
        </p:spPr>
        <p:txBody>
          <a:bodyPr wrap="none" lIns="0" tIns="0" rIns="0" bIns="0" rtlCol="0" anchor="t"/>
          <a:lstStyle/>
          <a:p>
            <a:pPr algn="l">
              <a:lnSpc>
                <a:spcPct val="120000"/>
              </a:lnSpc>
            </a:pPr>
            <a:r>
              <a:rPr lang="en-US" sz="3200" b="1" dirty="0">
                <a:solidFill>
                  <a:srgbClr val="E36C09"/>
                </a:solidFill>
                <a:latin typeface="Calibri" pitchFamily="34" charset="0"/>
                <a:ea typeface="Calibri" pitchFamily="34" charset="-122"/>
                <a:cs typeface="Calibri" pitchFamily="34" charset="-120"/>
              </a:rPr>
              <a:t>以上问题导致了在优化之前，在10个并发下平均响应时间达到了约25秒</a:t>
            </a:r>
            <a:endParaRPr lang="en-US" sz="32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Shape 1"/>
          <p:cNvSpPr/>
          <p:nvPr/>
        </p:nvSpPr>
        <p:spPr>
          <a:xfrm>
            <a:off x="3496691" y="2206117"/>
            <a:ext cx="1931670" cy="96774"/>
          </a:xfrm>
          <a:prstGeom prst="rect">
            <a:avLst/>
          </a:prstGeom>
          <a:noFill/>
          <a:ln w="12700">
            <a:solidFill>
              <a:srgbClr val="FFFFFF"/>
            </a:solidFill>
            <a:prstDash val="solid"/>
          </a:ln>
        </p:spPr>
        <p:txBody>
          <a:bodyPr/>
          <a:lstStyle/>
          <a:p>
            <a:endParaRPr lang="zh-CN" altLang="en-US"/>
          </a:p>
        </p:txBody>
      </p:sp>
      <p:sp>
        <p:nvSpPr>
          <p:cNvPr id="5" name="Shape 2"/>
          <p:cNvSpPr/>
          <p:nvPr/>
        </p:nvSpPr>
        <p:spPr>
          <a:xfrm>
            <a:off x="7162165" y="2206117"/>
            <a:ext cx="1931670" cy="96774"/>
          </a:xfrm>
          <a:prstGeom prst="rect">
            <a:avLst/>
          </a:prstGeom>
          <a:noFill/>
          <a:ln w="12700">
            <a:solidFill>
              <a:srgbClr val="FFFFFF"/>
            </a:solidFill>
            <a:prstDash val="solid"/>
          </a:ln>
        </p:spPr>
        <p:txBody>
          <a:bodyPr/>
          <a:lstStyle/>
          <a:p>
            <a:endParaRPr lang="zh-CN" altLang="en-US"/>
          </a:p>
        </p:txBody>
      </p:sp>
      <p:sp>
        <p:nvSpPr>
          <p:cNvPr id="6" name="Shape 3"/>
          <p:cNvSpPr/>
          <p:nvPr/>
        </p:nvSpPr>
        <p:spPr>
          <a:xfrm>
            <a:off x="10827639" y="2206117"/>
            <a:ext cx="1931670" cy="96774"/>
          </a:xfrm>
          <a:prstGeom prst="rect">
            <a:avLst/>
          </a:prstGeom>
          <a:noFill/>
          <a:ln w="12700">
            <a:solidFill>
              <a:srgbClr val="FFFFFF"/>
            </a:solidFill>
            <a:prstDash val="solid"/>
          </a:ln>
        </p:spPr>
        <p:txBody>
          <a:bodyPr/>
          <a:lstStyle/>
          <a:p>
            <a:endParaRPr lang="zh-CN" altLang="en-US"/>
          </a:p>
        </p:txBody>
      </p:sp>
      <p:sp>
        <p:nvSpPr>
          <p:cNvPr id="7" name="Shape 4"/>
          <p:cNvSpPr/>
          <p:nvPr/>
        </p:nvSpPr>
        <p:spPr>
          <a:xfrm>
            <a:off x="2000885" y="1625600"/>
            <a:ext cx="1257935" cy="1257935"/>
          </a:xfrm>
          <a:prstGeom prst="ellipse">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8" name="Text 5"/>
          <p:cNvSpPr/>
          <p:nvPr/>
        </p:nvSpPr>
        <p:spPr>
          <a:xfrm>
            <a:off x="2000885" y="1625600"/>
            <a:ext cx="1257935" cy="1257935"/>
          </a:xfrm>
          <a:prstGeom prst="rect">
            <a:avLst/>
          </a:prstGeom>
          <a:noFill/>
          <a:ln/>
        </p:spPr>
        <p:txBody>
          <a:bodyPr wrap="none" lIns="0" tIns="0" rIns="0" bIns="0" rtlCol="0" anchor="ctr"/>
          <a:lstStyle/>
          <a:p>
            <a:pPr algn="ctr">
              <a:lnSpc>
                <a:spcPct val="120000"/>
              </a:lnSpc>
            </a:pPr>
            <a:r>
              <a:rPr lang="en-US" sz="3200" b="1" dirty="0">
                <a:solidFill>
                  <a:srgbClr val="FFFFFF"/>
                </a:solidFill>
                <a:latin typeface="Arial" pitchFamily="34" charset="0"/>
                <a:ea typeface="Arial" pitchFamily="34" charset="-122"/>
                <a:cs typeface="Arial" pitchFamily="34" charset="-120"/>
              </a:rPr>
              <a:t>01</a:t>
            </a:r>
            <a:endParaRPr lang="en-US" sz="3200" dirty="0"/>
          </a:p>
        </p:txBody>
      </p:sp>
      <p:sp>
        <p:nvSpPr>
          <p:cNvPr id="9" name="Shape 6"/>
          <p:cNvSpPr/>
          <p:nvPr/>
        </p:nvSpPr>
        <p:spPr>
          <a:xfrm>
            <a:off x="889000" y="3326257"/>
            <a:ext cx="3481705" cy="4192143"/>
          </a:xfrm>
          <a:prstGeom prst="roundRect">
            <a:avLst>
              <a:gd name="adj" fmla="val 3541"/>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10" name="Text 7"/>
          <p:cNvSpPr/>
          <p:nvPr/>
        </p:nvSpPr>
        <p:spPr>
          <a:xfrm>
            <a:off x="1054100" y="4589780"/>
            <a:ext cx="3193415" cy="2004949"/>
          </a:xfrm>
          <a:prstGeom prst="rect">
            <a:avLst/>
          </a:prstGeom>
          <a:noFill/>
          <a:ln/>
        </p:spPr>
        <p:txBody>
          <a:bodyPr wrap="square" lIns="0" tIns="0" rIns="0" bIns="0" rtlCol="0" anchor="t"/>
          <a:lstStyle/>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标准模式：保留 LLM 意图解析与解释能力，提升智能化体验</a:t>
            </a:r>
            <a:endParaRPr lang="en-US" sz="2130" dirty="0"/>
          </a:p>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极速模式：跳过 LLM，直接使用规则评分，优先保证低延迟响应</a:t>
            </a:r>
            <a:endParaRPr lang="en-US" sz="2130" dirty="0"/>
          </a:p>
        </p:txBody>
      </p:sp>
      <p:sp>
        <p:nvSpPr>
          <p:cNvPr id="11" name="Text 8"/>
          <p:cNvSpPr/>
          <p:nvPr/>
        </p:nvSpPr>
        <p:spPr>
          <a:xfrm>
            <a:off x="1033145" y="3426333"/>
            <a:ext cx="3193415" cy="707898"/>
          </a:xfrm>
          <a:prstGeom prst="rect">
            <a:avLst/>
          </a:prstGeom>
          <a:noFill/>
          <a:ln/>
        </p:spPr>
        <p:txBody>
          <a:bodyPr wrap="square" lIns="0" tIns="0" rIns="0" bIns="0" rtlCol="0" anchor="b"/>
          <a:lstStyle/>
          <a:p>
            <a:pPr algn="l">
              <a:lnSpc>
                <a:spcPct val="130000"/>
              </a:lnSpc>
            </a:pPr>
            <a:r>
              <a:rPr lang="en-US" sz="2400" b="1" dirty="0">
                <a:solidFill>
                  <a:srgbClr val="FFFFFF"/>
                </a:solidFill>
                <a:latin typeface="汉仪行楷简" pitchFamily="34" charset="0"/>
                <a:ea typeface="汉仪行楷简" pitchFamily="34" charset="-122"/>
                <a:cs typeface="汉仪行楷简" pitchFamily="34" charset="-120"/>
              </a:rPr>
              <a:t>引入“双模式推荐”</a:t>
            </a:r>
            <a:endParaRPr lang="en-US" sz="2400" dirty="0"/>
          </a:p>
        </p:txBody>
      </p:sp>
      <p:sp>
        <p:nvSpPr>
          <p:cNvPr id="12" name="Shape 9"/>
          <p:cNvSpPr/>
          <p:nvPr/>
        </p:nvSpPr>
        <p:spPr>
          <a:xfrm>
            <a:off x="5666232" y="1625600"/>
            <a:ext cx="1257935" cy="1257935"/>
          </a:xfrm>
          <a:prstGeom prst="ellipse">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13" name="Text 10"/>
          <p:cNvSpPr/>
          <p:nvPr/>
        </p:nvSpPr>
        <p:spPr>
          <a:xfrm>
            <a:off x="5666232" y="1625600"/>
            <a:ext cx="1257935" cy="1257935"/>
          </a:xfrm>
          <a:prstGeom prst="rect">
            <a:avLst/>
          </a:prstGeom>
          <a:noFill/>
          <a:ln/>
        </p:spPr>
        <p:txBody>
          <a:bodyPr wrap="none" lIns="0" tIns="0" rIns="0" bIns="0" rtlCol="0" anchor="ctr"/>
          <a:lstStyle/>
          <a:p>
            <a:pPr algn="ctr">
              <a:lnSpc>
                <a:spcPct val="120000"/>
              </a:lnSpc>
            </a:pPr>
            <a:r>
              <a:rPr lang="en-US" sz="3200" b="1" dirty="0">
                <a:solidFill>
                  <a:srgbClr val="FFFFFF"/>
                </a:solidFill>
                <a:latin typeface="Arial" pitchFamily="34" charset="0"/>
                <a:ea typeface="Arial" pitchFamily="34" charset="-122"/>
                <a:cs typeface="Arial" pitchFamily="34" charset="-120"/>
              </a:rPr>
              <a:t>02</a:t>
            </a:r>
            <a:endParaRPr lang="en-US" sz="3200" dirty="0"/>
          </a:p>
        </p:txBody>
      </p:sp>
      <p:sp>
        <p:nvSpPr>
          <p:cNvPr id="14" name="Shape 11"/>
          <p:cNvSpPr/>
          <p:nvPr/>
        </p:nvSpPr>
        <p:spPr>
          <a:xfrm>
            <a:off x="4554474" y="3326257"/>
            <a:ext cx="3481705" cy="4192143"/>
          </a:xfrm>
          <a:prstGeom prst="roundRect">
            <a:avLst>
              <a:gd name="adj" fmla="val 2645"/>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15" name="Text 12"/>
          <p:cNvSpPr/>
          <p:nvPr/>
        </p:nvSpPr>
        <p:spPr>
          <a:xfrm>
            <a:off x="4791329" y="4489577"/>
            <a:ext cx="3193415" cy="2004949"/>
          </a:xfrm>
          <a:prstGeom prst="rect">
            <a:avLst/>
          </a:prstGeom>
          <a:noFill/>
          <a:ln/>
        </p:spPr>
        <p:txBody>
          <a:bodyPr wrap="square" lIns="0" tIns="0" rIns="0" bIns="0" rtlCol="0" anchor="t"/>
          <a:lstStyle/>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主请求只返回核心推荐结果与结构化解释</a:t>
            </a:r>
            <a:endParaRPr lang="en-US" sz="2130" dirty="0"/>
          </a:p>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AI speech 从主链路中拆出，后台异步生成并写入 Redis</a:t>
            </a:r>
            <a:endParaRPr lang="en-US" sz="2130" dirty="0"/>
          </a:p>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前端通过轮询接口获取补全结果</a:t>
            </a:r>
            <a:endParaRPr lang="en-US" sz="2130" dirty="0"/>
          </a:p>
        </p:txBody>
      </p:sp>
      <p:sp>
        <p:nvSpPr>
          <p:cNvPr id="16" name="Text 13"/>
          <p:cNvSpPr/>
          <p:nvPr/>
        </p:nvSpPr>
        <p:spPr>
          <a:xfrm>
            <a:off x="4698492" y="3426333"/>
            <a:ext cx="3193415" cy="707898"/>
          </a:xfrm>
          <a:prstGeom prst="rect">
            <a:avLst/>
          </a:prstGeom>
          <a:noFill/>
          <a:ln/>
        </p:spPr>
        <p:txBody>
          <a:bodyPr wrap="square" lIns="0" tIns="0" rIns="0" bIns="0" rtlCol="0" anchor="b"/>
          <a:lstStyle/>
          <a:p>
            <a:pPr algn="l">
              <a:lnSpc>
                <a:spcPct val="120000"/>
              </a:lnSpc>
            </a:pPr>
            <a:r>
              <a:rPr lang="en-US" sz="2400" b="1" dirty="0">
                <a:solidFill>
                  <a:srgbClr val="FFFFFF"/>
                </a:solidFill>
                <a:latin typeface="汉仪行楷简" pitchFamily="34" charset="0"/>
                <a:ea typeface="汉仪行楷简" pitchFamily="34" charset="-122"/>
                <a:cs typeface="汉仪行楷简" pitchFamily="34" charset="-120"/>
              </a:rPr>
              <a:t>异步拆分 LLM 任务</a:t>
            </a:r>
            <a:endParaRPr lang="en-US" sz="2400" dirty="0"/>
          </a:p>
        </p:txBody>
      </p:sp>
      <p:sp>
        <p:nvSpPr>
          <p:cNvPr id="17" name="Shape 14"/>
          <p:cNvSpPr/>
          <p:nvPr/>
        </p:nvSpPr>
        <p:spPr>
          <a:xfrm>
            <a:off x="9331706" y="1625600"/>
            <a:ext cx="1257935" cy="1257935"/>
          </a:xfrm>
          <a:prstGeom prst="ellipse">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18" name="Text 15"/>
          <p:cNvSpPr/>
          <p:nvPr/>
        </p:nvSpPr>
        <p:spPr>
          <a:xfrm>
            <a:off x="9331706" y="1625600"/>
            <a:ext cx="1257935" cy="1257935"/>
          </a:xfrm>
          <a:prstGeom prst="rect">
            <a:avLst/>
          </a:prstGeom>
          <a:noFill/>
          <a:ln/>
        </p:spPr>
        <p:txBody>
          <a:bodyPr wrap="none" lIns="0" tIns="0" rIns="0" bIns="0" rtlCol="0" anchor="ctr"/>
          <a:lstStyle/>
          <a:p>
            <a:pPr algn="ctr">
              <a:lnSpc>
                <a:spcPct val="120000"/>
              </a:lnSpc>
            </a:pPr>
            <a:r>
              <a:rPr lang="en-US" sz="3200" b="1" dirty="0">
                <a:solidFill>
                  <a:srgbClr val="FFFFFF"/>
                </a:solidFill>
                <a:latin typeface="Arial" pitchFamily="34" charset="0"/>
                <a:ea typeface="Arial" pitchFamily="34" charset="-122"/>
                <a:cs typeface="Arial" pitchFamily="34" charset="-120"/>
              </a:rPr>
              <a:t>03</a:t>
            </a:r>
            <a:endParaRPr lang="en-US" sz="3200" dirty="0"/>
          </a:p>
        </p:txBody>
      </p:sp>
      <p:sp>
        <p:nvSpPr>
          <p:cNvPr id="19" name="Shape 16"/>
          <p:cNvSpPr/>
          <p:nvPr/>
        </p:nvSpPr>
        <p:spPr>
          <a:xfrm>
            <a:off x="8219948" y="3326257"/>
            <a:ext cx="3481705" cy="4192143"/>
          </a:xfrm>
          <a:prstGeom prst="roundRect">
            <a:avLst>
              <a:gd name="adj" fmla="val 2943"/>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20" name="Text 17"/>
          <p:cNvSpPr/>
          <p:nvPr/>
        </p:nvSpPr>
        <p:spPr>
          <a:xfrm>
            <a:off x="8363966" y="4589780"/>
            <a:ext cx="3193415" cy="2004949"/>
          </a:xfrm>
          <a:prstGeom prst="rect">
            <a:avLst/>
          </a:prstGeom>
          <a:noFill/>
          <a:ln/>
        </p:spPr>
        <p:txBody>
          <a:bodyPr wrap="square" lIns="0" tIns="0" rIns="0" bIns="0" rtlCol="0" anchor="t"/>
          <a:lstStyle/>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设计并实现缓存、降级、熔断等机制，保障核心链路可用性，避免级联故障。</a:t>
            </a:r>
            <a:endParaRPr lang="en-US" sz="2130" dirty="0"/>
          </a:p>
        </p:txBody>
      </p:sp>
      <p:sp>
        <p:nvSpPr>
          <p:cNvPr id="21" name="Text 18"/>
          <p:cNvSpPr/>
          <p:nvPr/>
        </p:nvSpPr>
        <p:spPr>
          <a:xfrm>
            <a:off x="8363966" y="3426333"/>
            <a:ext cx="3193415" cy="1063244"/>
          </a:xfrm>
          <a:prstGeom prst="rect">
            <a:avLst/>
          </a:prstGeom>
          <a:noFill/>
          <a:ln/>
        </p:spPr>
        <p:txBody>
          <a:bodyPr wrap="square" lIns="0" tIns="0" rIns="0" bIns="0" rtlCol="0" anchor="b"/>
          <a:lstStyle/>
          <a:p>
            <a:pPr algn="l">
              <a:lnSpc>
                <a:spcPct val="130000"/>
              </a:lnSpc>
            </a:pPr>
            <a:r>
              <a:rPr lang="en-US" sz="2400" b="1" dirty="0">
                <a:solidFill>
                  <a:srgbClr val="FFFFFF"/>
                </a:solidFill>
                <a:latin typeface="汉仪行楷简" pitchFamily="34" charset="0"/>
                <a:ea typeface="汉仪行楷简" pitchFamily="34" charset="-122"/>
                <a:cs typeface="汉仪行楷简" pitchFamily="34" charset="-120"/>
              </a:rPr>
              <a:t>并发控制与</a:t>
            </a:r>
            <a:endParaRPr lang="en-US" sz="2400" dirty="0"/>
          </a:p>
          <a:p>
            <a:pPr algn="l">
              <a:lnSpc>
                <a:spcPct val="130000"/>
              </a:lnSpc>
            </a:pPr>
            <a:r>
              <a:rPr lang="en-US" sz="2400" b="1" dirty="0">
                <a:solidFill>
                  <a:srgbClr val="FFFFFF"/>
                </a:solidFill>
                <a:latin typeface="汉仪行楷简" pitchFamily="34" charset="0"/>
                <a:ea typeface="汉仪行楷简" pitchFamily="34" charset="-122"/>
                <a:cs typeface="汉仪行楷简" pitchFamily="34" charset="-120"/>
              </a:rPr>
              <a:t>多 Provider 路由</a:t>
            </a:r>
            <a:endParaRPr lang="en-US" sz="2400" dirty="0"/>
          </a:p>
        </p:txBody>
      </p:sp>
      <p:sp>
        <p:nvSpPr>
          <p:cNvPr id="22" name="Shape 19"/>
          <p:cNvSpPr/>
          <p:nvPr/>
        </p:nvSpPr>
        <p:spPr>
          <a:xfrm>
            <a:off x="12997180" y="1625600"/>
            <a:ext cx="1257935" cy="1257935"/>
          </a:xfrm>
          <a:prstGeom prst="ellipse">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23" name="Text 20"/>
          <p:cNvSpPr/>
          <p:nvPr/>
        </p:nvSpPr>
        <p:spPr>
          <a:xfrm>
            <a:off x="12997180" y="1625600"/>
            <a:ext cx="1257935" cy="1257935"/>
          </a:xfrm>
          <a:prstGeom prst="rect">
            <a:avLst/>
          </a:prstGeom>
          <a:noFill/>
          <a:ln/>
        </p:spPr>
        <p:txBody>
          <a:bodyPr wrap="none" lIns="0" tIns="0" rIns="0" bIns="0" rtlCol="0" anchor="ctr"/>
          <a:lstStyle/>
          <a:p>
            <a:pPr algn="ctr">
              <a:lnSpc>
                <a:spcPct val="120000"/>
              </a:lnSpc>
            </a:pPr>
            <a:r>
              <a:rPr lang="en-US" sz="3200" b="1" dirty="0">
                <a:solidFill>
                  <a:srgbClr val="FFFFFF"/>
                </a:solidFill>
                <a:latin typeface="Arial" pitchFamily="34" charset="0"/>
                <a:ea typeface="Arial" pitchFamily="34" charset="-122"/>
                <a:cs typeface="Arial" pitchFamily="34" charset="-120"/>
              </a:rPr>
              <a:t>04</a:t>
            </a:r>
            <a:endParaRPr lang="en-US" sz="3200" dirty="0"/>
          </a:p>
        </p:txBody>
      </p:sp>
      <p:sp>
        <p:nvSpPr>
          <p:cNvPr id="24" name="Shape 21"/>
          <p:cNvSpPr/>
          <p:nvPr/>
        </p:nvSpPr>
        <p:spPr>
          <a:xfrm>
            <a:off x="11885295" y="3326257"/>
            <a:ext cx="3481705" cy="4192143"/>
          </a:xfrm>
          <a:prstGeom prst="roundRect">
            <a:avLst>
              <a:gd name="adj" fmla="val 3242"/>
            </a:avLst>
          </a:prstGeom>
          <a:gradFill flip="none" rotWithShape="1">
            <a:gsLst>
              <a:gs pos="0">
                <a:srgbClr val="DAAB00"/>
              </a:gs>
              <a:gs pos="100000">
                <a:srgbClr val="F8931D"/>
              </a:gs>
            </a:gsLst>
            <a:lin ang="2700000" scaled="1"/>
          </a:gradFill>
          <a:ln w="12700">
            <a:solidFill>
              <a:srgbClr val="000000"/>
            </a:solidFill>
            <a:prstDash val="solid"/>
          </a:ln>
        </p:spPr>
        <p:txBody>
          <a:bodyPr/>
          <a:lstStyle/>
          <a:p>
            <a:endParaRPr lang="zh-CN" altLang="en-US"/>
          </a:p>
        </p:txBody>
      </p:sp>
      <p:sp>
        <p:nvSpPr>
          <p:cNvPr id="25" name="Text 22"/>
          <p:cNvSpPr/>
          <p:nvPr/>
        </p:nvSpPr>
        <p:spPr>
          <a:xfrm>
            <a:off x="12050141" y="4572000"/>
            <a:ext cx="3193415" cy="2004949"/>
          </a:xfrm>
          <a:prstGeom prst="rect">
            <a:avLst/>
          </a:prstGeom>
          <a:noFill/>
          <a:ln/>
        </p:spPr>
        <p:txBody>
          <a:bodyPr wrap="square" lIns="0" tIns="0" rIns="0" bIns="0" rtlCol="0" anchor="t"/>
          <a:lstStyle/>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当 LLM 超时、失败或不可用时，系统退化为默认中性约束</a:t>
            </a:r>
            <a:endParaRPr lang="en-US" sz="2130" dirty="0"/>
          </a:p>
          <a:p>
            <a:pPr algn="l">
              <a:lnSpc>
                <a:spcPct val="120000"/>
              </a:lnSpc>
            </a:pPr>
            <a:r>
              <a:rPr lang="en-US" sz="2130" dirty="0">
                <a:solidFill>
                  <a:srgbClr val="FFFFFF"/>
                </a:solidFill>
                <a:latin typeface="黑体" panose="02010609060101010101" pitchFamily="49" charset="-122"/>
                <a:ea typeface="黑体" panose="02010609060101010101" pitchFamily="49" charset="-122"/>
                <a:cs typeface="思源黑体 CN Regular" pitchFamily="34" charset="-120"/>
              </a:rPr>
              <a:t>保证即使 AI 不可用，推荐服务仍然可返回结果</a:t>
            </a:r>
            <a:endParaRPr lang="en-US" sz="2130" dirty="0"/>
          </a:p>
        </p:txBody>
      </p:sp>
      <p:sp>
        <p:nvSpPr>
          <p:cNvPr id="26" name="Text 23"/>
          <p:cNvSpPr/>
          <p:nvPr/>
        </p:nvSpPr>
        <p:spPr>
          <a:xfrm>
            <a:off x="12029440" y="3426333"/>
            <a:ext cx="3193415" cy="707898"/>
          </a:xfrm>
          <a:prstGeom prst="rect">
            <a:avLst/>
          </a:prstGeom>
          <a:noFill/>
          <a:ln/>
        </p:spPr>
        <p:txBody>
          <a:bodyPr wrap="square" lIns="0" tIns="0" rIns="0" bIns="0" rtlCol="0" anchor="b"/>
          <a:lstStyle/>
          <a:p>
            <a:pPr algn="l">
              <a:lnSpc>
                <a:spcPct val="120000"/>
              </a:lnSpc>
            </a:pPr>
            <a:r>
              <a:rPr lang="en-US" sz="2400" b="1" dirty="0">
                <a:solidFill>
                  <a:srgbClr val="FFFFFF"/>
                </a:solidFill>
                <a:latin typeface="汉仪行楷简" pitchFamily="34" charset="0"/>
                <a:ea typeface="汉仪行楷简" pitchFamily="34" charset="-122"/>
                <a:cs typeface="汉仪行楷简" pitchFamily="34" charset="-120"/>
              </a:rPr>
              <a:t>失败降级与容错</a:t>
            </a:r>
            <a:endParaRPr lang="en-US" sz="2400" dirty="0"/>
          </a:p>
        </p:txBody>
      </p:sp>
      <p:sp>
        <p:nvSpPr>
          <p:cNvPr id="27" name="Text 24"/>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解决方案</a:t>
            </a:r>
            <a:endParaRPr lang="en-US" sz="373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Text 1"/>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推荐结果缓存机制：基于Redis 的推荐结果缓存优化</a:t>
            </a:r>
            <a:endParaRPr lang="en-US" sz="3730" dirty="0"/>
          </a:p>
        </p:txBody>
      </p:sp>
      <p:sp>
        <p:nvSpPr>
          <p:cNvPr id="5" name="Text 2"/>
          <p:cNvSpPr/>
          <p:nvPr/>
        </p:nvSpPr>
        <p:spPr>
          <a:xfrm>
            <a:off x="880491" y="6162548"/>
            <a:ext cx="12005691" cy="1805686"/>
          </a:xfrm>
          <a:prstGeom prst="rect">
            <a:avLst/>
          </a:prstGeom>
          <a:noFill/>
          <a:ln/>
        </p:spPr>
        <p:txBody>
          <a:bodyPr wrap="square" lIns="0" tIns="0" rIns="0" bIns="0" rtlCol="0" anchor="t"/>
          <a:lstStyle/>
          <a:p>
            <a:pPr algn="l">
              <a:lnSpc>
                <a:spcPct val="120000"/>
              </a:lnSpc>
            </a:pPr>
            <a:r>
              <a:rPr lang="en-US" sz="2400" b="1" dirty="0">
                <a:solidFill>
                  <a:srgbClr val="000000"/>
                </a:solidFill>
                <a:latin typeface="Segoe WPC" pitchFamily="34" charset="0"/>
                <a:ea typeface="Segoe WPC" pitchFamily="34" charset="-122"/>
                <a:cs typeface="Segoe WPC" pitchFamily="34" charset="-120"/>
              </a:rPr>
              <a:t>优化效果：</a:t>
            </a:r>
            <a:endParaRPr lang="en-US" sz="2400" dirty="0"/>
          </a:p>
          <a:p>
            <a:pPr marL="592138" indent="-592138" algn="l">
              <a:lnSpc>
                <a:spcPct val="120000"/>
              </a:lnSpc>
              <a:spcBef>
                <a:spcPts val="10"/>
              </a:spcBef>
              <a:buSzPct val="100000"/>
              <a:buChar char="•"/>
            </a:pPr>
            <a:r>
              <a:rPr lang="en-US" sz="2400" dirty="0">
                <a:solidFill>
                  <a:srgbClr val="000000"/>
                </a:solidFill>
                <a:latin typeface="Segoe WPC" pitchFamily="34" charset="0"/>
                <a:ea typeface="Segoe WPC" pitchFamily="34" charset="-122"/>
                <a:cs typeface="Segoe WPC" pitchFamily="34" charset="-120"/>
              </a:rPr>
              <a:t>相同请求可直接返回推荐结果，显著缩短响应时间。</a:t>
            </a:r>
            <a:endParaRPr lang="en-US" sz="2400" dirty="0"/>
          </a:p>
          <a:p>
            <a:pPr marL="592138" indent="-592138" algn="l">
              <a:lnSpc>
                <a:spcPct val="120000"/>
              </a:lnSpc>
              <a:spcBef>
                <a:spcPts val="10"/>
              </a:spcBef>
              <a:buSzPct val="100000"/>
              <a:buChar char="•"/>
            </a:pPr>
            <a:r>
              <a:rPr lang="en-US" sz="2400" dirty="0">
                <a:solidFill>
                  <a:srgbClr val="000000"/>
                </a:solidFill>
                <a:latin typeface="Segoe WPC" pitchFamily="34" charset="0"/>
                <a:ea typeface="Segoe WPC" pitchFamily="34" charset="-122"/>
                <a:cs typeface="Segoe WPC" pitchFamily="34" charset="-120"/>
              </a:rPr>
              <a:t>避免重复执行推荐算法与解释生成流程。</a:t>
            </a:r>
            <a:endParaRPr lang="en-US" sz="2400" dirty="0"/>
          </a:p>
          <a:p>
            <a:pPr marL="592138" indent="-592138" algn="l">
              <a:lnSpc>
                <a:spcPct val="120000"/>
              </a:lnSpc>
              <a:spcBef>
                <a:spcPts val="10"/>
              </a:spcBef>
              <a:buSzPct val="100000"/>
              <a:buChar char="•"/>
            </a:pPr>
            <a:r>
              <a:rPr lang="en-US" sz="2400" dirty="0">
                <a:solidFill>
                  <a:srgbClr val="000000"/>
                </a:solidFill>
                <a:latin typeface="Segoe WPC" pitchFamily="34" charset="0"/>
                <a:ea typeface="Segoe WPC" pitchFamily="34" charset="-122"/>
                <a:cs typeface="Segoe WPC" pitchFamily="34" charset="-120"/>
              </a:rPr>
              <a:t>降低服务器资源消耗，提升高并发场景下的吞吐能力与稳定性</a:t>
            </a:r>
            <a:endParaRPr lang="en-US" sz="2400" dirty="0"/>
          </a:p>
        </p:txBody>
      </p:sp>
      <p:sp>
        <p:nvSpPr>
          <p:cNvPr id="6" name="Shape 3"/>
          <p:cNvSpPr/>
          <p:nvPr/>
        </p:nvSpPr>
        <p:spPr>
          <a:xfrm>
            <a:off x="767842" y="1666875"/>
            <a:ext cx="7145909" cy="4193286"/>
          </a:xfrm>
          <a:prstGeom prst="roundRect">
            <a:avLst>
              <a:gd name="adj" fmla="val 16667"/>
            </a:avLst>
          </a:prstGeom>
          <a:solidFill>
            <a:srgbClr val="DAAB00"/>
          </a:solidFill>
          <a:ln w="12700">
            <a:solidFill>
              <a:srgbClr val="FFFFFF"/>
            </a:solidFill>
            <a:prstDash val="solid"/>
          </a:ln>
        </p:spPr>
        <p:txBody>
          <a:bodyPr/>
          <a:lstStyle/>
          <a:p>
            <a:endParaRPr lang="zh-CN" altLang="en-US"/>
          </a:p>
        </p:txBody>
      </p:sp>
      <p:sp>
        <p:nvSpPr>
          <p:cNvPr id="7" name="Text 4"/>
          <p:cNvSpPr/>
          <p:nvPr/>
        </p:nvSpPr>
        <p:spPr>
          <a:xfrm>
            <a:off x="1103305" y="1871599"/>
            <a:ext cx="6474981" cy="3783838"/>
          </a:xfrm>
          <a:prstGeom prst="rect">
            <a:avLst/>
          </a:prstGeom>
          <a:noFill/>
          <a:ln/>
        </p:spPr>
        <p:txBody>
          <a:bodyPr wrap="square" lIns="0" tIns="0" rIns="0" bIns="0" rtlCol="0" anchor="ctr"/>
          <a:lstStyle/>
          <a:p>
            <a:pPr algn="l">
              <a:lnSpc>
                <a:spcPct val="120000"/>
              </a:lnSpc>
            </a:pPr>
            <a:r>
              <a:rPr lang="en-US" sz="2000" b="1" dirty="0">
                <a:solidFill>
                  <a:srgbClr val="FFFFFF"/>
                </a:solidFill>
                <a:latin typeface="Segoe WPC" pitchFamily="34" charset="0"/>
                <a:ea typeface="Segoe WPC" pitchFamily="34" charset="-122"/>
                <a:cs typeface="Segoe WPC" pitchFamily="34" charset="-120"/>
              </a:rPr>
              <a:t>问题分析：</a:t>
            </a:r>
            <a:endParaRPr lang="en-US" sz="2000" dirty="0"/>
          </a:p>
          <a:p>
            <a:pPr marL="592138" indent="-592138" algn="l">
              <a:lnSpc>
                <a:spcPct val="120000"/>
              </a:lnSpc>
              <a:spcBef>
                <a:spcPts val="10"/>
              </a:spcBef>
              <a:buSzPct val="100000"/>
              <a:buChar char="•"/>
            </a:pPr>
            <a:r>
              <a:rPr lang="en-US" sz="2000" dirty="0">
                <a:solidFill>
                  <a:srgbClr val="FFFFFF"/>
                </a:solidFill>
                <a:latin typeface="Calibri" pitchFamily="34" charset="0"/>
                <a:ea typeface="Calibri" pitchFamily="34" charset="-122"/>
                <a:cs typeface="Calibri" pitchFamily="34" charset="-120"/>
              </a:rPr>
              <a:t>推荐接口链路较长，完整流程通常包括参数解析、候选获取、评分排序、解释生成等多个阶段。</a:t>
            </a:r>
            <a:endParaRPr lang="en-US" sz="2000" dirty="0"/>
          </a:p>
          <a:p>
            <a:pPr marL="592138" indent="-592138" algn="l">
              <a:lnSpc>
                <a:spcPct val="120000"/>
              </a:lnSpc>
              <a:spcBef>
                <a:spcPts val="10"/>
              </a:spcBef>
              <a:buSzPct val="100000"/>
              <a:buChar char="•"/>
            </a:pPr>
            <a:r>
              <a:rPr lang="en-US" sz="2000" dirty="0">
                <a:solidFill>
                  <a:srgbClr val="FFFFFF"/>
                </a:solidFill>
                <a:latin typeface="Calibri" pitchFamily="34" charset="0"/>
                <a:ea typeface="Calibri" pitchFamily="34" charset="-122"/>
                <a:cs typeface="Calibri" pitchFamily="34" charset="-120"/>
              </a:rPr>
              <a:t>当用户在短时间内重复查询相同位置、相同需求时，系统会重复执行推荐算法，造成不必要的计算开销。</a:t>
            </a:r>
            <a:endParaRPr lang="en-US" sz="2000" dirty="0"/>
          </a:p>
          <a:p>
            <a:pPr marL="592138" indent="-592138" algn="l">
              <a:lnSpc>
                <a:spcPct val="120000"/>
              </a:lnSpc>
              <a:spcBef>
                <a:spcPts val="10"/>
              </a:spcBef>
              <a:buSzPct val="100000"/>
              <a:buChar char="•"/>
            </a:pPr>
            <a:r>
              <a:rPr lang="en-US" sz="2000" dirty="0">
                <a:solidFill>
                  <a:srgbClr val="FFFFFF"/>
                </a:solidFill>
                <a:latin typeface="Calibri" pitchFamily="34" charset="0"/>
                <a:ea typeface="Calibri" pitchFamily="34" charset="-122"/>
                <a:cs typeface="Calibri" pitchFamily="34" charset="-120"/>
              </a:rPr>
              <a:t>若标准模式中还涉及 AI 解释生成，则重复请求会进一步放大延迟与资源消耗。</a:t>
            </a:r>
            <a:endParaRPr lang="en-US" sz="2000" dirty="0"/>
          </a:p>
          <a:p>
            <a:pPr algn="ctr">
              <a:lnSpc>
                <a:spcPct val="120000"/>
              </a:lnSpc>
            </a:pPr>
            <a:r>
              <a:rPr lang="en-US" sz="2000" dirty="0">
                <a:solidFill>
                  <a:srgbClr val="FFFFFF"/>
                </a:solidFill>
                <a:latin typeface="Segoe WPC" pitchFamily="34" charset="0"/>
                <a:ea typeface="Segoe WPC" pitchFamily="34" charset="-122"/>
                <a:cs typeface="Segoe WPC" pitchFamily="34" charset="-120"/>
              </a:rPr>
              <a:t> </a:t>
            </a:r>
            <a:endParaRPr lang="en-US" sz="2000" dirty="0"/>
          </a:p>
        </p:txBody>
      </p:sp>
      <p:sp>
        <p:nvSpPr>
          <p:cNvPr id="8" name="Shape 5"/>
          <p:cNvSpPr/>
          <p:nvPr/>
        </p:nvSpPr>
        <p:spPr>
          <a:xfrm>
            <a:off x="8387842" y="1666875"/>
            <a:ext cx="7145909" cy="4684395"/>
          </a:xfrm>
          <a:prstGeom prst="roundRect">
            <a:avLst>
              <a:gd name="adj" fmla="val 16667"/>
            </a:avLst>
          </a:prstGeom>
          <a:solidFill>
            <a:srgbClr val="DAAB00"/>
          </a:solidFill>
          <a:ln w="12700">
            <a:solidFill>
              <a:srgbClr val="FFFFFF"/>
            </a:solidFill>
            <a:prstDash val="solid"/>
          </a:ln>
        </p:spPr>
        <p:txBody>
          <a:bodyPr/>
          <a:lstStyle/>
          <a:p>
            <a:endParaRPr lang="zh-CN" altLang="en-US"/>
          </a:p>
        </p:txBody>
      </p:sp>
      <p:sp>
        <p:nvSpPr>
          <p:cNvPr id="9" name="Text 6"/>
          <p:cNvSpPr/>
          <p:nvPr/>
        </p:nvSpPr>
        <p:spPr>
          <a:xfrm>
            <a:off x="8807115" y="1997242"/>
            <a:ext cx="6498035" cy="4125428"/>
          </a:xfrm>
          <a:prstGeom prst="rect">
            <a:avLst/>
          </a:prstGeom>
          <a:noFill/>
          <a:ln/>
        </p:spPr>
        <p:txBody>
          <a:bodyPr wrap="square" lIns="0" tIns="0" rIns="0" bIns="0" rtlCol="0" anchor="ctr"/>
          <a:lstStyle/>
          <a:p>
            <a:pPr algn="l">
              <a:lnSpc>
                <a:spcPct val="120000"/>
              </a:lnSpc>
            </a:pPr>
            <a:r>
              <a:rPr lang="en-US" sz="2400" b="1" dirty="0">
                <a:solidFill>
                  <a:srgbClr val="FFFFFF"/>
                </a:solidFill>
                <a:latin typeface="Segoe WPC" pitchFamily="34" charset="0"/>
                <a:ea typeface="Segoe WPC" pitchFamily="34" charset="-122"/>
                <a:cs typeface="Segoe WPC" pitchFamily="34" charset="-120"/>
              </a:rPr>
              <a:t>解决方案：</a:t>
            </a:r>
            <a:endParaRPr lang="en-US" sz="2400" dirty="0"/>
          </a:p>
          <a:p>
            <a:pPr marL="592138" indent="-592138" algn="l">
              <a:lnSpc>
                <a:spcPct val="120000"/>
              </a:lnSpc>
              <a:spcBef>
                <a:spcPts val="10"/>
              </a:spcBef>
              <a:buSzPct val="100000"/>
              <a:buChar char="•"/>
            </a:pPr>
            <a:r>
              <a:rPr lang="en-US" sz="2400" dirty="0">
                <a:solidFill>
                  <a:srgbClr val="FFFFFF"/>
                </a:solidFill>
                <a:latin typeface="Segoe WPC" pitchFamily="34" charset="0"/>
                <a:ea typeface="Segoe WPC" pitchFamily="34" charset="-122"/>
                <a:cs typeface="Segoe WPC" pitchFamily="34" charset="-120"/>
              </a:rPr>
              <a:t>以“用户位置 + 查询条件”构造缓存键 </a:t>
            </a:r>
            <a:r>
              <a:rPr lang="en-US" sz="2400" dirty="0">
                <a:solidFill>
                  <a:srgbClr val="FFFFFF"/>
                </a:solidFill>
                <a:latin typeface="var(--font-mono)" pitchFamily="34" charset="0"/>
                <a:ea typeface="var(--font-mono)" pitchFamily="34" charset="-122"/>
                <a:cs typeface="var(--font-mono)" pitchFamily="34" charset="-120"/>
              </a:rPr>
              <a:t>cache_key</a:t>
            </a:r>
            <a:r>
              <a:rPr lang="en-US" sz="2400" dirty="0">
                <a:solidFill>
                  <a:srgbClr val="FFFFFF"/>
                </a:solidFill>
                <a:latin typeface="Segoe WPC" pitchFamily="34" charset="0"/>
                <a:ea typeface="Segoe WPC" pitchFamily="34" charset="-122"/>
                <a:cs typeface="Segoe WPC" pitchFamily="34" charset="-120"/>
              </a:rPr>
              <a:t>。</a:t>
            </a:r>
            <a:endParaRPr lang="en-US" sz="2400" dirty="0"/>
          </a:p>
          <a:p>
            <a:pPr marL="592138" indent="-592138" algn="l">
              <a:lnSpc>
                <a:spcPct val="120000"/>
              </a:lnSpc>
              <a:spcBef>
                <a:spcPts val="10"/>
              </a:spcBef>
              <a:buSzPct val="100000"/>
              <a:buChar char="•"/>
            </a:pPr>
            <a:r>
              <a:rPr lang="en-US" sz="2400" dirty="0">
                <a:solidFill>
                  <a:srgbClr val="FFFFFF"/>
                </a:solidFill>
                <a:latin typeface="Segoe WPC" pitchFamily="34" charset="0"/>
                <a:ea typeface="Segoe WPC" pitchFamily="34" charset="-122"/>
                <a:cs typeface="Segoe WPC" pitchFamily="34" charset="-120"/>
              </a:rPr>
              <a:t>推荐开始前优先查询 Redis：</a:t>
            </a:r>
            <a:endParaRPr lang="en-US" sz="2400" dirty="0"/>
          </a:p>
          <a:p>
            <a:pPr marL="592138" indent="-592138" algn="l">
              <a:lnSpc>
                <a:spcPct val="120000"/>
              </a:lnSpc>
              <a:spcBef>
                <a:spcPts val="10"/>
              </a:spcBef>
              <a:buSzPct val="100000"/>
              <a:buChar char="•"/>
            </a:pPr>
            <a:r>
              <a:rPr lang="en-US" sz="2400" dirty="0">
                <a:solidFill>
                  <a:srgbClr val="FFFFFF"/>
                </a:solidFill>
                <a:latin typeface="Segoe WPC" pitchFamily="34" charset="0"/>
                <a:ea typeface="Segoe WPC" pitchFamily="34" charset="-122"/>
                <a:cs typeface="Segoe WPC" pitchFamily="34" charset="-120"/>
              </a:rPr>
              <a:t>命中：直接返回缓存结果</a:t>
            </a:r>
            <a:endParaRPr lang="en-US" sz="2400" dirty="0"/>
          </a:p>
          <a:p>
            <a:pPr marL="592138" indent="-592138" algn="l">
              <a:lnSpc>
                <a:spcPct val="120000"/>
              </a:lnSpc>
              <a:spcBef>
                <a:spcPts val="10"/>
              </a:spcBef>
              <a:buSzPct val="100000"/>
              <a:buChar char="•"/>
            </a:pPr>
            <a:r>
              <a:rPr lang="en-US" sz="2400" dirty="0">
                <a:solidFill>
                  <a:srgbClr val="FFFFFF"/>
                </a:solidFill>
                <a:latin typeface="Segoe WPC" pitchFamily="34" charset="0"/>
                <a:ea typeface="Segoe WPC" pitchFamily="34" charset="-122"/>
                <a:cs typeface="Segoe WPC" pitchFamily="34" charset="-120"/>
              </a:rPr>
              <a:t>未命中：继续执行推荐流程，并将结果写入 Redis</a:t>
            </a:r>
            <a:endParaRPr lang="en-US" sz="2400" dirty="0"/>
          </a:p>
          <a:p>
            <a:pPr marL="592138" indent="-592138" algn="l">
              <a:lnSpc>
                <a:spcPct val="120000"/>
              </a:lnSpc>
              <a:spcBef>
                <a:spcPts val="10"/>
              </a:spcBef>
              <a:buSzPct val="100000"/>
              <a:buChar char="•"/>
            </a:pPr>
            <a:r>
              <a:rPr lang="en-US" sz="2400" dirty="0">
                <a:solidFill>
                  <a:srgbClr val="FFFFFF"/>
                </a:solidFill>
                <a:latin typeface="Segoe WPC" pitchFamily="34" charset="0"/>
                <a:ea typeface="Segoe WPC" pitchFamily="34" charset="-122"/>
                <a:cs typeface="Segoe WPC" pitchFamily="34" charset="-120"/>
              </a:rPr>
              <a:t>命中缓存后可跳过重复计算，减少后端 CPU 消耗与外部依赖调用压力。</a:t>
            </a:r>
            <a:endParaRPr lang="en-US" sz="2400" dirty="0"/>
          </a:p>
          <a:p>
            <a:pPr algn="l">
              <a:lnSpc>
                <a:spcPct val="120000"/>
              </a:lnSpc>
            </a:pPr>
            <a:r>
              <a:rPr lang="en-US" sz="2400" dirty="0">
                <a:solidFill>
                  <a:srgbClr val="FFFFFF"/>
                </a:solidFill>
                <a:latin typeface="Segoe WPC" pitchFamily="34" charset="0"/>
                <a:ea typeface="Segoe WPC" pitchFamily="34" charset="-122"/>
                <a:cs typeface="Segoe WPC" pitchFamily="34" charset="-120"/>
              </a:rPr>
              <a:t> </a:t>
            </a:r>
            <a:endParaRPr lang="en-US" sz="24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Text 1"/>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高德餐馆数据缓存机制</a:t>
            </a:r>
            <a:endParaRPr lang="en-US" sz="3730" dirty="0"/>
          </a:p>
        </p:txBody>
      </p:sp>
      <p:sp>
        <p:nvSpPr>
          <p:cNvPr id="5" name="Text 2"/>
          <p:cNvSpPr/>
          <p:nvPr/>
        </p:nvSpPr>
        <p:spPr>
          <a:xfrm>
            <a:off x="914400" y="5708904"/>
            <a:ext cx="12005691" cy="2175002"/>
          </a:xfrm>
          <a:prstGeom prst="rect">
            <a:avLst/>
          </a:prstGeom>
          <a:noFill/>
          <a:ln/>
        </p:spPr>
        <p:txBody>
          <a:bodyPr wrap="square" lIns="0" tIns="0" rIns="0" bIns="0" rtlCol="0" anchor="t"/>
          <a:lstStyle/>
          <a:p>
            <a:pPr algn="l">
              <a:lnSpc>
                <a:spcPct val="120000"/>
              </a:lnSpc>
            </a:pPr>
            <a:r>
              <a:rPr lang="en-US" sz="2400" b="1" dirty="0">
                <a:solidFill>
                  <a:srgbClr val="000000"/>
                </a:solidFill>
                <a:latin typeface="Segoe WPC" pitchFamily="34" charset="0"/>
                <a:ea typeface="Segoe WPC" pitchFamily="34" charset="-122"/>
                <a:cs typeface="Segoe WPC" pitchFamily="34" charset="-120"/>
              </a:rPr>
              <a:t>优化效果：</a:t>
            </a:r>
            <a:endParaRPr lang="en-US" sz="2400" dirty="0"/>
          </a:p>
          <a:p>
            <a:pPr marL="592138" indent="-592138" algn="l">
              <a:lnSpc>
                <a:spcPct val="120000"/>
              </a:lnSpc>
              <a:spcBef>
                <a:spcPts val="10"/>
              </a:spcBef>
              <a:buSzPct val="100000"/>
              <a:buChar char="•"/>
            </a:pPr>
            <a:r>
              <a:rPr lang="en-US" sz="2400" dirty="0">
                <a:solidFill>
                  <a:srgbClr val="000000"/>
                </a:solidFill>
                <a:latin typeface="Segoe WPC" pitchFamily="34" charset="0"/>
                <a:ea typeface="Segoe WPC" pitchFamily="34" charset="-122"/>
                <a:cs typeface="Segoe WPC" pitchFamily="34" charset="-120"/>
              </a:rPr>
              <a:t>显著减少高德 API 的重复调用次数。</a:t>
            </a:r>
            <a:endParaRPr lang="en-US" sz="2400" dirty="0"/>
          </a:p>
          <a:p>
            <a:pPr marL="592138" indent="-592138" algn="l">
              <a:lnSpc>
                <a:spcPct val="120000"/>
              </a:lnSpc>
              <a:spcBef>
                <a:spcPts val="10"/>
              </a:spcBef>
              <a:buSzPct val="100000"/>
              <a:buChar char="•"/>
            </a:pPr>
            <a:r>
              <a:rPr lang="en-US" sz="2400" dirty="0">
                <a:solidFill>
                  <a:srgbClr val="000000"/>
                </a:solidFill>
                <a:latin typeface="Segoe WPC" pitchFamily="34" charset="0"/>
                <a:ea typeface="Segoe WPC" pitchFamily="34" charset="-122"/>
                <a:cs typeface="Segoe WPC" pitchFamily="34" charset="-120"/>
              </a:rPr>
              <a:t>将大量请求拦截在系统内部，降低对外部接口的依赖程度。</a:t>
            </a:r>
            <a:endParaRPr lang="en-US" sz="2400" dirty="0"/>
          </a:p>
          <a:p>
            <a:pPr marL="592138" indent="-592138" algn="l">
              <a:lnSpc>
                <a:spcPct val="120000"/>
              </a:lnSpc>
              <a:spcBef>
                <a:spcPts val="10"/>
              </a:spcBef>
              <a:buSzPct val="100000"/>
              <a:buChar char="•"/>
            </a:pPr>
            <a:r>
              <a:rPr lang="en-US" sz="2400" dirty="0">
                <a:solidFill>
                  <a:srgbClr val="000000"/>
                </a:solidFill>
                <a:latin typeface="Segoe WPC" pitchFamily="34" charset="0"/>
                <a:ea typeface="Segoe WPC" pitchFamily="34" charset="-122"/>
                <a:cs typeface="Segoe WPC" pitchFamily="34" charset="-120"/>
              </a:rPr>
              <a:t>缩短附近餐馆获取时间，提升推荐链路整体响应速度。</a:t>
            </a:r>
            <a:endParaRPr lang="en-US" sz="2400" dirty="0"/>
          </a:p>
          <a:p>
            <a:pPr marL="592138" indent="-592138" algn="l">
              <a:lnSpc>
                <a:spcPct val="120000"/>
              </a:lnSpc>
              <a:spcBef>
                <a:spcPts val="10"/>
              </a:spcBef>
              <a:buSzPct val="100000"/>
              <a:buChar char="•"/>
            </a:pPr>
            <a:r>
              <a:rPr lang="en-US" sz="2400" dirty="0">
                <a:solidFill>
                  <a:srgbClr val="000000"/>
                </a:solidFill>
                <a:latin typeface="Segoe WPC" pitchFamily="34" charset="0"/>
                <a:ea typeface="Segoe WPC" pitchFamily="34" charset="-122"/>
                <a:cs typeface="Segoe WPC" pitchFamily="34" charset="-120"/>
              </a:rPr>
              <a:t>在第三方接口波动或限流时，缓存结果仍可提升系统可用性。</a:t>
            </a:r>
            <a:endParaRPr lang="en-US" sz="2400" dirty="0"/>
          </a:p>
        </p:txBody>
      </p:sp>
      <p:sp>
        <p:nvSpPr>
          <p:cNvPr id="6" name="Shape 3"/>
          <p:cNvSpPr/>
          <p:nvPr/>
        </p:nvSpPr>
        <p:spPr>
          <a:xfrm>
            <a:off x="767842" y="1666875"/>
            <a:ext cx="7145909" cy="3514725"/>
          </a:xfrm>
          <a:prstGeom prst="roundRect">
            <a:avLst>
              <a:gd name="adj" fmla="val 16667"/>
            </a:avLst>
          </a:prstGeom>
          <a:solidFill>
            <a:srgbClr val="DAAB00"/>
          </a:solidFill>
          <a:ln w="12700">
            <a:solidFill>
              <a:srgbClr val="FFFFFF"/>
            </a:solidFill>
            <a:prstDash val="solid"/>
          </a:ln>
        </p:spPr>
        <p:txBody>
          <a:bodyPr/>
          <a:lstStyle/>
          <a:p>
            <a:endParaRPr lang="zh-CN" altLang="en-US"/>
          </a:p>
        </p:txBody>
      </p:sp>
      <p:sp>
        <p:nvSpPr>
          <p:cNvPr id="7" name="Text 4"/>
          <p:cNvSpPr/>
          <p:nvPr/>
        </p:nvSpPr>
        <p:spPr>
          <a:xfrm>
            <a:off x="939419" y="1838452"/>
            <a:ext cx="6802755" cy="3171571"/>
          </a:xfrm>
          <a:prstGeom prst="rect">
            <a:avLst/>
          </a:prstGeom>
          <a:noFill/>
          <a:ln/>
        </p:spPr>
        <p:txBody>
          <a:bodyPr wrap="square" lIns="0" tIns="0" rIns="0" bIns="0" rtlCol="0" anchor="ctr"/>
          <a:lstStyle/>
          <a:p>
            <a:pPr algn="l">
              <a:lnSpc>
                <a:spcPct val="120000"/>
              </a:lnSpc>
            </a:pPr>
            <a:r>
              <a:rPr lang="en-US" sz="2000" b="1" dirty="0">
                <a:solidFill>
                  <a:srgbClr val="FFFFFF"/>
                </a:solidFill>
                <a:latin typeface="Segoe WPC" pitchFamily="34" charset="0"/>
                <a:ea typeface="Segoe WPC" pitchFamily="34" charset="-122"/>
                <a:cs typeface="Segoe WPC" pitchFamily="34" charset="-120"/>
              </a:rPr>
              <a:t>问题分析：</a:t>
            </a:r>
            <a:endParaRPr lang="en-US" sz="2000" dirty="0"/>
          </a:p>
          <a:p>
            <a:pPr marL="592138" indent="-592138" algn="l">
              <a:lnSpc>
                <a:spcPct val="120000"/>
              </a:lnSpc>
              <a:spcBef>
                <a:spcPts val="10"/>
              </a:spcBef>
              <a:buSzPct val="100000"/>
              <a:buChar char="•"/>
            </a:pPr>
            <a:r>
              <a:rPr lang="en-US" sz="2000" dirty="0">
                <a:solidFill>
                  <a:srgbClr val="FFFFFF"/>
                </a:solidFill>
                <a:latin typeface="Calibri" pitchFamily="34" charset="0"/>
                <a:ea typeface="Calibri" pitchFamily="34" charset="-122"/>
                <a:cs typeface="Calibri" pitchFamily="34" charset="-120"/>
              </a:rPr>
              <a:t>高德地图接口调用频繁时，网络请求延迟会直接影响推荐响应时间。</a:t>
            </a:r>
            <a:endParaRPr lang="en-US" sz="2000" dirty="0"/>
          </a:p>
          <a:p>
            <a:pPr marL="592138" indent="-592138" algn="l">
              <a:lnSpc>
                <a:spcPct val="120000"/>
              </a:lnSpc>
              <a:spcBef>
                <a:spcPts val="10"/>
              </a:spcBef>
              <a:buSzPct val="100000"/>
              <a:buChar char="•"/>
            </a:pPr>
            <a:r>
              <a:rPr lang="en-US" sz="2000" dirty="0">
                <a:solidFill>
                  <a:srgbClr val="FFFFFF"/>
                </a:solidFill>
                <a:latin typeface="Calibri" pitchFamily="34" charset="0"/>
                <a:ea typeface="Calibri" pitchFamily="34" charset="-122"/>
                <a:cs typeface="Calibri" pitchFamily="34" charset="-120"/>
              </a:rPr>
              <a:t>第三方 API 具有配额限制和不稳定性，频繁调用容易触发限流或失败。</a:t>
            </a:r>
            <a:endParaRPr lang="en-US" sz="2000" dirty="0"/>
          </a:p>
          <a:p>
            <a:pPr marL="592138" indent="-592138" algn="l">
              <a:lnSpc>
                <a:spcPct val="120000"/>
              </a:lnSpc>
              <a:spcBef>
                <a:spcPts val="10"/>
              </a:spcBef>
              <a:buSzPct val="100000"/>
              <a:buChar char="•"/>
            </a:pPr>
            <a:r>
              <a:rPr lang="en-US" sz="2000" dirty="0">
                <a:solidFill>
                  <a:srgbClr val="FFFFFF"/>
                </a:solidFill>
                <a:latin typeface="Calibri" pitchFamily="34" charset="0"/>
                <a:ea typeface="Calibri" pitchFamily="34" charset="-122"/>
                <a:cs typeface="Calibri" pitchFamily="34" charset="-120"/>
              </a:rPr>
              <a:t>如果每次请求都实时访问高德 API，系统性能和可用性都会受到外部依赖约束。</a:t>
            </a:r>
            <a:endParaRPr lang="en-US" sz="2000" dirty="0"/>
          </a:p>
        </p:txBody>
      </p:sp>
      <p:sp>
        <p:nvSpPr>
          <p:cNvPr id="8" name="Shape 5"/>
          <p:cNvSpPr/>
          <p:nvPr/>
        </p:nvSpPr>
        <p:spPr>
          <a:xfrm>
            <a:off x="8387842" y="1666875"/>
            <a:ext cx="7145909" cy="4495673"/>
          </a:xfrm>
          <a:prstGeom prst="roundRect">
            <a:avLst>
              <a:gd name="adj" fmla="val 16667"/>
            </a:avLst>
          </a:prstGeom>
          <a:solidFill>
            <a:srgbClr val="DAAB00"/>
          </a:solidFill>
          <a:ln w="12700">
            <a:solidFill>
              <a:srgbClr val="FFFFFF"/>
            </a:solidFill>
            <a:prstDash val="solid"/>
          </a:ln>
        </p:spPr>
        <p:txBody>
          <a:bodyPr/>
          <a:lstStyle/>
          <a:p>
            <a:endParaRPr lang="zh-CN" altLang="en-US"/>
          </a:p>
        </p:txBody>
      </p:sp>
      <p:sp>
        <p:nvSpPr>
          <p:cNvPr id="9" name="Text 6"/>
          <p:cNvSpPr/>
          <p:nvPr/>
        </p:nvSpPr>
        <p:spPr>
          <a:xfrm>
            <a:off x="8681593" y="1886331"/>
            <a:ext cx="6632702" cy="4056761"/>
          </a:xfrm>
          <a:prstGeom prst="rect">
            <a:avLst/>
          </a:prstGeom>
          <a:noFill/>
          <a:ln/>
        </p:spPr>
        <p:txBody>
          <a:bodyPr wrap="square" lIns="0" tIns="0" rIns="0" bIns="0" rtlCol="0" anchor="ctr"/>
          <a:lstStyle/>
          <a:p>
            <a:pPr algn="l">
              <a:lnSpc>
                <a:spcPct val="120000"/>
              </a:lnSpc>
            </a:pPr>
            <a:r>
              <a:rPr lang="en-US" sz="2000" b="1" dirty="0">
                <a:solidFill>
                  <a:srgbClr val="FFFFFF"/>
                </a:solidFill>
                <a:latin typeface="Segoe WPC" pitchFamily="34" charset="0"/>
                <a:ea typeface="Segoe WPC" pitchFamily="34" charset="-122"/>
                <a:cs typeface="Segoe WPC" pitchFamily="34" charset="-120"/>
              </a:rPr>
              <a:t>解决方案：</a:t>
            </a:r>
            <a:endParaRPr lang="en-US" sz="2000" dirty="0"/>
          </a:p>
          <a:p>
            <a:pPr marL="592138" indent="-592138" algn="l">
              <a:lnSpc>
                <a:spcPct val="120000"/>
              </a:lnSpc>
              <a:spcBef>
                <a:spcPts val="10"/>
              </a:spcBef>
              <a:buSzPct val="100000"/>
              <a:buChar char="•"/>
            </a:pPr>
            <a:r>
              <a:rPr lang="en-US" sz="2000" dirty="0">
                <a:solidFill>
                  <a:srgbClr val="FFFFFF"/>
                </a:solidFill>
                <a:latin typeface="Segoe WPC" pitchFamily="34" charset="0"/>
                <a:ea typeface="Segoe WPC" pitchFamily="34" charset="-122"/>
                <a:cs typeface="Segoe WPC" pitchFamily="34" charset="-120"/>
              </a:rPr>
              <a:t>对“附近餐馆列表”进行 Redis 缓存。</a:t>
            </a:r>
            <a:endParaRPr lang="en-US" sz="2000" dirty="0"/>
          </a:p>
          <a:p>
            <a:pPr marL="592138" indent="-592138" algn="l">
              <a:lnSpc>
                <a:spcPct val="120000"/>
              </a:lnSpc>
              <a:spcBef>
                <a:spcPts val="10"/>
              </a:spcBef>
              <a:buSzPct val="100000"/>
              <a:buChar char="•"/>
            </a:pPr>
            <a:r>
              <a:rPr lang="en-US" sz="2000" dirty="0">
                <a:solidFill>
                  <a:srgbClr val="FFFFFF"/>
                </a:solidFill>
                <a:latin typeface="Segoe WPC" pitchFamily="34" charset="0"/>
                <a:ea typeface="Segoe WPC" pitchFamily="34" charset="-122"/>
                <a:cs typeface="Segoe WPC" pitchFamily="34" charset="-120"/>
              </a:rPr>
              <a:t>用户请求到达后，优先访问 Redis：</a:t>
            </a:r>
            <a:endParaRPr lang="en-US" sz="2000" dirty="0"/>
          </a:p>
          <a:p>
            <a:pPr marL="592138" indent="-592138" algn="l">
              <a:lnSpc>
                <a:spcPct val="120000"/>
              </a:lnSpc>
              <a:spcBef>
                <a:spcPts val="10"/>
              </a:spcBef>
              <a:buSzPct val="100000"/>
              <a:buChar char="•"/>
            </a:pPr>
            <a:r>
              <a:rPr lang="en-US" sz="2000" dirty="0">
                <a:solidFill>
                  <a:srgbClr val="FFFFFF"/>
                </a:solidFill>
                <a:latin typeface="Segoe WPC" pitchFamily="34" charset="0"/>
                <a:ea typeface="Segoe WPC" pitchFamily="34" charset="-122"/>
                <a:cs typeface="Segoe WPC" pitchFamily="34" charset="-120"/>
              </a:rPr>
              <a:t>命中：直接返回缓存中的餐馆数据</a:t>
            </a:r>
            <a:endParaRPr lang="en-US" sz="2000" dirty="0"/>
          </a:p>
          <a:p>
            <a:pPr marL="592138" indent="-592138" algn="l">
              <a:lnSpc>
                <a:spcPct val="120000"/>
              </a:lnSpc>
              <a:spcBef>
                <a:spcPts val="10"/>
              </a:spcBef>
              <a:buSzPct val="100000"/>
              <a:buChar char="•"/>
            </a:pPr>
            <a:r>
              <a:rPr lang="en-US" sz="2000" dirty="0">
                <a:solidFill>
                  <a:srgbClr val="FFFFFF"/>
                </a:solidFill>
                <a:latin typeface="Segoe WPC" pitchFamily="34" charset="0"/>
                <a:ea typeface="Segoe WPC" pitchFamily="34" charset="-122"/>
                <a:cs typeface="Segoe WPC" pitchFamily="34" charset="-120"/>
              </a:rPr>
              <a:t>未命中：调用高德 API，获取结果后写入 Redis，再返回前端</a:t>
            </a:r>
            <a:endParaRPr lang="en-US" sz="2000" dirty="0"/>
          </a:p>
          <a:p>
            <a:pPr marL="592138" indent="-592138" algn="l">
              <a:lnSpc>
                <a:spcPct val="120000"/>
              </a:lnSpc>
              <a:spcBef>
                <a:spcPts val="10"/>
              </a:spcBef>
              <a:buSzPct val="100000"/>
              <a:buChar char="•"/>
            </a:pPr>
            <a:r>
              <a:rPr lang="en-US" sz="2000" dirty="0">
                <a:solidFill>
                  <a:srgbClr val="FFFFFF"/>
                </a:solidFill>
                <a:latin typeface="Segoe WPC" pitchFamily="34" charset="0"/>
                <a:ea typeface="Segoe WPC" pitchFamily="34" charset="-122"/>
                <a:cs typeface="Segoe WPC" pitchFamily="34" charset="-120"/>
              </a:rPr>
              <a:t>缓存键中包含经纬度、半径、分页大小、类型、关键词等参数，确保不同查询互不干扰。</a:t>
            </a:r>
            <a:endParaRPr lang="en-US" sz="2000" dirty="0"/>
          </a:p>
          <a:p>
            <a:pPr marL="592138" indent="-592138" algn="l">
              <a:lnSpc>
                <a:spcPct val="120000"/>
              </a:lnSpc>
              <a:spcBef>
                <a:spcPts val="10"/>
              </a:spcBef>
              <a:buSzPct val="100000"/>
              <a:buChar char="•"/>
            </a:pPr>
            <a:r>
              <a:rPr lang="en-US" sz="2000" dirty="0">
                <a:solidFill>
                  <a:srgbClr val="FFFFFF"/>
                </a:solidFill>
                <a:latin typeface="Segoe WPC" pitchFamily="34" charset="0"/>
                <a:ea typeface="Segoe WPC" pitchFamily="34" charset="-122"/>
                <a:cs typeface="Segoe WPC" pitchFamily="34" charset="-120"/>
              </a:rPr>
              <a:t>根据查询类型设置不同 TTL，兼顾数据新鲜度与缓存利用率。</a:t>
            </a:r>
            <a:endParaRPr lang="en-US" sz="20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3.png"/>
          <p:cNvPicPr>
            <a:picLocks noChangeAspect="1"/>
          </p:cNvPicPr>
          <p:nvPr/>
        </p:nvPicPr>
        <p:blipFill>
          <a:blip r:embed="rId3"/>
          <a:stretch>
            <a:fillRect/>
          </a:stretch>
        </p:blipFill>
        <p:spPr>
          <a:xfrm>
            <a:off x="-22098"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3</a:t>
            </a:r>
            <a:endParaRPr lang="en-US" sz="1330" dirty="0"/>
          </a:p>
        </p:txBody>
      </p:sp>
      <p:sp>
        <p:nvSpPr>
          <p:cNvPr id="4" name="Text 1"/>
          <p:cNvSpPr/>
          <p:nvPr/>
        </p:nvSpPr>
        <p:spPr>
          <a:xfrm>
            <a:off x="2500503" y="5481066"/>
            <a:ext cx="11254994" cy="1025906"/>
          </a:xfrm>
          <a:prstGeom prst="rect">
            <a:avLst/>
          </a:prstGeom>
          <a:noFill/>
          <a:ln/>
        </p:spPr>
        <p:txBody>
          <a:bodyPr wrap="square" lIns="0" tIns="0" rIns="0" bIns="0" rtlCol="0" anchor="ctr"/>
          <a:lstStyle/>
          <a:p>
            <a:pPr algn="ctr">
              <a:lnSpc>
                <a:spcPct val="120000"/>
              </a:lnSpc>
            </a:pPr>
            <a:r>
              <a:rPr lang="en-US" sz="5870" dirty="0">
                <a:solidFill>
                  <a:srgbClr val="000000"/>
                </a:solidFill>
                <a:latin typeface="汉仪行楷简" pitchFamily="34" charset="0"/>
                <a:ea typeface="汉仪行楷简" pitchFamily="34" charset="-122"/>
                <a:cs typeface="汉仪行楷简" pitchFamily="34" charset="-120"/>
              </a:rPr>
              <a:t>测试评估</a:t>
            </a:r>
            <a:endParaRPr lang="en-US" sz="587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Text 1"/>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性能测试：标准模式</a:t>
            </a:r>
            <a:endParaRPr lang="en-US" sz="3730" dirty="0"/>
          </a:p>
        </p:txBody>
      </p:sp>
      <p:pic>
        <p:nvPicPr>
          <p:cNvPr id="5" name="Image 1" descr="https://kimi-img.moonshot.cn/pub/slides/okc/mijziqmdxzd3g/mnt/agents/output/converted/images/image_5.png"/>
          <p:cNvPicPr>
            <a:picLocks noChangeAspect="1"/>
          </p:cNvPicPr>
          <p:nvPr/>
        </p:nvPicPr>
        <p:blipFill>
          <a:blip r:embed="rId4"/>
          <a:stretch>
            <a:fillRect/>
          </a:stretch>
        </p:blipFill>
        <p:spPr>
          <a:xfrm>
            <a:off x="2286000" y="1285875"/>
            <a:ext cx="11684000" cy="6572250"/>
          </a:xfrm>
          <a:prstGeom prst="rect">
            <a:avLst/>
          </a:prstGeom>
        </p:spPr>
      </p:pic>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Text 1"/>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性能测试：极速模式</a:t>
            </a:r>
            <a:endParaRPr lang="en-US" sz="3730" dirty="0"/>
          </a:p>
        </p:txBody>
      </p:sp>
      <p:pic>
        <p:nvPicPr>
          <p:cNvPr id="5" name="Image 1" descr="https://kimi-img.moonshot.cn/pub/slides/okc/mijziqmdxzd3g/mnt/agents/output/converted/images/image_6.png"/>
          <p:cNvPicPr>
            <a:picLocks noChangeAspect="1"/>
          </p:cNvPicPr>
          <p:nvPr/>
        </p:nvPicPr>
        <p:blipFill>
          <a:blip r:embed="rId4"/>
          <a:stretch>
            <a:fillRect/>
          </a:stretch>
        </p:blipFill>
        <p:spPr>
          <a:xfrm>
            <a:off x="2257806" y="1270000"/>
            <a:ext cx="11740388" cy="6604000"/>
          </a:xfrm>
          <a:prstGeom prst="rect">
            <a:avLst/>
          </a:prstGeom>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Shape 1"/>
          <p:cNvSpPr/>
          <p:nvPr/>
        </p:nvSpPr>
        <p:spPr>
          <a:xfrm flipV="1">
            <a:off x="1515618" y="4295902"/>
            <a:ext cx="2260727" cy="93218"/>
          </a:xfrm>
          <a:prstGeom prst="rect">
            <a:avLst/>
          </a:prstGeom>
          <a:solidFill>
            <a:srgbClr val="DAAB00"/>
          </a:solidFill>
          <a:ln/>
        </p:spPr>
        <p:txBody>
          <a:bodyPr/>
          <a:lstStyle/>
          <a:p>
            <a:endParaRPr lang="zh-CN" altLang="en-US"/>
          </a:p>
        </p:txBody>
      </p:sp>
      <p:sp>
        <p:nvSpPr>
          <p:cNvPr id="5" name="Text 2"/>
          <p:cNvSpPr/>
          <p:nvPr/>
        </p:nvSpPr>
        <p:spPr>
          <a:xfrm>
            <a:off x="1406017" y="3571367"/>
            <a:ext cx="1007745" cy="756793"/>
          </a:xfrm>
          <a:prstGeom prst="rect">
            <a:avLst/>
          </a:prstGeom>
          <a:noFill/>
          <a:ln/>
        </p:spPr>
        <p:txBody>
          <a:bodyPr wrap="none" lIns="0" tIns="0" rIns="0" bIns="0" rtlCol="0" anchor="ctr"/>
          <a:lstStyle/>
          <a:p>
            <a:pPr algn="l">
              <a:lnSpc>
                <a:spcPct val="120000"/>
              </a:lnSpc>
            </a:pPr>
            <a:r>
              <a:rPr lang="en-US" sz="3730" b="1" dirty="0">
                <a:solidFill>
                  <a:srgbClr val="000000"/>
                </a:solidFill>
                <a:latin typeface="Arial" pitchFamily="34" charset="0"/>
                <a:ea typeface="Arial" pitchFamily="34" charset="-122"/>
                <a:cs typeface="Arial" pitchFamily="34" charset="-120"/>
              </a:rPr>
              <a:t>01</a:t>
            </a:r>
            <a:endParaRPr lang="en-US" sz="3730" dirty="0"/>
          </a:p>
        </p:txBody>
      </p:sp>
      <p:sp>
        <p:nvSpPr>
          <p:cNvPr id="6" name="Text 3"/>
          <p:cNvSpPr/>
          <p:nvPr/>
        </p:nvSpPr>
        <p:spPr>
          <a:xfrm>
            <a:off x="2184146" y="3612007"/>
            <a:ext cx="1565275" cy="756793"/>
          </a:xfrm>
          <a:prstGeom prst="rect">
            <a:avLst/>
          </a:prstGeom>
          <a:noFill/>
          <a:ln/>
        </p:spPr>
        <p:txBody>
          <a:bodyPr wrap="square" lIns="0" tIns="0" rIns="0" bIns="0" rtlCol="0" anchor="ctr"/>
          <a:lstStyle/>
          <a:p>
            <a:pPr algn="l">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极速模式</a:t>
            </a:r>
            <a:endParaRPr lang="en-US" sz="2400" dirty="0"/>
          </a:p>
        </p:txBody>
      </p:sp>
      <p:sp>
        <p:nvSpPr>
          <p:cNvPr id="7" name="Text 4"/>
          <p:cNvSpPr/>
          <p:nvPr/>
        </p:nvSpPr>
        <p:spPr>
          <a:xfrm>
            <a:off x="1507236" y="4572000"/>
            <a:ext cx="2479421" cy="3543554"/>
          </a:xfrm>
          <a:prstGeom prst="rect">
            <a:avLst/>
          </a:prstGeom>
          <a:noFill/>
          <a:ln/>
        </p:spPr>
        <p:txBody>
          <a:bodyPr wrap="square" lIns="0" tIns="0" rIns="0" bIns="0" rtlCol="0" anchor="t"/>
          <a:lstStyle/>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60 秒总请求数：380</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成功率：100%</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平均响应时间：31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P50：28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P90：40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P95：51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P99：79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最大延迟：364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RPS：6.42</a:t>
            </a:r>
            <a:endParaRPr lang="en-US" sz="1870" dirty="0"/>
          </a:p>
        </p:txBody>
      </p:sp>
      <p:sp>
        <p:nvSpPr>
          <p:cNvPr id="8" name="Shape 5"/>
          <p:cNvSpPr/>
          <p:nvPr/>
        </p:nvSpPr>
        <p:spPr>
          <a:xfrm>
            <a:off x="4274693" y="4295902"/>
            <a:ext cx="2479421" cy="93218"/>
          </a:xfrm>
          <a:prstGeom prst="rect">
            <a:avLst/>
          </a:prstGeom>
          <a:solidFill>
            <a:srgbClr val="000000"/>
          </a:solidFill>
          <a:ln/>
        </p:spPr>
        <p:txBody>
          <a:bodyPr/>
          <a:lstStyle/>
          <a:p>
            <a:endParaRPr lang="zh-CN" altLang="en-US"/>
          </a:p>
        </p:txBody>
      </p:sp>
      <p:sp>
        <p:nvSpPr>
          <p:cNvPr id="9" name="Text 6"/>
          <p:cNvSpPr/>
          <p:nvPr/>
        </p:nvSpPr>
        <p:spPr>
          <a:xfrm>
            <a:off x="4128135" y="3612007"/>
            <a:ext cx="1007745" cy="756793"/>
          </a:xfrm>
          <a:prstGeom prst="rect">
            <a:avLst/>
          </a:prstGeom>
          <a:noFill/>
          <a:ln/>
        </p:spPr>
        <p:txBody>
          <a:bodyPr wrap="none" lIns="0" tIns="0" rIns="0" bIns="0" rtlCol="0" anchor="ctr"/>
          <a:lstStyle/>
          <a:p>
            <a:pPr algn="l">
              <a:lnSpc>
                <a:spcPct val="120000"/>
              </a:lnSpc>
            </a:pPr>
            <a:r>
              <a:rPr lang="en-US" sz="3730" b="1" dirty="0">
                <a:solidFill>
                  <a:srgbClr val="000000"/>
                </a:solidFill>
                <a:latin typeface="Arial" pitchFamily="34" charset="0"/>
                <a:ea typeface="Arial" pitchFamily="34" charset="-122"/>
                <a:cs typeface="Arial" pitchFamily="34" charset="-120"/>
              </a:rPr>
              <a:t>02</a:t>
            </a:r>
            <a:endParaRPr lang="en-US" sz="3730" dirty="0"/>
          </a:p>
        </p:txBody>
      </p:sp>
      <p:sp>
        <p:nvSpPr>
          <p:cNvPr id="10" name="Text 7"/>
          <p:cNvSpPr/>
          <p:nvPr/>
        </p:nvSpPr>
        <p:spPr>
          <a:xfrm>
            <a:off x="4978400" y="3652774"/>
            <a:ext cx="1735074" cy="756793"/>
          </a:xfrm>
          <a:prstGeom prst="rect">
            <a:avLst/>
          </a:prstGeom>
          <a:noFill/>
          <a:ln/>
        </p:spPr>
        <p:txBody>
          <a:bodyPr wrap="square" lIns="0" tIns="0" rIns="0" bIns="0" rtlCol="0" anchor="ctr"/>
          <a:lstStyle/>
          <a:p>
            <a:pPr algn="l">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标准模式</a:t>
            </a:r>
            <a:endParaRPr lang="en-US" sz="2400" dirty="0"/>
          </a:p>
        </p:txBody>
      </p:sp>
      <p:sp>
        <p:nvSpPr>
          <p:cNvPr id="11" name="Text 8"/>
          <p:cNvSpPr/>
          <p:nvPr/>
        </p:nvSpPr>
        <p:spPr>
          <a:xfrm>
            <a:off x="4274693" y="4555109"/>
            <a:ext cx="2735707" cy="3543554"/>
          </a:xfrm>
          <a:prstGeom prst="rect">
            <a:avLst/>
          </a:prstGeom>
          <a:noFill/>
          <a:ln/>
        </p:spPr>
        <p:txBody>
          <a:bodyPr wrap="square" lIns="0" tIns="0" rIns="0" bIns="0" rtlCol="0" anchor="t"/>
          <a:lstStyle/>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60 秒总请求数：63</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成功率：100%</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平均响应时间：6359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P50：4800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P90：12000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P95：13000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P99：18000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最大延迟：18386 ms</a:t>
            </a:r>
            <a:endParaRPr lang="en-US" sz="1870" dirty="0"/>
          </a:p>
          <a:p>
            <a:pPr marL="296863" indent="-296863" algn="l">
              <a:lnSpc>
                <a:spcPct val="120000"/>
              </a:lnSpc>
              <a:spcBef>
                <a:spcPts val="10"/>
              </a:spcBef>
              <a:buSzPct val="100000"/>
              <a:buChar char="•"/>
            </a:pPr>
            <a:r>
              <a:rPr lang="en-US" sz="1870" dirty="0">
                <a:solidFill>
                  <a:srgbClr val="000000"/>
                </a:solidFill>
                <a:latin typeface="Segoe WPC" pitchFamily="34" charset="0"/>
                <a:ea typeface="Segoe WPC" pitchFamily="34" charset="-122"/>
                <a:cs typeface="Segoe WPC" pitchFamily="34" charset="-120"/>
              </a:rPr>
              <a:t>RPS：1.23</a:t>
            </a:r>
            <a:endParaRPr lang="en-US" sz="1870" dirty="0"/>
          </a:p>
        </p:txBody>
      </p:sp>
      <p:sp>
        <p:nvSpPr>
          <p:cNvPr id="12" name="Text 9"/>
          <p:cNvSpPr/>
          <p:nvPr/>
        </p:nvSpPr>
        <p:spPr>
          <a:xfrm>
            <a:off x="1096518" y="1507109"/>
            <a:ext cx="14478000" cy="1778254"/>
          </a:xfrm>
          <a:prstGeom prst="rect">
            <a:avLst/>
          </a:prstGeom>
          <a:noFill/>
          <a:ln/>
        </p:spPr>
        <p:txBody>
          <a:bodyPr wrap="square" lIns="0" tIns="0" rIns="0" bIns="0" rtlCol="0" anchor="ctr"/>
          <a:lstStyle/>
          <a:p>
            <a:pPr algn="l">
              <a:lnSpc>
                <a:spcPct val="120000"/>
              </a:lnSpc>
            </a:pPr>
            <a:r>
              <a:rPr lang="en-US" sz="2400" b="1" dirty="0">
                <a:solidFill>
                  <a:srgbClr val="000000"/>
                </a:solidFill>
                <a:latin typeface="Segoe WPC" pitchFamily="34" charset="0"/>
                <a:ea typeface="Segoe WPC" pitchFamily="34" charset="-122"/>
                <a:cs typeface="Segoe WPC" pitchFamily="34" charset="-120"/>
              </a:rPr>
              <a:t>测试目标</a:t>
            </a:r>
            <a:endParaRPr lang="en-US" sz="2400" dirty="0"/>
          </a:p>
          <a:p>
            <a:pPr marL="508000" indent="-508000" algn="l">
              <a:lnSpc>
                <a:spcPct val="120000"/>
              </a:lnSpc>
              <a:spcBef>
                <a:spcPts val="10"/>
              </a:spcBef>
              <a:buSzPct val="100000"/>
              <a:buChar char="•"/>
            </a:pPr>
            <a:r>
              <a:rPr lang="en-US" sz="2400" dirty="0">
                <a:solidFill>
                  <a:srgbClr val="000000"/>
                </a:solidFill>
                <a:latin typeface="Segoe WPC" pitchFamily="34" charset="0"/>
                <a:ea typeface="Segoe WPC" pitchFamily="34" charset="-122"/>
                <a:cs typeface="Segoe WPC" pitchFamily="34" charset="-120"/>
              </a:rPr>
              <a:t>对比系统在“标准模式”和“极速模式”下的响应性能与吞吐能力。</a:t>
            </a:r>
            <a:endParaRPr lang="en-US" sz="2400" dirty="0"/>
          </a:p>
          <a:p>
            <a:pPr marL="508000" indent="-508000" algn="l">
              <a:lnSpc>
                <a:spcPct val="120000"/>
              </a:lnSpc>
              <a:spcBef>
                <a:spcPts val="10"/>
              </a:spcBef>
              <a:buSzPct val="100000"/>
              <a:buChar char="•"/>
            </a:pPr>
            <a:r>
              <a:rPr lang="en-US" sz="2400" dirty="0">
                <a:solidFill>
                  <a:srgbClr val="000000"/>
                </a:solidFill>
                <a:latin typeface="Segoe WPC" pitchFamily="34" charset="0"/>
                <a:ea typeface="Segoe WPC" pitchFamily="34" charset="-122"/>
                <a:cs typeface="Segoe WPC" pitchFamily="34" charset="-120"/>
              </a:rPr>
              <a:t>验证双模式架构是否真正实现了“智能性”和“低延迟”之间的平衡。</a:t>
            </a:r>
            <a:endParaRPr lang="en-US" sz="2400" dirty="0"/>
          </a:p>
          <a:p>
            <a:pPr marL="508000" indent="-508000" algn="l">
              <a:lnSpc>
                <a:spcPct val="120000"/>
              </a:lnSpc>
              <a:spcBef>
                <a:spcPts val="10"/>
              </a:spcBef>
              <a:buSzPct val="100000"/>
              <a:buChar char="•"/>
            </a:pPr>
            <a:r>
              <a:rPr lang="en-US" sz="2400" dirty="0">
                <a:solidFill>
                  <a:srgbClr val="000000"/>
                </a:solidFill>
                <a:latin typeface="Segoe WPC" pitchFamily="34" charset="0"/>
                <a:ea typeface="Segoe WPC" pitchFamily="34" charset="-122"/>
                <a:cs typeface="Segoe WPC" pitchFamily="34" charset="-120"/>
              </a:rPr>
              <a:t>分析系统性能瓶颈主要来自本地计算还是外部 LLM 调用。</a:t>
            </a:r>
            <a:endParaRPr lang="en-US" sz="2400" dirty="0"/>
          </a:p>
        </p:txBody>
      </p:sp>
      <p:sp>
        <p:nvSpPr>
          <p:cNvPr id="13" name="Text 10"/>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性能测试结果</a:t>
            </a:r>
            <a:endParaRPr lang="en-US" sz="3730" dirty="0"/>
          </a:p>
        </p:txBody>
      </p:sp>
      <p:sp>
        <p:nvSpPr>
          <p:cNvPr id="14" name="Text 11"/>
          <p:cNvSpPr/>
          <p:nvPr/>
        </p:nvSpPr>
        <p:spPr>
          <a:xfrm>
            <a:off x="7298436" y="3806698"/>
            <a:ext cx="7307774" cy="4308856"/>
          </a:xfrm>
          <a:prstGeom prst="rect">
            <a:avLst/>
          </a:prstGeom>
          <a:noFill/>
          <a:ln/>
        </p:spPr>
        <p:txBody>
          <a:bodyPr wrap="square" lIns="0" tIns="0" rIns="0" bIns="0" rtlCol="0" anchor="t"/>
          <a:lstStyle/>
          <a:p>
            <a:pPr algn="l">
              <a:lnSpc>
                <a:spcPct val="120000"/>
              </a:lnSpc>
            </a:pPr>
            <a:r>
              <a:rPr lang="en-US" sz="2000" b="1" dirty="0">
                <a:solidFill>
                  <a:srgbClr val="000000"/>
                </a:solidFill>
                <a:latin typeface="Segoe WPC" pitchFamily="34" charset="0"/>
                <a:ea typeface="Segoe WPC" pitchFamily="34" charset="-122"/>
                <a:cs typeface="Segoe WPC" pitchFamily="34" charset="-120"/>
              </a:rPr>
              <a:t>结果分析：</a:t>
            </a:r>
            <a:endParaRPr lang="en-US" sz="2000" dirty="0"/>
          </a:p>
          <a:p>
            <a:pPr marL="508000" indent="-508000" algn="l">
              <a:lnSpc>
                <a:spcPct val="120000"/>
              </a:lnSpc>
              <a:spcBef>
                <a:spcPts val="10"/>
              </a:spcBef>
              <a:buSzPct val="100000"/>
              <a:buChar char="•"/>
            </a:pPr>
            <a:r>
              <a:rPr lang="en-US" sz="2000" dirty="0">
                <a:solidFill>
                  <a:srgbClr val="000000"/>
                </a:solidFill>
                <a:latin typeface="Segoe WPC" pitchFamily="34" charset="0"/>
                <a:ea typeface="Segoe WPC" pitchFamily="34" charset="-122"/>
                <a:cs typeface="Segoe WPC" pitchFamily="34" charset="-120"/>
              </a:rPr>
              <a:t>两种模式成功率均为 100%，说明系统整体稳定性较好。</a:t>
            </a:r>
            <a:endParaRPr lang="en-US" sz="2000" dirty="0"/>
          </a:p>
          <a:p>
            <a:pPr marL="508000" indent="-508000" algn="l">
              <a:lnSpc>
                <a:spcPct val="120000"/>
              </a:lnSpc>
              <a:spcBef>
                <a:spcPts val="10"/>
              </a:spcBef>
              <a:buSzPct val="100000"/>
              <a:buChar char="•"/>
            </a:pPr>
            <a:r>
              <a:rPr lang="en-US" sz="2000" dirty="0">
                <a:solidFill>
                  <a:srgbClr val="000000"/>
                </a:solidFill>
                <a:latin typeface="Segoe WPC" pitchFamily="34" charset="0"/>
                <a:ea typeface="Segoe WPC" pitchFamily="34" charset="-122"/>
                <a:cs typeface="Segoe WPC" pitchFamily="34" charset="-120"/>
              </a:rPr>
              <a:t>极速模式平均响应时间仅 31 ms，能够满足降级后的及时托底。</a:t>
            </a:r>
            <a:endParaRPr lang="en-US" sz="2000" dirty="0"/>
          </a:p>
          <a:p>
            <a:pPr marL="508000" indent="-508000" algn="l">
              <a:lnSpc>
                <a:spcPct val="120000"/>
              </a:lnSpc>
              <a:spcBef>
                <a:spcPts val="10"/>
              </a:spcBef>
              <a:buSzPct val="100000"/>
              <a:buChar char="•"/>
            </a:pPr>
            <a:r>
              <a:rPr lang="en-US" sz="2000" dirty="0">
                <a:solidFill>
                  <a:srgbClr val="000000"/>
                </a:solidFill>
                <a:latin typeface="Segoe WPC" pitchFamily="34" charset="0"/>
                <a:ea typeface="Segoe WPC" pitchFamily="34" charset="-122"/>
                <a:cs typeface="Segoe WPC" pitchFamily="34" charset="-120"/>
              </a:rPr>
              <a:t>标准模式平均响应时间达到 6359 ms，达到可以接受的延迟范围。</a:t>
            </a:r>
            <a:endParaRPr lang="en-US" sz="2000" dirty="0"/>
          </a:p>
          <a:p>
            <a:pPr marL="508000" indent="-508000" algn="l">
              <a:lnSpc>
                <a:spcPct val="120000"/>
              </a:lnSpc>
              <a:spcBef>
                <a:spcPts val="10"/>
              </a:spcBef>
              <a:buSzPct val="100000"/>
              <a:buChar char="•"/>
            </a:pPr>
            <a:r>
              <a:rPr lang="en-US" sz="2000" dirty="0">
                <a:solidFill>
                  <a:srgbClr val="000000"/>
                </a:solidFill>
                <a:latin typeface="Segoe WPC" pitchFamily="34" charset="0"/>
                <a:ea typeface="Segoe WPC" pitchFamily="34" charset="-122"/>
                <a:cs typeface="Segoe WPC" pitchFamily="34" charset="-120"/>
              </a:rPr>
              <a:t>极速模式吞吐量约为标准模式的 5.2 倍，体现了跳过 LLM 后系统处理能力的显著提升。</a:t>
            </a:r>
            <a:endParaRPr lang="en-US" sz="2000" dirty="0"/>
          </a:p>
          <a:p>
            <a:pPr marL="508000" indent="-508000" algn="l">
              <a:lnSpc>
                <a:spcPct val="120000"/>
              </a:lnSpc>
              <a:spcBef>
                <a:spcPts val="10"/>
              </a:spcBef>
              <a:buSzPct val="100000"/>
              <a:buChar char="•"/>
            </a:pPr>
            <a:r>
              <a:rPr lang="en-US" sz="2000" dirty="0">
                <a:solidFill>
                  <a:srgbClr val="000000"/>
                </a:solidFill>
                <a:latin typeface="Segoe WPC" pitchFamily="34" charset="0"/>
                <a:ea typeface="Segoe WPC" pitchFamily="34" charset="-122"/>
                <a:cs typeface="Segoe WPC" pitchFamily="34" charset="-120"/>
              </a:rPr>
              <a:t>这证明双模式设计是有效的：标准模式保证智能化体验，极速模式保证性能与可用性。</a:t>
            </a:r>
            <a:endParaRPr lang="en-US" sz="2000" dirty="0"/>
          </a:p>
          <a:p>
            <a:pPr algn="l">
              <a:lnSpc>
                <a:spcPct val="120000"/>
              </a:lnSpc>
            </a:pPr>
            <a:r>
              <a:rPr lang="en-US" sz="2000" dirty="0">
                <a:solidFill>
                  <a:srgbClr val="000000"/>
                </a:solidFill>
                <a:latin typeface="Segoe WPC" pitchFamily="34" charset="0"/>
                <a:ea typeface="Segoe WPC" pitchFamily="34" charset="-122"/>
                <a:cs typeface="Segoe WPC" pitchFamily="34" charset="-120"/>
              </a:rPr>
              <a:t> </a:t>
            </a:r>
            <a:endParaRPr lang="en-US" sz="2000"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419E3D4-0201-D6A7-751D-5E25883FFE07}"/>
            </a:ext>
          </a:extLst>
        </p:cNvPr>
        <p:cNvGrpSpPr/>
        <p:nvPr/>
      </p:nvGrpSpPr>
      <p:grpSpPr>
        <a:xfrm>
          <a:off x="0" y="0"/>
          <a:ext cx="0" cy="0"/>
          <a:chOff x="0" y="0"/>
          <a:chExt cx="0" cy="0"/>
        </a:xfrm>
      </p:grpSpPr>
      <p:pic>
        <p:nvPicPr>
          <p:cNvPr id="2" name="Image 0" descr="https://kimi-img.moonshot.cn/pub/slides/okc/mijziqmdxzd3g/mnt/agents/output/converted/images/image_3.png">
            <a:extLst>
              <a:ext uri="{FF2B5EF4-FFF2-40B4-BE49-F238E27FC236}">
                <a16:creationId xmlns:a16="http://schemas.microsoft.com/office/drawing/2014/main" id="{0D099F73-C7EB-1B74-4430-BF776ADE99F5}"/>
              </a:ext>
            </a:extLst>
          </p:cNvPr>
          <p:cNvPicPr>
            <a:picLocks noChangeAspect="1"/>
          </p:cNvPicPr>
          <p:nvPr/>
        </p:nvPicPr>
        <p:blipFill>
          <a:blip r:embed="rId3"/>
          <a:stretch>
            <a:fillRect/>
          </a:stretch>
        </p:blipFill>
        <p:spPr>
          <a:xfrm>
            <a:off x="-22098" y="0"/>
            <a:ext cx="16256000" cy="9144000"/>
          </a:xfrm>
          <a:prstGeom prst="rect">
            <a:avLst/>
          </a:prstGeom>
        </p:spPr>
      </p:pic>
      <p:sp>
        <p:nvSpPr>
          <p:cNvPr id="3" name="Text 0">
            <a:extLst>
              <a:ext uri="{FF2B5EF4-FFF2-40B4-BE49-F238E27FC236}">
                <a16:creationId xmlns:a16="http://schemas.microsoft.com/office/drawing/2014/main" id="{CD028E01-1F7A-C3D7-3B38-C1A9FD2BB773}"/>
              </a:ext>
            </a:extLst>
          </p:cNvPr>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3</a:t>
            </a:r>
            <a:endParaRPr lang="en-US" sz="1330" dirty="0"/>
          </a:p>
        </p:txBody>
      </p:sp>
      <p:sp>
        <p:nvSpPr>
          <p:cNvPr id="4" name="Text 1">
            <a:extLst>
              <a:ext uri="{FF2B5EF4-FFF2-40B4-BE49-F238E27FC236}">
                <a16:creationId xmlns:a16="http://schemas.microsoft.com/office/drawing/2014/main" id="{CB52F4F4-7D0C-879D-F148-9A4C5A3EA968}"/>
              </a:ext>
            </a:extLst>
          </p:cNvPr>
          <p:cNvSpPr/>
          <p:nvPr/>
        </p:nvSpPr>
        <p:spPr>
          <a:xfrm>
            <a:off x="2500503" y="5481066"/>
            <a:ext cx="11254994" cy="1025906"/>
          </a:xfrm>
          <a:prstGeom prst="rect">
            <a:avLst/>
          </a:prstGeom>
          <a:noFill/>
          <a:ln/>
        </p:spPr>
        <p:txBody>
          <a:bodyPr wrap="square" lIns="0" tIns="0" rIns="0" bIns="0" rtlCol="0" anchor="ctr"/>
          <a:lstStyle/>
          <a:p>
            <a:pPr algn="ctr">
              <a:lnSpc>
                <a:spcPct val="120000"/>
              </a:lnSpc>
            </a:pPr>
            <a:r>
              <a:rPr lang="zh-CN" altLang="en-US" sz="5870" dirty="0">
                <a:solidFill>
                  <a:srgbClr val="000000"/>
                </a:solidFill>
                <a:latin typeface="汉仪行楷简" pitchFamily="34" charset="0"/>
                <a:ea typeface="汉仪行楷简" pitchFamily="34" charset="-122"/>
                <a:cs typeface="汉仪行楷简" pitchFamily="34" charset="-120"/>
              </a:rPr>
              <a:t>过程管理</a:t>
            </a:r>
            <a:endParaRPr lang="en-US" sz="5870" dirty="0"/>
          </a:p>
        </p:txBody>
      </p:sp>
    </p:spTree>
    <p:extLst>
      <p:ext uri="{BB962C8B-B14F-4D97-AF65-F5344CB8AC3E}">
        <p14:creationId xmlns:p14="http://schemas.microsoft.com/office/powerpoint/2010/main" val="336423958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rial" pitchFamily="34" charset="0"/>
                <a:ea typeface="Arial" pitchFamily="34" charset="-122"/>
                <a:cs typeface="Arial" pitchFamily="34" charset="-120"/>
              </a:rPr>
              <a:t>33</a:t>
            </a:r>
            <a:endParaRPr lang="en-US" sz="1330" dirty="0"/>
          </a:p>
        </p:txBody>
      </p:sp>
      <p:sp>
        <p:nvSpPr>
          <p:cNvPr id="4" name="Text 1"/>
          <p:cNvSpPr/>
          <p:nvPr/>
        </p:nvSpPr>
        <p:spPr>
          <a:xfrm>
            <a:off x="880491" y="171450"/>
            <a:ext cx="14478000" cy="698500"/>
          </a:xfrm>
          <a:prstGeom prst="rect">
            <a:avLst/>
          </a:prstGeom>
          <a:noFill/>
          <a:ln/>
        </p:spPr>
        <p:txBody>
          <a:bodyPr wrap="non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项目开发过程管理</a:t>
            </a:r>
            <a:endParaRPr lang="en-US" sz="3730" dirty="0"/>
          </a:p>
        </p:txBody>
      </p:sp>
      <p:sp>
        <p:nvSpPr>
          <p:cNvPr id="5" name="Text 2"/>
          <p:cNvSpPr/>
          <p:nvPr/>
        </p:nvSpPr>
        <p:spPr>
          <a:xfrm>
            <a:off x="880491" y="927100"/>
            <a:ext cx="14478000" cy="508000"/>
          </a:xfrm>
          <a:prstGeom prst="rect">
            <a:avLst/>
          </a:prstGeom>
          <a:noFill/>
          <a:ln/>
        </p:spPr>
        <p:txBody>
          <a:bodyPr wrap="square" lIns="0" tIns="0" rIns="0" bIns="0" rtlCol="0" anchor="t"/>
          <a:lstStyle/>
          <a:p>
            <a:pPr algn="l">
              <a:lnSpc>
                <a:spcPct val="130000"/>
              </a:lnSpc>
            </a:pPr>
            <a:r>
              <a:rPr lang="en-US" sz="1500" dirty="0">
                <a:solidFill>
                  <a:srgbClr val="555555"/>
                </a:solidFill>
                <a:latin typeface="MiSans" pitchFamily="34" charset="0"/>
                <a:ea typeface="MiSans" pitchFamily="34" charset="-122"/>
                <a:cs typeface="MiSans" pitchFamily="34" charset="-120"/>
              </a:rPr>
              <a:t>本项目按照软件工程基本流程推进，而不是直接进入编码阶段。</a:t>
            </a:r>
            <a:endParaRPr lang="en-US" sz="1500" dirty="0"/>
          </a:p>
        </p:txBody>
      </p:sp>
      <p:sp>
        <p:nvSpPr>
          <p:cNvPr id="6" name="Shape 3"/>
          <p:cNvSpPr/>
          <p:nvPr/>
        </p:nvSpPr>
        <p:spPr>
          <a:xfrm>
            <a:off x="1524000" y="2603500"/>
            <a:ext cx="13208000" cy="0"/>
          </a:xfrm>
          <a:prstGeom prst="straightConnector1">
            <a:avLst/>
          </a:prstGeom>
          <a:noFill/>
          <a:ln w="38100">
            <a:solidFill>
              <a:srgbClr val="DAAB00"/>
            </a:solidFill>
            <a:prstDash val="solid"/>
            <a:headEnd type="none"/>
            <a:tailEnd type="none"/>
          </a:ln>
        </p:spPr>
        <p:txBody>
          <a:bodyPr/>
          <a:lstStyle/>
          <a:p>
            <a:endParaRPr lang="zh-CN" altLang="en-US"/>
          </a:p>
        </p:txBody>
      </p:sp>
      <p:sp>
        <p:nvSpPr>
          <p:cNvPr id="7" name="Shape 4"/>
          <p:cNvSpPr/>
          <p:nvPr/>
        </p:nvSpPr>
        <p:spPr>
          <a:xfrm>
            <a:off x="1778000" y="2451100"/>
            <a:ext cx="304800" cy="304800"/>
          </a:xfrm>
          <a:prstGeom prst="ellipse">
            <a:avLst/>
          </a:prstGeom>
          <a:solidFill>
            <a:srgbClr val="DAAB00"/>
          </a:solidFill>
          <a:ln/>
        </p:spPr>
        <p:txBody>
          <a:bodyPr/>
          <a:lstStyle/>
          <a:p>
            <a:endParaRPr lang="zh-CN" altLang="en-US"/>
          </a:p>
        </p:txBody>
      </p:sp>
      <p:sp>
        <p:nvSpPr>
          <p:cNvPr id="8" name="Text 5"/>
          <p:cNvSpPr/>
          <p:nvPr/>
        </p:nvSpPr>
        <p:spPr>
          <a:xfrm>
            <a:off x="889000" y="1778000"/>
            <a:ext cx="3048000" cy="508000"/>
          </a:xfrm>
          <a:prstGeom prst="rect">
            <a:avLst/>
          </a:prstGeom>
          <a:noFill/>
          <a:ln/>
        </p:spPr>
        <p:txBody>
          <a:bodyPr wrap="none" lIns="0" tIns="0" rIns="0" bIns="0" rtlCol="0" anchor="b"/>
          <a:lstStyle/>
          <a:p>
            <a:pPr algn="ctr">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需求分析阶段</a:t>
            </a:r>
            <a:endParaRPr lang="en-US" sz="2400" dirty="0"/>
          </a:p>
        </p:txBody>
      </p:sp>
      <p:sp>
        <p:nvSpPr>
          <p:cNvPr id="9" name="Shape 6"/>
          <p:cNvSpPr/>
          <p:nvPr/>
        </p:nvSpPr>
        <p:spPr>
          <a:xfrm>
            <a:off x="698500" y="2984500"/>
            <a:ext cx="3429000" cy="2476500"/>
          </a:xfrm>
          <a:prstGeom prst="roundRect">
            <a:avLst>
              <a:gd name="adj" fmla="val 6000"/>
            </a:avLst>
          </a:prstGeom>
          <a:solidFill>
            <a:srgbClr val="000000">
              <a:alpha val="784"/>
            </a:srgbClr>
          </a:solidFill>
          <a:ln/>
        </p:spPr>
        <p:txBody>
          <a:bodyPr/>
          <a:lstStyle/>
          <a:p>
            <a:endParaRPr lang="zh-CN" altLang="en-US"/>
          </a:p>
        </p:txBody>
      </p:sp>
      <p:sp>
        <p:nvSpPr>
          <p:cNvPr id="10" name="Text 7"/>
          <p:cNvSpPr/>
          <p:nvPr/>
        </p:nvSpPr>
        <p:spPr>
          <a:xfrm>
            <a:off x="1223851" y="3118833"/>
            <a:ext cx="2713149" cy="2222500"/>
          </a:xfrm>
          <a:prstGeom prst="rect">
            <a:avLst/>
          </a:prstGeom>
          <a:noFill/>
          <a:ln/>
        </p:spPr>
        <p:txBody>
          <a:bodyPr wrap="square" lIns="0" tIns="0" rIns="0" bIns="0" rtlCol="0" anchor="t"/>
          <a:lstStyle/>
          <a:p>
            <a:pPr algn="l">
              <a:lnSpc>
                <a:spcPct val="150000"/>
              </a:lnSpc>
            </a:pPr>
            <a:r>
              <a:rPr lang="en-US" dirty="0">
                <a:solidFill>
                  <a:srgbClr val="000000"/>
                </a:solidFill>
                <a:latin typeface="MiSans" pitchFamily="34" charset="0"/>
                <a:ea typeface="MiSans" pitchFamily="34" charset="-122"/>
                <a:cs typeface="MiSans" pitchFamily="34" charset="-120"/>
              </a:rPr>
              <a:t>明确项目目标、核心场景和主要功能，确定系统要解决"吃什么"的实际决策问题。</a:t>
            </a:r>
            <a:endParaRPr lang="en-US" dirty="0"/>
          </a:p>
        </p:txBody>
      </p:sp>
      <p:sp>
        <p:nvSpPr>
          <p:cNvPr id="11" name="Shape 8"/>
          <p:cNvSpPr/>
          <p:nvPr/>
        </p:nvSpPr>
        <p:spPr>
          <a:xfrm>
            <a:off x="5207000" y="2451100"/>
            <a:ext cx="304800" cy="304800"/>
          </a:xfrm>
          <a:prstGeom prst="ellipse">
            <a:avLst/>
          </a:prstGeom>
          <a:solidFill>
            <a:srgbClr val="DAAB00"/>
          </a:solidFill>
          <a:ln/>
        </p:spPr>
        <p:txBody>
          <a:bodyPr/>
          <a:lstStyle/>
          <a:p>
            <a:endParaRPr lang="zh-CN" altLang="en-US"/>
          </a:p>
        </p:txBody>
      </p:sp>
      <p:sp>
        <p:nvSpPr>
          <p:cNvPr id="12" name="Text 9"/>
          <p:cNvSpPr/>
          <p:nvPr/>
        </p:nvSpPr>
        <p:spPr>
          <a:xfrm>
            <a:off x="4318000" y="1778000"/>
            <a:ext cx="3048000" cy="508000"/>
          </a:xfrm>
          <a:prstGeom prst="rect">
            <a:avLst/>
          </a:prstGeom>
          <a:noFill/>
          <a:ln/>
        </p:spPr>
        <p:txBody>
          <a:bodyPr wrap="none" lIns="0" tIns="0" rIns="0" bIns="0" rtlCol="0" anchor="b"/>
          <a:lstStyle/>
          <a:p>
            <a:pPr algn="ctr">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系统设计阶段</a:t>
            </a:r>
            <a:endParaRPr lang="en-US" sz="2400" dirty="0"/>
          </a:p>
        </p:txBody>
      </p:sp>
      <p:sp>
        <p:nvSpPr>
          <p:cNvPr id="13" name="Shape 10"/>
          <p:cNvSpPr/>
          <p:nvPr/>
        </p:nvSpPr>
        <p:spPr>
          <a:xfrm>
            <a:off x="4127500" y="2984500"/>
            <a:ext cx="3429000" cy="2476500"/>
          </a:xfrm>
          <a:prstGeom prst="roundRect">
            <a:avLst>
              <a:gd name="adj" fmla="val 6000"/>
            </a:avLst>
          </a:prstGeom>
          <a:solidFill>
            <a:srgbClr val="000000">
              <a:alpha val="784"/>
            </a:srgbClr>
          </a:solidFill>
          <a:ln/>
        </p:spPr>
        <p:txBody>
          <a:bodyPr/>
          <a:lstStyle/>
          <a:p>
            <a:endParaRPr lang="zh-CN" altLang="en-US"/>
          </a:p>
        </p:txBody>
      </p:sp>
      <p:sp>
        <p:nvSpPr>
          <p:cNvPr id="14" name="Text 11"/>
          <p:cNvSpPr/>
          <p:nvPr/>
        </p:nvSpPr>
        <p:spPr>
          <a:xfrm>
            <a:off x="4652851" y="3118833"/>
            <a:ext cx="2713149" cy="2222500"/>
          </a:xfrm>
          <a:prstGeom prst="rect">
            <a:avLst/>
          </a:prstGeom>
          <a:noFill/>
          <a:ln/>
        </p:spPr>
        <p:txBody>
          <a:bodyPr wrap="square" lIns="0" tIns="0" rIns="0" bIns="0" rtlCol="0" anchor="t"/>
          <a:lstStyle/>
          <a:p>
            <a:pPr algn="l">
              <a:lnSpc>
                <a:spcPct val="150000"/>
              </a:lnSpc>
            </a:pPr>
            <a:r>
              <a:rPr lang="en-US" dirty="0">
                <a:solidFill>
                  <a:srgbClr val="000000"/>
                </a:solidFill>
                <a:latin typeface="MiSans" pitchFamily="34" charset="0"/>
                <a:ea typeface="MiSans" pitchFamily="34" charset="-122"/>
                <a:cs typeface="MiSans" pitchFamily="34" charset="-120"/>
              </a:rPr>
              <a:t>完成推荐系统设计、数据库设计、接口设计和解释系统设计，为编码实现提供结构化依据。</a:t>
            </a:r>
            <a:endParaRPr lang="en-US" dirty="0"/>
          </a:p>
        </p:txBody>
      </p:sp>
      <p:sp>
        <p:nvSpPr>
          <p:cNvPr id="15" name="Shape 12"/>
          <p:cNvSpPr/>
          <p:nvPr/>
        </p:nvSpPr>
        <p:spPr>
          <a:xfrm>
            <a:off x="8636000" y="2451100"/>
            <a:ext cx="304800" cy="304800"/>
          </a:xfrm>
          <a:prstGeom prst="ellipse">
            <a:avLst/>
          </a:prstGeom>
          <a:solidFill>
            <a:srgbClr val="E5A010"/>
          </a:solidFill>
          <a:ln/>
        </p:spPr>
        <p:txBody>
          <a:bodyPr/>
          <a:lstStyle/>
          <a:p>
            <a:endParaRPr lang="zh-CN" altLang="en-US"/>
          </a:p>
        </p:txBody>
      </p:sp>
      <p:sp>
        <p:nvSpPr>
          <p:cNvPr id="16" name="Text 13"/>
          <p:cNvSpPr/>
          <p:nvPr/>
        </p:nvSpPr>
        <p:spPr>
          <a:xfrm>
            <a:off x="7747000" y="1778000"/>
            <a:ext cx="3048000" cy="508000"/>
          </a:xfrm>
          <a:prstGeom prst="rect">
            <a:avLst/>
          </a:prstGeom>
          <a:noFill/>
          <a:ln/>
        </p:spPr>
        <p:txBody>
          <a:bodyPr wrap="none" lIns="0" tIns="0" rIns="0" bIns="0" rtlCol="0" anchor="b"/>
          <a:lstStyle/>
          <a:p>
            <a:pPr algn="ctr">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编码实现阶段</a:t>
            </a:r>
            <a:endParaRPr lang="en-US" sz="2400" dirty="0"/>
          </a:p>
        </p:txBody>
      </p:sp>
      <p:sp>
        <p:nvSpPr>
          <p:cNvPr id="17" name="Shape 14"/>
          <p:cNvSpPr/>
          <p:nvPr/>
        </p:nvSpPr>
        <p:spPr>
          <a:xfrm>
            <a:off x="7556500" y="2984500"/>
            <a:ext cx="3429000" cy="2476500"/>
          </a:xfrm>
          <a:prstGeom prst="roundRect">
            <a:avLst>
              <a:gd name="adj" fmla="val 6000"/>
            </a:avLst>
          </a:prstGeom>
          <a:solidFill>
            <a:srgbClr val="000000">
              <a:alpha val="784"/>
            </a:srgbClr>
          </a:solidFill>
          <a:ln/>
        </p:spPr>
        <p:txBody>
          <a:bodyPr/>
          <a:lstStyle/>
          <a:p>
            <a:endParaRPr lang="zh-CN" altLang="en-US"/>
          </a:p>
        </p:txBody>
      </p:sp>
      <p:sp>
        <p:nvSpPr>
          <p:cNvPr id="18" name="Text 15"/>
          <p:cNvSpPr/>
          <p:nvPr/>
        </p:nvSpPr>
        <p:spPr>
          <a:xfrm>
            <a:off x="8081851" y="3118833"/>
            <a:ext cx="2713149" cy="2222500"/>
          </a:xfrm>
          <a:prstGeom prst="rect">
            <a:avLst/>
          </a:prstGeom>
          <a:noFill/>
          <a:ln/>
        </p:spPr>
        <p:txBody>
          <a:bodyPr wrap="square" lIns="0" tIns="0" rIns="0" bIns="0" rtlCol="0" anchor="t"/>
          <a:lstStyle/>
          <a:p>
            <a:pPr algn="l">
              <a:lnSpc>
                <a:spcPct val="150000"/>
              </a:lnSpc>
            </a:pPr>
            <a:r>
              <a:rPr lang="en-US" dirty="0">
                <a:solidFill>
                  <a:srgbClr val="000000"/>
                </a:solidFill>
                <a:latin typeface="MiSans" pitchFamily="34" charset="0"/>
                <a:ea typeface="MiSans" pitchFamily="34" charset="-122"/>
                <a:cs typeface="MiSans" pitchFamily="34" charset="-120"/>
              </a:rPr>
              <a:t>先完成推荐主链路和前后端基础功能，再逐步补充历史记录、反馈闭环和解释功能。</a:t>
            </a:r>
            <a:endParaRPr lang="en-US" dirty="0"/>
          </a:p>
        </p:txBody>
      </p:sp>
      <p:sp>
        <p:nvSpPr>
          <p:cNvPr id="19" name="Shape 16"/>
          <p:cNvSpPr/>
          <p:nvPr/>
        </p:nvSpPr>
        <p:spPr>
          <a:xfrm>
            <a:off x="12065000" y="2451100"/>
            <a:ext cx="304800" cy="304800"/>
          </a:xfrm>
          <a:prstGeom prst="ellipse">
            <a:avLst/>
          </a:prstGeom>
          <a:solidFill>
            <a:srgbClr val="DAAB00"/>
          </a:solidFill>
          <a:ln/>
        </p:spPr>
        <p:txBody>
          <a:bodyPr/>
          <a:lstStyle/>
          <a:p>
            <a:endParaRPr lang="zh-CN" altLang="en-US"/>
          </a:p>
        </p:txBody>
      </p:sp>
      <p:sp>
        <p:nvSpPr>
          <p:cNvPr id="20" name="Text 17"/>
          <p:cNvSpPr/>
          <p:nvPr/>
        </p:nvSpPr>
        <p:spPr>
          <a:xfrm>
            <a:off x="11176000" y="1778000"/>
            <a:ext cx="3048000" cy="508000"/>
          </a:xfrm>
          <a:prstGeom prst="rect">
            <a:avLst/>
          </a:prstGeom>
          <a:noFill/>
          <a:ln/>
        </p:spPr>
        <p:txBody>
          <a:bodyPr wrap="none" lIns="0" tIns="0" rIns="0" bIns="0" rtlCol="0" anchor="b"/>
          <a:lstStyle/>
          <a:p>
            <a:pPr algn="ctr">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测试优化阶段</a:t>
            </a:r>
            <a:endParaRPr lang="en-US" sz="2400" dirty="0"/>
          </a:p>
        </p:txBody>
      </p:sp>
      <p:sp>
        <p:nvSpPr>
          <p:cNvPr id="21" name="Shape 18"/>
          <p:cNvSpPr/>
          <p:nvPr/>
        </p:nvSpPr>
        <p:spPr>
          <a:xfrm>
            <a:off x="10985500" y="2984500"/>
            <a:ext cx="3429000" cy="2476500"/>
          </a:xfrm>
          <a:prstGeom prst="roundRect">
            <a:avLst>
              <a:gd name="adj" fmla="val 6000"/>
            </a:avLst>
          </a:prstGeom>
          <a:solidFill>
            <a:srgbClr val="000000">
              <a:alpha val="784"/>
            </a:srgbClr>
          </a:solidFill>
          <a:ln/>
        </p:spPr>
        <p:txBody>
          <a:bodyPr/>
          <a:lstStyle/>
          <a:p>
            <a:endParaRPr lang="zh-CN" altLang="en-US"/>
          </a:p>
        </p:txBody>
      </p:sp>
      <p:sp>
        <p:nvSpPr>
          <p:cNvPr id="22" name="Text 19"/>
          <p:cNvSpPr/>
          <p:nvPr/>
        </p:nvSpPr>
        <p:spPr>
          <a:xfrm>
            <a:off x="11510851" y="3118833"/>
            <a:ext cx="2713149" cy="2222500"/>
          </a:xfrm>
          <a:prstGeom prst="rect">
            <a:avLst/>
          </a:prstGeom>
          <a:noFill/>
          <a:ln/>
        </p:spPr>
        <p:txBody>
          <a:bodyPr wrap="square" lIns="0" tIns="0" rIns="0" bIns="0" rtlCol="0" anchor="t"/>
          <a:lstStyle/>
          <a:p>
            <a:pPr algn="l">
              <a:lnSpc>
                <a:spcPct val="150000"/>
              </a:lnSpc>
            </a:pPr>
            <a:r>
              <a:rPr lang="en-US" dirty="0">
                <a:solidFill>
                  <a:srgbClr val="000000"/>
                </a:solidFill>
                <a:latin typeface="MiSans" pitchFamily="34" charset="0"/>
                <a:ea typeface="MiSans" pitchFamily="34" charset="-122"/>
                <a:cs typeface="MiSans" pitchFamily="34" charset="-120"/>
              </a:rPr>
              <a:t>对核心模块进行功能测试、联调测试和性能测试，并同步完善相关技术文档。</a:t>
            </a:r>
            <a:endParaRPr lang="en-US" dirty="0"/>
          </a:p>
        </p:txBody>
      </p:sp>
      <p:sp>
        <p:nvSpPr>
          <p:cNvPr id="23" name="Text 20"/>
          <p:cNvSpPr/>
          <p:nvPr/>
        </p:nvSpPr>
        <p:spPr>
          <a:xfrm>
            <a:off x="1004910" y="7321550"/>
            <a:ext cx="14478000" cy="508000"/>
          </a:xfrm>
          <a:prstGeom prst="rect">
            <a:avLst/>
          </a:prstGeom>
          <a:noFill/>
          <a:ln/>
        </p:spPr>
        <p:txBody>
          <a:bodyPr wrap="square" lIns="0" tIns="0" rIns="0" bIns="0" rtlCol="0" anchor="ctr"/>
          <a:lstStyle/>
          <a:p>
            <a:pPr algn="l">
              <a:lnSpc>
                <a:spcPct val="130000"/>
              </a:lnSpc>
            </a:pPr>
            <a:r>
              <a:rPr lang="en-US" sz="1500" dirty="0">
                <a:solidFill>
                  <a:srgbClr val="666666"/>
                </a:solidFill>
                <a:latin typeface="MiSans" pitchFamily="34" charset="0"/>
                <a:ea typeface="MiSans" pitchFamily="34" charset="-122"/>
                <a:cs typeface="MiSans" pitchFamily="34" charset="-120"/>
              </a:rPr>
              <a:t>项目整体采用"先跑通主链路，再逐步增强细节"的推进策略，有效控制了开发风险。</a:t>
            </a:r>
            <a:endParaRPr lang="en-US" sz="15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rial" pitchFamily="34" charset="0"/>
                <a:ea typeface="Arial" pitchFamily="34" charset="-122"/>
                <a:cs typeface="Arial" pitchFamily="34" charset="-120"/>
              </a:rPr>
              <a:t>34</a:t>
            </a:r>
            <a:endParaRPr lang="en-US" sz="1330" dirty="0"/>
          </a:p>
        </p:txBody>
      </p:sp>
      <p:sp>
        <p:nvSpPr>
          <p:cNvPr id="4" name="Text 1"/>
          <p:cNvSpPr/>
          <p:nvPr/>
        </p:nvSpPr>
        <p:spPr>
          <a:xfrm>
            <a:off x="880491" y="171450"/>
            <a:ext cx="14478000" cy="698500"/>
          </a:xfrm>
          <a:prstGeom prst="rect">
            <a:avLst/>
          </a:prstGeom>
          <a:noFill/>
          <a:ln/>
        </p:spPr>
        <p:txBody>
          <a:bodyPr wrap="non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配置管理与文档管理</a:t>
            </a:r>
            <a:endParaRPr lang="en-US" sz="3730" dirty="0"/>
          </a:p>
        </p:txBody>
      </p:sp>
      <p:sp>
        <p:nvSpPr>
          <p:cNvPr id="5" name="Text 2"/>
          <p:cNvSpPr/>
          <p:nvPr/>
        </p:nvSpPr>
        <p:spPr>
          <a:xfrm>
            <a:off x="880491" y="927100"/>
            <a:ext cx="14478000" cy="508000"/>
          </a:xfrm>
          <a:prstGeom prst="rect">
            <a:avLst/>
          </a:prstGeom>
          <a:noFill/>
          <a:ln/>
        </p:spPr>
        <p:txBody>
          <a:bodyPr wrap="square" lIns="0" tIns="0" rIns="0" bIns="0" rtlCol="0" anchor="t"/>
          <a:lstStyle/>
          <a:p>
            <a:pPr algn="l">
              <a:lnSpc>
                <a:spcPct val="130000"/>
              </a:lnSpc>
            </a:pPr>
            <a:r>
              <a:rPr lang="en-US" sz="1500" dirty="0">
                <a:solidFill>
                  <a:srgbClr val="555555"/>
                </a:solidFill>
                <a:latin typeface="MiSans" pitchFamily="34" charset="0"/>
                <a:ea typeface="MiSans" pitchFamily="34" charset="-122"/>
                <a:cs typeface="MiSans" pitchFamily="34" charset="-120"/>
              </a:rPr>
              <a:t>项目在开发过程中注重代码版本管理与文档同步维护，保证成果可追踪、可复现、可说明。</a:t>
            </a:r>
            <a:endParaRPr lang="en-US" sz="1500" dirty="0"/>
          </a:p>
        </p:txBody>
      </p:sp>
      <p:sp>
        <p:nvSpPr>
          <p:cNvPr id="6" name="Text 3"/>
          <p:cNvSpPr/>
          <p:nvPr/>
        </p:nvSpPr>
        <p:spPr>
          <a:xfrm>
            <a:off x="889000" y="1524000"/>
            <a:ext cx="3810000" cy="355600"/>
          </a:xfrm>
          <a:prstGeom prst="rect">
            <a:avLst/>
          </a:prstGeom>
          <a:noFill/>
          <a:ln/>
        </p:spPr>
        <p:txBody>
          <a:bodyPr wrap="none" lIns="0" tIns="0" rIns="0" bIns="0" rtlCol="0" anchor="ctr"/>
          <a:lstStyle/>
          <a:p>
            <a:pPr algn="l">
              <a:lnSpc>
                <a:spcPct val="120000"/>
              </a:lnSpc>
            </a:pPr>
            <a:r>
              <a:rPr lang="en-US" sz="2800" b="1" dirty="0">
                <a:solidFill>
                  <a:srgbClr val="000000"/>
                </a:solidFill>
                <a:latin typeface="汉仪行楷简" pitchFamily="34" charset="0"/>
                <a:ea typeface="汉仪行楷简" pitchFamily="34" charset="-122"/>
                <a:cs typeface="汉仪行楷简" pitchFamily="34" charset="-120"/>
              </a:rPr>
              <a:t>配置管理</a:t>
            </a:r>
            <a:endParaRPr lang="en-US" sz="2800" dirty="0"/>
          </a:p>
        </p:txBody>
      </p:sp>
      <p:sp>
        <p:nvSpPr>
          <p:cNvPr id="7" name="Shape 4"/>
          <p:cNvSpPr/>
          <p:nvPr/>
        </p:nvSpPr>
        <p:spPr>
          <a:xfrm>
            <a:off x="889000" y="1955800"/>
            <a:ext cx="6858000" cy="3556000"/>
          </a:xfrm>
          <a:prstGeom prst="roundRect">
            <a:avLst>
              <a:gd name="adj" fmla="val 6000"/>
            </a:avLst>
          </a:prstGeom>
          <a:solidFill>
            <a:srgbClr val="000000">
              <a:alpha val="784"/>
            </a:srgbClr>
          </a:solidFill>
          <a:ln/>
        </p:spPr>
        <p:txBody>
          <a:bodyPr/>
          <a:lstStyle/>
          <a:p>
            <a:endParaRPr lang="zh-CN" altLang="en-US"/>
          </a:p>
        </p:txBody>
      </p:sp>
      <p:sp>
        <p:nvSpPr>
          <p:cNvPr id="8" name="Text 5"/>
          <p:cNvSpPr/>
          <p:nvPr/>
        </p:nvSpPr>
        <p:spPr>
          <a:xfrm>
            <a:off x="1117600" y="2133600"/>
            <a:ext cx="6413500" cy="3200400"/>
          </a:xfrm>
          <a:prstGeom prst="rect">
            <a:avLst/>
          </a:prstGeom>
          <a:noFill/>
          <a:ln/>
        </p:spPr>
        <p:txBody>
          <a:bodyPr wrap="square" lIns="0" tIns="0" rIns="0" bIns="0" rtlCol="0" anchor="t"/>
          <a:lstStyle/>
          <a:p>
            <a:pPr algn="l">
              <a:lnSpc>
                <a:spcPct val="160000"/>
              </a:lnSpc>
            </a:pPr>
            <a:r>
              <a:rPr lang="en-US" sz="2000" dirty="0">
                <a:solidFill>
                  <a:srgbClr val="000000"/>
                </a:solidFill>
                <a:latin typeface="MiSans" pitchFamily="34" charset="0"/>
                <a:ea typeface="MiSans" pitchFamily="34" charset="-122"/>
                <a:cs typeface="MiSans" pitchFamily="34" charset="-120"/>
              </a:rPr>
              <a:t>项目使用 Git 进行版本控制，并采用主分支、功能分支和修复分支相结合的开发方式。</a:t>
            </a:r>
            <a:endParaRPr lang="en-US" sz="2000" dirty="0"/>
          </a:p>
          <a:p>
            <a:pPr algn="l">
              <a:lnSpc>
                <a:spcPct val="160000"/>
              </a:lnSpc>
              <a:spcBef>
                <a:spcPts val="1000"/>
              </a:spcBef>
            </a:pPr>
            <a:r>
              <a:rPr lang="en-US" sz="2000" dirty="0">
                <a:solidFill>
                  <a:srgbClr val="000000"/>
                </a:solidFill>
                <a:latin typeface="MiSans" pitchFamily="34" charset="0"/>
                <a:ea typeface="MiSans" pitchFamily="34" charset="-122"/>
                <a:cs typeface="MiSans" pitchFamily="34" charset="-120"/>
              </a:rPr>
              <a:t>通过版本管理，可以清晰记录每次功能修改、问题修复和配置更新过程，降低多人协作时的冲突风险。</a:t>
            </a:r>
            <a:endParaRPr lang="en-US" sz="2000" dirty="0"/>
          </a:p>
        </p:txBody>
      </p:sp>
      <p:sp>
        <p:nvSpPr>
          <p:cNvPr id="9" name="Text 6"/>
          <p:cNvSpPr/>
          <p:nvPr/>
        </p:nvSpPr>
        <p:spPr>
          <a:xfrm>
            <a:off x="8128000" y="1524000"/>
            <a:ext cx="3810000" cy="355600"/>
          </a:xfrm>
          <a:prstGeom prst="rect">
            <a:avLst/>
          </a:prstGeom>
          <a:noFill/>
          <a:ln/>
        </p:spPr>
        <p:txBody>
          <a:bodyPr wrap="none" lIns="0" tIns="0" rIns="0" bIns="0" rtlCol="0" anchor="ctr"/>
          <a:lstStyle/>
          <a:p>
            <a:pPr algn="l">
              <a:lnSpc>
                <a:spcPct val="120000"/>
              </a:lnSpc>
            </a:pPr>
            <a:r>
              <a:rPr lang="en-US" sz="2800" b="1" dirty="0">
                <a:solidFill>
                  <a:srgbClr val="000000"/>
                </a:solidFill>
                <a:latin typeface="汉仪行楷简" pitchFamily="34" charset="0"/>
                <a:ea typeface="汉仪行楷简" pitchFamily="34" charset="-122"/>
                <a:cs typeface="汉仪行楷简" pitchFamily="34" charset="-120"/>
              </a:rPr>
              <a:t>文档管理</a:t>
            </a:r>
            <a:endParaRPr lang="en-US" sz="2800" dirty="0"/>
          </a:p>
        </p:txBody>
      </p:sp>
      <p:sp>
        <p:nvSpPr>
          <p:cNvPr id="10" name="Shape 7"/>
          <p:cNvSpPr/>
          <p:nvPr/>
        </p:nvSpPr>
        <p:spPr>
          <a:xfrm>
            <a:off x="8128000" y="1955800"/>
            <a:ext cx="7239000" cy="3556000"/>
          </a:xfrm>
          <a:prstGeom prst="roundRect">
            <a:avLst>
              <a:gd name="adj" fmla="val 6000"/>
            </a:avLst>
          </a:prstGeom>
          <a:solidFill>
            <a:srgbClr val="000000">
              <a:alpha val="784"/>
            </a:srgbClr>
          </a:solidFill>
          <a:ln/>
        </p:spPr>
        <p:txBody>
          <a:bodyPr/>
          <a:lstStyle/>
          <a:p>
            <a:endParaRPr lang="zh-CN" altLang="en-US"/>
          </a:p>
        </p:txBody>
      </p:sp>
      <p:sp>
        <p:nvSpPr>
          <p:cNvPr id="11" name="Text 8"/>
          <p:cNvSpPr/>
          <p:nvPr/>
        </p:nvSpPr>
        <p:spPr>
          <a:xfrm>
            <a:off x="8356600" y="2133600"/>
            <a:ext cx="6794500" cy="3302000"/>
          </a:xfrm>
          <a:prstGeom prst="rect">
            <a:avLst/>
          </a:prstGeom>
          <a:noFill/>
          <a:ln/>
        </p:spPr>
        <p:txBody>
          <a:bodyPr wrap="square" lIns="0" tIns="0" rIns="0" bIns="0" rtlCol="0" anchor="t"/>
          <a:lstStyle/>
          <a:p>
            <a:pPr algn="l">
              <a:lnSpc>
                <a:spcPct val="150000"/>
              </a:lnSpc>
            </a:pPr>
            <a:r>
              <a:rPr lang="en-US" sz="2000" dirty="0">
                <a:solidFill>
                  <a:srgbClr val="000000"/>
                </a:solidFill>
                <a:latin typeface="MiSans" pitchFamily="34" charset="0"/>
                <a:ea typeface="MiSans" pitchFamily="34" charset="-122"/>
                <a:cs typeface="MiSans" pitchFamily="34" charset="-120"/>
              </a:rPr>
              <a:t>项目编写了较完整的文档资料，包括：</a:t>
            </a:r>
            <a:endParaRPr lang="en-US" sz="2000" dirty="0"/>
          </a:p>
          <a:p>
            <a:pPr algn="l">
              <a:lnSpc>
                <a:spcPct val="150000"/>
              </a:lnSpc>
            </a:pPr>
            <a:r>
              <a:rPr lang="en-US" sz="2000" dirty="0">
                <a:solidFill>
                  <a:srgbClr val="000000"/>
                </a:solidFill>
                <a:latin typeface="MiSans" pitchFamily="34" charset="0"/>
                <a:ea typeface="MiSans" pitchFamily="34" charset="-122"/>
                <a:cs typeface="MiSans" pitchFamily="34" charset="-120"/>
              </a:rPr>
              <a:t>• README</a:t>
            </a:r>
            <a:endParaRPr lang="en-US" sz="2000" dirty="0"/>
          </a:p>
          <a:p>
            <a:pPr algn="l">
              <a:lnSpc>
                <a:spcPct val="150000"/>
              </a:lnSpc>
            </a:pPr>
            <a:r>
              <a:rPr lang="en-US" sz="2000" dirty="0">
                <a:solidFill>
                  <a:srgbClr val="000000"/>
                </a:solidFill>
                <a:latin typeface="MiSans" pitchFamily="34" charset="0"/>
                <a:ea typeface="MiSans" pitchFamily="34" charset="-122"/>
                <a:cs typeface="MiSans" pitchFamily="34" charset="-120"/>
              </a:rPr>
              <a:t>• API 接口文档</a:t>
            </a:r>
            <a:endParaRPr lang="en-US" sz="2000" dirty="0"/>
          </a:p>
          <a:p>
            <a:pPr algn="l">
              <a:lnSpc>
                <a:spcPct val="150000"/>
              </a:lnSpc>
            </a:pPr>
            <a:r>
              <a:rPr lang="en-US" sz="2000" dirty="0">
                <a:solidFill>
                  <a:srgbClr val="000000"/>
                </a:solidFill>
                <a:latin typeface="MiSans" pitchFamily="34" charset="0"/>
                <a:ea typeface="MiSans" pitchFamily="34" charset="-122"/>
                <a:cs typeface="MiSans" pitchFamily="34" charset="-120"/>
              </a:rPr>
              <a:t>• 推荐系统设计文档</a:t>
            </a:r>
            <a:endParaRPr lang="en-US" sz="2000" dirty="0"/>
          </a:p>
          <a:p>
            <a:pPr algn="l">
              <a:lnSpc>
                <a:spcPct val="150000"/>
              </a:lnSpc>
            </a:pPr>
            <a:r>
              <a:rPr lang="en-US" sz="2000" dirty="0">
                <a:solidFill>
                  <a:srgbClr val="000000"/>
                </a:solidFill>
                <a:latin typeface="MiSans" pitchFamily="34" charset="0"/>
                <a:ea typeface="MiSans" pitchFamily="34" charset="-122"/>
                <a:cs typeface="MiSans" pitchFamily="34" charset="-120"/>
              </a:rPr>
              <a:t>• 数据库设计文档</a:t>
            </a:r>
            <a:endParaRPr lang="en-US" sz="2000" dirty="0"/>
          </a:p>
          <a:p>
            <a:pPr algn="l">
              <a:lnSpc>
                <a:spcPct val="150000"/>
              </a:lnSpc>
            </a:pPr>
            <a:r>
              <a:rPr lang="en-US" sz="2000" dirty="0">
                <a:solidFill>
                  <a:srgbClr val="000000"/>
                </a:solidFill>
                <a:latin typeface="MiSans" pitchFamily="34" charset="0"/>
                <a:ea typeface="MiSans" pitchFamily="34" charset="-122"/>
                <a:cs typeface="MiSans" pitchFamily="34" charset="-120"/>
              </a:rPr>
              <a:t>• 解释系统设计文档</a:t>
            </a:r>
            <a:endParaRPr lang="en-US" sz="2000" dirty="0"/>
          </a:p>
          <a:p>
            <a:pPr algn="l">
              <a:lnSpc>
                <a:spcPct val="150000"/>
              </a:lnSpc>
            </a:pPr>
            <a:r>
              <a:rPr lang="en-US" sz="2000" dirty="0">
                <a:solidFill>
                  <a:srgbClr val="000000"/>
                </a:solidFill>
                <a:latin typeface="MiSans" pitchFamily="34" charset="0"/>
                <a:ea typeface="MiSans" pitchFamily="34" charset="-122"/>
                <a:cs typeface="MiSans" pitchFamily="34" charset="-120"/>
              </a:rPr>
              <a:t>• 性能测试报告</a:t>
            </a:r>
            <a:endParaRPr lang="en-US" sz="2000" dirty="0"/>
          </a:p>
          <a:p>
            <a:pPr algn="l">
              <a:lnSpc>
                <a:spcPct val="150000"/>
              </a:lnSpc>
            </a:pPr>
            <a:r>
              <a:rPr lang="en-US" sz="2000" dirty="0">
                <a:solidFill>
                  <a:srgbClr val="000000"/>
                </a:solidFill>
                <a:latin typeface="MiSans" pitchFamily="34" charset="0"/>
                <a:ea typeface="MiSans" pitchFamily="34" charset="-122"/>
                <a:cs typeface="MiSans" pitchFamily="34" charset="-120"/>
              </a:rPr>
              <a:t>• 配置管理计划</a:t>
            </a:r>
            <a:endParaRPr lang="en-US" sz="2000" dirty="0"/>
          </a:p>
        </p:txBody>
      </p:sp>
      <p:sp>
        <p:nvSpPr>
          <p:cNvPr id="12" name="Shape 9"/>
          <p:cNvSpPr/>
          <p:nvPr/>
        </p:nvSpPr>
        <p:spPr>
          <a:xfrm>
            <a:off x="1109091" y="7269861"/>
            <a:ext cx="14478000" cy="698500"/>
          </a:xfrm>
          <a:prstGeom prst="roundRect">
            <a:avLst>
              <a:gd name="adj" fmla="val 5000"/>
            </a:avLst>
          </a:prstGeom>
          <a:solidFill>
            <a:srgbClr val="DAAB00">
              <a:alpha val="9412"/>
            </a:srgbClr>
          </a:solidFill>
          <a:ln/>
        </p:spPr>
        <p:txBody>
          <a:bodyPr/>
          <a:lstStyle/>
          <a:p>
            <a:endParaRPr lang="zh-CN" altLang="en-US"/>
          </a:p>
        </p:txBody>
      </p:sp>
      <p:sp>
        <p:nvSpPr>
          <p:cNvPr id="13" name="Text 10"/>
          <p:cNvSpPr/>
          <p:nvPr/>
        </p:nvSpPr>
        <p:spPr>
          <a:xfrm>
            <a:off x="1109091" y="7269861"/>
            <a:ext cx="14020800" cy="698500"/>
          </a:xfrm>
          <a:prstGeom prst="rect">
            <a:avLst/>
          </a:prstGeom>
          <a:noFill/>
          <a:ln/>
        </p:spPr>
        <p:txBody>
          <a:bodyPr wrap="square" lIns="0" tIns="0" rIns="0" bIns="0" rtlCol="0" anchor="ctr"/>
          <a:lstStyle/>
          <a:p>
            <a:pPr algn="ctr">
              <a:lnSpc>
                <a:spcPct val="130000"/>
              </a:lnSpc>
            </a:pPr>
            <a:r>
              <a:rPr lang="en-US" sz="1600" b="1" dirty="0">
                <a:solidFill>
                  <a:srgbClr val="885500"/>
                </a:solidFill>
                <a:latin typeface="MiSans" pitchFamily="34" charset="0"/>
                <a:ea typeface="MiSans" pitchFamily="34" charset="-122"/>
                <a:cs typeface="MiSans" pitchFamily="34" charset="-120"/>
              </a:rPr>
              <a:t>项目不仅有代码成果，也形成了较完整的软件工程文档体系。</a:t>
            </a:r>
            <a:endParaRPr lang="en-US" sz="1600"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rial" pitchFamily="34" charset="0"/>
                <a:ea typeface="Arial" pitchFamily="34" charset="-122"/>
                <a:cs typeface="Arial" pitchFamily="34" charset="-120"/>
              </a:rPr>
              <a:t>35</a:t>
            </a:r>
            <a:endParaRPr lang="en-US" sz="1330" dirty="0"/>
          </a:p>
        </p:txBody>
      </p:sp>
      <p:sp>
        <p:nvSpPr>
          <p:cNvPr id="4" name="Text 1"/>
          <p:cNvSpPr/>
          <p:nvPr/>
        </p:nvSpPr>
        <p:spPr>
          <a:xfrm>
            <a:off x="880491" y="171450"/>
            <a:ext cx="14478000" cy="698500"/>
          </a:xfrm>
          <a:prstGeom prst="rect">
            <a:avLst/>
          </a:prstGeom>
          <a:noFill/>
          <a:ln/>
        </p:spPr>
        <p:txBody>
          <a:bodyPr wrap="non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测试管理与阶段总结</a:t>
            </a:r>
            <a:endParaRPr lang="en-US" sz="3730" dirty="0"/>
          </a:p>
        </p:txBody>
      </p:sp>
      <p:sp>
        <p:nvSpPr>
          <p:cNvPr id="5" name="Text 2"/>
          <p:cNvSpPr/>
          <p:nvPr/>
        </p:nvSpPr>
        <p:spPr>
          <a:xfrm>
            <a:off x="880491" y="927100"/>
            <a:ext cx="14478000" cy="508000"/>
          </a:xfrm>
          <a:prstGeom prst="rect">
            <a:avLst/>
          </a:prstGeom>
          <a:noFill/>
          <a:ln/>
        </p:spPr>
        <p:txBody>
          <a:bodyPr wrap="square" lIns="0" tIns="0" rIns="0" bIns="0" rtlCol="0" anchor="t"/>
          <a:lstStyle/>
          <a:p>
            <a:pPr algn="l">
              <a:lnSpc>
                <a:spcPct val="130000"/>
              </a:lnSpc>
            </a:pPr>
            <a:r>
              <a:rPr lang="en-US" sz="1500" dirty="0">
                <a:solidFill>
                  <a:srgbClr val="555555"/>
                </a:solidFill>
                <a:latin typeface="MiSans" pitchFamily="34" charset="0"/>
                <a:ea typeface="MiSans" pitchFamily="34" charset="-122"/>
                <a:cs typeface="MiSans" pitchFamily="34" charset="-120"/>
              </a:rPr>
              <a:t>项目在实现过程中同步开展测试验证，确保系统具备基本稳定性和演示可靠性。</a:t>
            </a:r>
            <a:endParaRPr lang="en-US" sz="1500" dirty="0"/>
          </a:p>
        </p:txBody>
      </p:sp>
      <p:sp>
        <p:nvSpPr>
          <p:cNvPr id="6" name="Text 3"/>
          <p:cNvSpPr/>
          <p:nvPr/>
        </p:nvSpPr>
        <p:spPr>
          <a:xfrm>
            <a:off x="889000" y="1524000"/>
            <a:ext cx="3810000" cy="355600"/>
          </a:xfrm>
          <a:prstGeom prst="rect">
            <a:avLst/>
          </a:prstGeom>
          <a:noFill/>
          <a:ln/>
        </p:spPr>
        <p:txBody>
          <a:bodyPr wrap="none" lIns="0" tIns="0" rIns="0" bIns="0" rtlCol="0" anchor="ctr"/>
          <a:lstStyle/>
          <a:p>
            <a:pPr algn="l">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测试管理</a:t>
            </a:r>
            <a:endParaRPr lang="en-US" sz="2400" dirty="0"/>
          </a:p>
        </p:txBody>
      </p:sp>
      <p:sp>
        <p:nvSpPr>
          <p:cNvPr id="7" name="Shape 4"/>
          <p:cNvSpPr/>
          <p:nvPr/>
        </p:nvSpPr>
        <p:spPr>
          <a:xfrm>
            <a:off x="889000" y="1955800"/>
            <a:ext cx="14478000" cy="1905000"/>
          </a:xfrm>
          <a:prstGeom prst="roundRect">
            <a:avLst>
              <a:gd name="adj" fmla="val 5000"/>
            </a:avLst>
          </a:prstGeom>
          <a:solidFill>
            <a:srgbClr val="000000">
              <a:alpha val="784"/>
            </a:srgbClr>
          </a:solidFill>
          <a:ln/>
        </p:spPr>
        <p:txBody>
          <a:bodyPr/>
          <a:lstStyle/>
          <a:p>
            <a:endParaRPr lang="zh-CN" altLang="en-US"/>
          </a:p>
        </p:txBody>
      </p:sp>
      <p:sp>
        <p:nvSpPr>
          <p:cNvPr id="8" name="Text 5"/>
          <p:cNvSpPr/>
          <p:nvPr/>
        </p:nvSpPr>
        <p:spPr>
          <a:xfrm>
            <a:off x="1117600" y="2057400"/>
            <a:ext cx="8890000" cy="1143000"/>
          </a:xfrm>
          <a:prstGeom prst="rect">
            <a:avLst/>
          </a:prstGeom>
          <a:noFill/>
          <a:ln/>
        </p:spPr>
        <p:txBody>
          <a:bodyPr wrap="square" lIns="0" tIns="0" rIns="0" bIns="0" rtlCol="0" anchor="t"/>
          <a:lstStyle/>
          <a:p>
            <a:pPr algn="l">
              <a:lnSpc>
                <a:spcPct val="160000"/>
              </a:lnSpc>
            </a:pPr>
            <a:r>
              <a:rPr lang="en-US" dirty="0">
                <a:solidFill>
                  <a:srgbClr val="000000"/>
                </a:solidFill>
                <a:latin typeface="MiSans" pitchFamily="34" charset="0"/>
                <a:ea typeface="MiSans" pitchFamily="34" charset="-122"/>
                <a:cs typeface="MiSans" pitchFamily="34" charset="-120"/>
              </a:rPr>
              <a:t>项目覆盖了后端测试、前端测试和性能测试三个层面。</a:t>
            </a:r>
            <a:endParaRPr lang="en-US" dirty="0"/>
          </a:p>
          <a:p>
            <a:pPr algn="l">
              <a:lnSpc>
                <a:spcPct val="160000"/>
              </a:lnSpc>
            </a:pPr>
            <a:r>
              <a:rPr lang="en-US" dirty="0">
                <a:solidFill>
                  <a:srgbClr val="000000"/>
                </a:solidFill>
                <a:latin typeface="MiSans" pitchFamily="34" charset="0"/>
                <a:ea typeface="MiSans" pitchFamily="34" charset="-122"/>
                <a:cs typeface="MiSans" pitchFamily="34" charset="-120"/>
              </a:rPr>
              <a:t>后端使用 pytest 对推荐、反馈、缓存、解释等模块进行验证；前端通过视图测试保证页面核心逻辑可用；同时使用压力测试工具对推荐接口进行性能分析，为系统优化提供依据。</a:t>
            </a:r>
            <a:endParaRPr lang="en-US" dirty="0"/>
          </a:p>
        </p:txBody>
      </p:sp>
      <p:sp>
        <p:nvSpPr>
          <p:cNvPr id="9" name="Shape 6"/>
          <p:cNvSpPr/>
          <p:nvPr/>
        </p:nvSpPr>
        <p:spPr>
          <a:xfrm>
            <a:off x="10287000" y="2057400"/>
            <a:ext cx="4826000" cy="1803400"/>
          </a:xfrm>
          <a:prstGeom prst="roundRect">
            <a:avLst>
              <a:gd name="adj" fmla="val 6000"/>
            </a:avLst>
          </a:prstGeom>
          <a:gradFill flip="none" rotWithShape="1">
            <a:gsLst>
              <a:gs pos="0">
                <a:srgbClr val="DAAB00"/>
              </a:gs>
              <a:gs pos="100000">
                <a:srgbClr val="F8931D"/>
              </a:gs>
            </a:gsLst>
            <a:lin ang="2700000" scaled="1"/>
          </a:gradFill>
          <a:ln/>
        </p:spPr>
        <p:txBody>
          <a:bodyPr/>
          <a:lstStyle/>
          <a:p>
            <a:endParaRPr lang="zh-CN" altLang="en-US"/>
          </a:p>
        </p:txBody>
      </p:sp>
      <p:sp>
        <p:nvSpPr>
          <p:cNvPr id="10" name="Text 7"/>
          <p:cNvSpPr/>
          <p:nvPr/>
        </p:nvSpPr>
        <p:spPr>
          <a:xfrm>
            <a:off x="10477500" y="2159000"/>
            <a:ext cx="4445000" cy="1460500"/>
          </a:xfrm>
          <a:prstGeom prst="rect">
            <a:avLst/>
          </a:prstGeom>
          <a:noFill/>
          <a:ln/>
        </p:spPr>
        <p:txBody>
          <a:bodyPr wrap="square" lIns="0" tIns="0" rIns="0" bIns="0" rtlCol="0" anchor="t"/>
          <a:lstStyle/>
          <a:p>
            <a:pPr algn="l">
              <a:lnSpc>
                <a:spcPct val="160000"/>
              </a:lnSpc>
            </a:pPr>
            <a:r>
              <a:rPr lang="en-US" sz="1600" b="1" dirty="0">
                <a:solidFill>
                  <a:srgbClr val="FFFFFF"/>
                </a:solidFill>
                <a:latin typeface="MiSans" pitchFamily="34" charset="0"/>
                <a:ea typeface="MiSans" pitchFamily="34" charset="-122"/>
                <a:cs typeface="MiSans" pitchFamily="34" charset="-120"/>
              </a:rPr>
              <a:t>测试数据</a:t>
            </a:r>
            <a:endParaRPr lang="en-US" sz="1600" dirty="0"/>
          </a:p>
          <a:p>
            <a:pPr algn="l">
              <a:lnSpc>
                <a:spcPct val="160000"/>
              </a:lnSpc>
            </a:pPr>
            <a:r>
              <a:rPr lang="en-US" sz="1600" dirty="0">
                <a:solidFill>
                  <a:srgbClr val="FFFFFF"/>
                </a:solidFill>
                <a:latin typeface="MiSans" pitchFamily="34" charset="0"/>
                <a:ea typeface="MiSans" pitchFamily="34" charset="-122"/>
                <a:cs typeface="MiSans" pitchFamily="34" charset="-120"/>
              </a:rPr>
              <a:t>后端测试文件：35</a:t>
            </a:r>
            <a:endParaRPr lang="en-US" sz="1600" dirty="0"/>
          </a:p>
          <a:p>
            <a:pPr algn="l">
              <a:lnSpc>
                <a:spcPct val="160000"/>
              </a:lnSpc>
            </a:pPr>
            <a:r>
              <a:rPr lang="en-US" sz="1600" dirty="0">
                <a:solidFill>
                  <a:srgbClr val="FFFFFF"/>
                </a:solidFill>
                <a:latin typeface="MiSans" pitchFamily="34" charset="0"/>
                <a:ea typeface="MiSans" pitchFamily="34" charset="-122"/>
                <a:cs typeface="MiSans" pitchFamily="34" charset="-120"/>
              </a:rPr>
              <a:t>前端视图测试文件：4</a:t>
            </a:r>
            <a:endParaRPr lang="en-US" sz="1600" dirty="0"/>
          </a:p>
          <a:p>
            <a:pPr algn="l">
              <a:lnSpc>
                <a:spcPct val="160000"/>
              </a:lnSpc>
            </a:pPr>
            <a:r>
              <a:rPr lang="en-US" sz="1600" dirty="0">
                <a:solidFill>
                  <a:srgbClr val="FFFFFF"/>
                </a:solidFill>
                <a:latin typeface="MiSans" pitchFamily="34" charset="0"/>
                <a:ea typeface="MiSans" pitchFamily="34" charset="-122"/>
                <a:cs typeface="MiSans" pitchFamily="34" charset="-120"/>
              </a:rPr>
              <a:t>性能测试工具：Locust</a:t>
            </a:r>
            <a:endParaRPr lang="en-US" sz="1600" dirty="0"/>
          </a:p>
        </p:txBody>
      </p:sp>
      <p:sp>
        <p:nvSpPr>
          <p:cNvPr id="11" name="Text 8"/>
          <p:cNvSpPr/>
          <p:nvPr/>
        </p:nvSpPr>
        <p:spPr>
          <a:xfrm>
            <a:off x="889000" y="4038600"/>
            <a:ext cx="3810000" cy="355600"/>
          </a:xfrm>
          <a:prstGeom prst="rect">
            <a:avLst/>
          </a:prstGeom>
          <a:noFill/>
          <a:ln/>
        </p:spPr>
        <p:txBody>
          <a:bodyPr wrap="none" lIns="0" tIns="0" rIns="0" bIns="0" rtlCol="0" anchor="ctr"/>
          <a:lstStyle/>
          <a:p>
            <a:pPr algn="l">
              <a:lnSpc>
                <a:spcPct val="120000"/>
              </a:lnSpc>
            </a:pPr>
            <a:r>
              <a:rPr lang="en-US" sz="2400" b="1" dirty="0">
                <a:solidFill>
                  <a:srgbClr val="000000"/>
                </a:solidFill>
                <a:latin typeface="汉仪行楷简" pitchFamily="34" charset="0"/>
                <a:ea typeface="汉仪行楷简" pitchFamily="34" charset="-122"/>
                <a:cs typeface="汉仪行楷简" pitchFamily="34" charset="-120"/>
              </a:rPr>
              <a:t>阶段总结</a:t>
            </a:r>
            <a:endParaRPr lang="en-US" sz="2400" dirty="0"/>
          </a:p>
        </p:txBody>
      </p:sp>
      <p:sp>
        <p:nvSpPr>
          <p:cNvPr id="12" name="Shape 9"/>
          <p:cNvSpPr/>
          <p:nvPr/>
        </p:nvSpPr>
        <p:spPr>
          <a:xfrm>
            <a:off x="889000" y="4470400"/>
            <a:ext cx="14478000" cy="1968500"/>
          </a:xfrm>
          <a:prstGeom prst="roundRect">
            <a:avLst>
              <a:gd name="adj" fmla="val 5000"/>
            </a:avLst>
          </a:prstGeom>
          <a:solidFill>
            <a:srgbClr val="000000">
              <a:alpha val="784"/>
            </a:srgbClr>
          </a:solidFill>
          <a:ln/>
        </p:spPr>
        <p:txBody>
          <a:bodyPr/>
          <a:lstStyle/>
          <a:p>
            <a:endParaRPr lang="zh-CN" altLang="en-US"/>
          </a:p>
        </p:txBody>
      </p:sp>
      <p:sp>
        <p:nvSpPr>
          <p:cNvPr id="13" name="Text 10"/>
          <p:cNvSpPr/>
          <p:nvPr/>
        </p:nvSpPr>
        <p:spPr>
          <a:xfrm>
            <a:off x="1117600" y="4597400"/>
            <a:ext cx="14020800" cy="1714500"/>
          </a:xfrm>
          <a:prstGeom prst="rect">
            <a:avLst/>
          </a:prstGeom>
          <a:noFill/>
          <a:ln/>
        </p:spPr>
        <p:txBody>
          <a:bodyPr wrap="square" lIns="0" tIns="0" rIns="0" bIns="0" rtlCol="0" anchor="t"/>
          <a:lstStyle/>
          <a:p>
            <a:pPr algn="l">
              <a:lnSpc>
                <a:spcPct val="160000"/>
              </a:lnSpc>
            </a:pPr>
            <a:r>
              <a:rPr lang="en-US" dirty="0">
                <a:solidFill>
                  <a:srgbClr val="000000"/>
                </a:solidFill>
                <a:latin typeface="MiSans" pitchFamily="34" charset="0"/>
                <a:ea typeface="MiSans" pitchFamily="34" charset="-122"/>
                <a:cs typeface="MiSans" pitchFamily="34" charset="-120"/>
              </a:rPr>
              <a:t>项目开发过程中优先保证"可运行、可演示、可讲解"的核心目标，先完成推荐主链路，再逐步补充个性化偏好、解释系统、反馈机制和性能优化。</a:t>
            </a:r>
            <a:endParaRPr lang="en-US" dirty="0"/>
          </a:p>
          <a:p>
            <a:pPr algn="l">
              <a:lnSpc>
                <a:spcPct val="160000"/>
              </a:lnSpc>
              <a:spcBef>
                <a:spcPts val="600"/>
              </a:spcBef>
            </a:pPr>
            <a:r>
              <a:rPr lang="en-US" dirty="0">
                <a:solidFill>
                  <a:srgbClr val="000000"/>
                </a:solidFill>
                <a:latin typeface="MiSans" pitchFamily="34" charset="0"/>
                <a:ea typeface="MiSans" pitchFamily="34" charset="-122"/>
                <a:cs typeface="MiSans" pitchFamily="34" charset="-120"/>
              </a:rPr>
              <a:t>最终，项目不仅完成了基础功能开发，也沉淀了较完整的设计文档和测试材料，体现了课程项目从设计到实现再到验证的完整过程。</a:t>
            </a:r>
            <a:endParaRPr lang="en-US" dirty="0"/>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3.png"/>
          <p:cNvPicPr>
            <a:picLocks noChangeAspect="1"/>
          </p:cNvPicPr>
          <p:nvPr/>
        </p:nvPicPr>
        <p:blipFill>
          <a:blip r:embed="rId3"/>
          <a:stretch>
            <a:fillRect/>
          </a:stretch>
        </p:blipFill>
        <p:spPr>
          <a:xfrm>
            <a:off x="-22098"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3</a:t>
            </a:r>
            <a:endParaRPr lang="en-US" sz="1330" dirty="0"/>
          </a:p>
        </p:txBody>
      </p:sp>
      <p:sp>
        <p:nvSpPr>
          <p:cNvPr id="4" name="Text 1"/>
          <p:cNvSpPr/>
          <p:nvPr/>
        </p:nvSpPr>
        <p:spPr>
          <a:xfrm>
            <a:off x="2500503" y="5481066"/>
            <a:ext cx="11254994" cy="1025906"/>
          </a:xfrm>
          <a:prstGeom prst="rect">
            <a:avLst/>
          </a:prstGeom>
          <a:noFill/>
          <a:ln/>
        </p:spPr>
        <p:txBody>
          <a:bodyPr wrap="square" lIns="0" tIns="0" rIns="0" bIns="0" rtlCol="0" anchor="ctr"/>
          <a:lstStyle/>
          <a:p>
            <a:pPr algn="ctr">
              <a:lnSpc>
                <a:spcPct val="120000"/>
              </a:lnSpc>
            </a:pPr>
            <a:r>
              <a:rPr lang="en-US" sz="5870" dirty="0">
                <a:solidFill>
                  <a:srgbClr val="000000"/>
                </a:solidFill>
                <a:latin typeface="汉仪行楷简" pitchFamily="34" charset="0"/>
                <a:ea typeface="汉仪行楷简" pitchFamily="34" charset="-122"/>
                <a:cs typeface="汉仪行楷简" pitchFamily="34" charset="-120"/>
              </a:rPr>
              <a:t>系统总结与展望</a:t>
            </a:r>
            <a:endParaRPr lang="en-US" sz="5870" dirty="0"/>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Shape 1"/>
          <p:cNvSpPr/>
          <p:nvPr/>
        </p:nvSpPr>
        <p:spPr>
          <a:xfrm>
            <a:off x="880491" y="2297303"/>
            <a:ext cx="14478000" cy="0"/>
          </a:xfrm>
          <a:prstGeom prst="line">
            <a:avLst/>
          </a:prstGeom>
          <a:noFill/>
          <a:ln w="12700">
            <a:solidFill>
              <a:srgbClr val="000000"/>
            </a:solidFill>
            <a:prstDash val="solid"/>
            <a:headEnd type="none"/>
            <a:tailEnd type="none"/>
          </a:ln>
        </p:spPr>
        <p:txBody>
          <a:bodyPr/>
          <a:lstStyle/>
          <a:p>
            <a:endParaRPr lang="zh-CN" altLang="en-US"/>
          </a:p>
        </p:txBody>
      </p:sp>
      <p:sp>
        <p:nvSpPr>
          <p:cNvPr id="5" name="Shape 2"/>
          <p:cNvSpPr/>
          <p:nvPr/>
        </p:nvSpPr>
        <p:spPr>
          <a:xfrm>
            <a:off x="3000629" y="2297303"/>
            <a:ext cx="0" cy="1363726"/>
          </a:xfrm>
          <a:prstGeom prst="line">
            <a:avLst/>
          </a:prstGeom>
          <a:noFill/>
          <a:ln w="12700">
            <a:solidFill>
              <a:srgbClr val="000000"/>
            </a:solidFill>
            <a:prstDash val="solid"/>
            <a:headEnd type="none"/>
            <a:tailEnd type="none"/>
          </a:ln>
        </p:spPr>
        <p:txBody>
          <a:bodyPr/>
          <a:lstStyle/>
          <a:p>
            <a:endParaRPr lang="zh-CN" altLang="en-US"/>
          </a:p>
        </p:txBody>
      </p:sp>
      <p:sp>
        <p:nvSpPr>
          <p:cNvPr id="6" name="Text 3"/>
          <p:cNvSpPr/>
          <p:nvPr/>
        </p:nvSpPr>
        <p:spPr>
          <a:xfrm>
            <a:off x="880491" y="3690874"/>
            <a:ext cx="4240276" cy="1033145"/>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前端鉴权不完整</a:t>
            </a:r>
            <a:endParaRPr lang="en-US" sz="3200" dirty="0"/>
          </a:p>
        </p:txBody>
      </p:sp>
      <p:sp>
        <p:nvSpPr>
          <p:cNvPr id="7" name="Text 4"/>
          <p:cNvSpPr/>
          <p:nvPr/>
        </p:nvSpPr>
        <p:spPr>
          <a:xfrm>
            <a:off x="1351547" y="4724146"/>
            <a:ext cx="3556000" cy="1692275"/>
          </a:xfrm>
          <a:prstGeom prst="rect">
            <a:avLst/>
          </a:prstGeom>
          <a:noFill/>
          <a:ln/>
        </p:spPr>
        <p:txBody>
          <a:bodyPr wrap="square" lIns="0" tIns="0" rIns="0" bIns="0" rtlCol="0" anchor="t"/>
          <a:lstStyle/>
          <a:p>
            <a:pPr algn="ctr">
              <a:lnSpc>
                <a:spcPct val="120000"/>
              </a:lnSpc>
            </a:pPr>
            <a:r>
              <a:rPr lang="zh-CN" altLang="en-US" sz="2130" dirty="0">
                <a:solidFill>
                  <a:srgbClr val="000000"/>
                </a:solidFill>
                <a:latin typeface="黑体" panose="02010609060101010101" pitchFamily="49" charset="-122"/>
                <a:ea typeface="黑体" panose="02010609060101010101" pitchFamily="49" charset="-122"/>
                <a:cs typeface="思源黑体 CN Regular" pitchFamily="34" charset="-120"/>
              </a:rPr>
              <a:t>当前用户注册与登录模块仅实现了基础身份验证，密码存储、传输加密及安全防护机制仍不完善。</a:t>
            </a:r>
            <a:endParaRPr lang="en-US" sz="2130" dirty="0"/>
          </a:p>
        </p:txBody>
      </p:sp>
      <p:sp>
        <p:nvSpPr>
          <p:cNvPr id="8" name="Text 5"/>
          <p:cNvSpPr/>
          <p:nvPr/>
        </p:nvSpPr>
        <p:spPr>
          <a:xfrm>
            <a:off x="2324608" y="1320800"/>
            <a:ext cx="1352042" cy="914908"/>
          </a:xfrm>
          <a:prstGeom prst="rect">
            <a:avLst/>
          </a:prstGeom>
          <a:noFill/>
          <a:ln/>
        </p:spPr>
        <p:txBody>
          <a:bodyPr wrap="none" lIns="0" tIns="0" rIns="0" bIns="0" rtlCol="0" anchor="ctr"/>
          <a:lstStyle/>
          <a:p>
            <a:pPr algn="ctr">
              <a:lnSpc>
                <a:spcPct val="120000"/>
              </a:lnSpc>
            </a:pPr>
            <a:r>
              <a:rPr lang="en-US" sz="4270" b="1" dirty="0">
                <a:solidFill>
                  <a:srgbClr val="000000"/>
                </a:solidFill>
                <a:latin typeface="Arial" pitchFamily="34" charset="0"/>
                <a:ea typeface="Arial" pitchFamily="34" charset="-122"/>
                <a:cs typeface="Arial" pitchFamily="34" charset="-120"/>
              </a:rPr>
              <a:t>01</a:t>
            </a:r>
            <a:endParaRPr lang="en-US" sz="4270" dirty="0"/>
          </a:p>
        </p:txBody>
      </p:sp>
      <p:sp>
        <p:nvSpPr>
          <p:cNvPr id="9" name="Shape 6"/>
          <p:cNvSpPr/>
          <p:nvPr/>
        </p:nvSpPr>
        <p:spPr>
          <a:xfrm>
            <a:off x="8119491" y="2297303"/>
            <a:ext cx="0" cy="1363726"/>
          </a:xfrm>
          <a:prstGeom prst="line">
            <a:avLst/>
          </a:prstGeom>
          <a:noFill/>
          <a:ln w="12700">
            <a:solidFill>
              <a:srgbClr val="000000"/>
            </a:solidFill>
            <a:prstDash val="solid"/>
            <a:headEnd type="none"/>
            <a:tailEnd type="none"/>
          </a:ln>
        </p:spPr>
        <p:txBody>
          <a:bodyPr/>
          <a:lstStyle/>
          <a:p>
            <a:endParaRPr lang="zh-CN" altLang="en-US"/>
          </a:p>
        </p:txBody>
      </p:sp>
      <p:sp>
        <p:nvSpPr>
          <p:cNvPr id="10" name="Text 7"/>
          <p:cNvSpPr/>
          <p:nvPr/>
        </p:nvSpPr>
        <p:spPr>
          <a:xfrm>
            <a:off x="5999353" y="3690874"/>
            <a:ext cx="4240276" cy="1033145"/>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架构规模有限</a:t>
            </a:r>
            <a:endParaRPr lang="en-US" sz="3200" dirty="0"/>
          </a:p>
        </p:txBody>
      </p:sp>
      <p:sp>
        <p:nvSpPr>
          <p:cNvPr id="11" name="Text 8"/>
          <p:cNvSpPr/>
          <p:nvPr/>
        </p:nvSpPr>
        <p:spPr>
          <a:xfrm>
            <a:off x="6683629" y="4724146"/>
            <a:ext cx="3069971" cy="1692275"/>
          </a:xfrm>
          <a:prstGeom prst="rect">
            <a:avLst/>
          </a:prstGeom>
          <a:noFill/>
          <a:ln/>
        </p:spPr>
        <p:txBody>
          <a:bodyPr wrap="square" lIns="0" tIns="0" rIns="0" bIns="0" rtlCol="0" anchor="t"/>
          <a:lstStyle/>
          <a:p>
            <a:pPr algn="ctr">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项目并非大规模微服务系统，未涉及服务注册发现、分布式事务等更复杂的分布式课题。</a:t>
            </a:r>
            <a:endParaRPr lang="en-US" sz="2130" dirty="0"/>
          </a:p>
        </p:txBody>
      </p:sp>
      <p:sp>
        <p:nvSpPr>
          <p:cNvPr id="12" name="Text 9"/>
          <p:cNvSpPr/>
          <p:nvPr/>
        </p:nvSpPr>
        <p:spPr>
          <a:xfrm>
            <a:off x="7443470" y="1320800"/>
            <a:ext cx="1352042" cy="914908"/>
          </a:xfrm>
          <a:prstGeom prst="rect">
            <a:avLst/>
          </a:prstGeom>
          <a:noFill/>
          <a:ln/>
        </p:spPr>
        <p:txBody>
          <a:bodyPr wrap="none" lIns="0" tIns="0" rIns="0" bIns="0" rtlCol="0" anchor="ctr"/>
          <a:lstStyle/>
          <a:p>
            <a:pPr algn="ctr">
              <a:lnSpc>
                <a:spcPct val="120000"/>
              </a:lnSpc>
            </a:pPr>
            <a:r>
              <a:rPr lang="en-US" sz="4270" b="1" dirty="0">
                <a:solidFill>
                  <a:srgbClr val="000000"/>
                </a:solidFill>
                <a:latin typeface="Arial" pitchFamily="34" charset="0"/>
                <a:ea typeface="Arial" pitchFamily="34" charset="-122"/>
                <a:cs typeface="Arial" pitchFamily="34" charset="-120"/>
              </a:rPr>
              <a:t>02</a:t>
            </a:r>
            <a:endParaRPr lang="en-US" sz="4270" dirty="0"/>
          </a:p>
        </p:txBody>
      </p:sp>
      <p:sp>
        <p:nvSpPr>
          <p:cNvPr id="13" name="Shape 10"/>
          <p:cNvSpPr/>
          <p:nvPr/>
        </p:nvSpPr>
        <p:spPr>
          <a:xfrm>
            <a:off x="13238353" y="2297303"/>
            <a:ext cx="0" cy="1363726"/>
          </a:xfrm>
          <a:prstGeom prst="line">
            <a:avLst/>
          </a:prstGeom>
          <a:noFill/>
          <a:ln w="12700">
            <a:solidFill>
              <a:srgbClr val="000000"/>
            </a:solidFill>
            <a:prstDash val="solid"/>
            <a:headEnd type="none"/>
            <a:tailEnd type="none"/>
          </a:ln>
        </p:spPr>
        <p:txBody>
          <a:bodyPr/>
          <a:lstStyle/>
          <a:p>
            <a:endParaRPr lang="zh-CN" altLang="en-US"/>
          </a:p>
        </p:txBody>
      </p:sp>
      <p:sp>
        <p:nvSpPr>
          <p:cNvPr id="14" name="Text 11"/>
          <p:cNvSpPr/>
          <p:nvPr/>
        </p:nvSpPr>
        <p:spPr>
          <a:xfrm>
            <a:off x="11118342" y="3690874"/>
            <a:ext cx="4240276" cy="1033145"/>
          </a:xfrm>
          <a:prstGeom prst="rect">
            <a:avLst/>
          </a:prstGeom>
          <a:noFill/>
          <a:ln/>
        </p:spPr>
        <p:txBody>
          <a:bodyPr wrap="square" lIns="0" tIns="0" rIns="0" bIns="0" rtlCol="0" anchor="b"/>
          <a:lstStyle/>
          <a:p>
            <a:pPr algn="ctr">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性能瓶颈明确</a:t>
            </a:r>
            <a:endParaRPr lang="en-US" sz="3200" dirty="0"/>
          </a:p>
        </p:txBody>
      </p:sp>
      <p:sp>
        <p:nvSpPr>
          <p:cNvPr id="15" name="Text 12"/>
          <p:cNvSpPr/>
          <p:nvPr/>
        </p:nvSpPr>
        <p:spPr>
          <a:xfrm>
            <a:off x="11662029" y="4724146"/>
            <a:ext cx="3374771" cy="1692275"/>
          </a:xfrm>
          <a:prstGeom prst="rect">
            <a:avLst/>
          </a:prstGeom>
          <a:noFill/>
          <a:ln/>
        </p:spPr>
        <p:txBody>
          <a:bodyPr wrap="square" lIns="0" tIns="0" rIns="0" bIns="0" rtlCol="0" anchor="t"/>
          <a:lstStyle/>
          <a:p>
            <a:pPr algn="ctr">
              <a:lnSpc>
                <a:spcPct val="12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系统性能高度依赖外部LLM服务，标准模式下的延迟问题仍有待通过更先进的模型压缩或蒸馏技术来解决。</a:t>
            </a:r>
            <a:endParaRPr lang="en-US" sz="2130" dirty="0"/>
          </a:p>
        </p:txBody>
      </p:sp>
      <p:sp>
        <p:nvSpPr>
          <p:cNvPr id="16" name="Text 13"/>
          <p:cNvSpPr/>
          <p:nvPr/>
        </p:nvSpPr>
        <p:spPr>
          <a:xfrm>
            <a:off x="12562459" y="1320800"/>
            <a:ext cx="1352042" cy="914908"/>
          </a:xfrm>
          <a:prstGeom prst="rect">
            <a:avLst/>
          </a:prstGeom>
          <a:noFill/>
          <a:ln/>
        </p:spPr>
        <p:txBody>
          <a:bodyPr wrap="none" lIns="0" tIns="0" rIns="0" bIns="0" rtlCol="0" anchor="ctr"/>
          <a:lstStyle/>
          <a:p>
            <a:pPr algn="ctr">
              <a:lnSpc>
                <a:spcPct val="120000"/>
              </a:lnSpc>
            </a:pPr>
            <a:r>
              <a:rPr lang="en-US" sz="4270" b="1" dirty="0">
                <a:solidFill>
                  <a:srgbClr val="000000"/>
                </a:solidFill>
                <a:latin typeface="Arial" pitchFamily="34" charset="0"/>
                <a:ea typeface="Arial" pitchFamily="34" charset="-122"/>
                <a:cs typeface="Arial" pitchFamily="34" charset="-120"/>
              </a:rPr>
              <a:t>03</a:t>
            </a:r>
            <a:endParaRPr lang="en-US" sz="4270" dirty="0"/>
          </a:p>
        </p:txBody>
      </p:sp>
      <p:sp>
        <p:nvSpPr>
          <p:cNvPr id="17" name="Text 14"/>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系统不足与反思</a:t>
            </a:r>
            <a:endParaRPr lang="en-US" sz="3730" dirty="0"/>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4.png"/>
          <p:cNvPicPr>
            <a:picLocks noChangeAspect="1"/>
          </p:cNvPicPr>
          <p:nvPr/>
        </p:nvPicPr>
        <p:blipFill>
          <a:blip r:embed="rId3"/>
          <a:stretch>
            <a:fillRect/>
          </a:stretch>
        </p:blipFill>
        <p:spPr>
          <a:xfrm>
            <a:off x="0" y="0"/>
            <a:ext cx="16256000" cy="9144000"/>
          </a:xfrm>
          <a:prstGeom prst="rect">
            <a:avLst/>
          </a:prstGeom>
        </p:spPr>
      </p:pic>
      <p:sp>
        <p:nvSpPr>
          <p:cNvPr id="3" name="Text 0"/>
          <p:cNvSpPr/>
          <p:nvPr/>
        </p:nvSpPr>
        <p:spPr>
          <a:xfrm>
            <a:off x="10481691" y="8546211"/>
            <a:ext cx="4876800" cy="365760"/>
          </a:xfrm>
          <a:prstGeom prst="rect">
            <a:avLst/>
          </a:prstGeom>
          <a:noFill/>
          <a:ln/>
        </p:spPr>
        <p:txBody>
          <a:bodyPr wrap="square" lIns="0" tIns="0" rIns="0" bIns="0" rtlCol="0" anchor="ctr"/>
          <a:lstStyle/>
          <a:p>
            <a:pPr algn="r">
              <a:lnSpc>
                <a:spcPct val="120000"/>
              </a:lnSpc>
            </a:pPr>
            <a:r>
              <a:rPr lang="en-US" sz="1330" dirty="0">
                <a:solidFill>
                  <a:srgbClr val="BFBFBF"/>
                </a:solidFill>
                <a:latin typeface="Average" pitchFamily="34" charset="0"/>
                <a:ea typeface="Average" pitchFamily="34" charset="-122"/>
                <a:cs typeface="Average" pitchFamily="34" charset="-120"/>
              </a:rPr>
              <a:t>4</a:t>
            </a:r>
            <a:endParaRPr lang="en-US" sz="1330" dirty="0"/>
          </a:p>
        </p:txBody>
      </p:sp>
      <p:sp>
        <p:nvSpPr>
          <p:cNvPr id="4" name="Shape 1"/>
          <p:cNvSpPr/>
          <p:nvPr/>
        </p:nvSpPr>
        <p:spPr>
          <a:xfrm>
            <a:off x="0" y="0"/>
            <a:ext cx="16256000" cy="9144000"/>
          </a:xfrm>
          <a:prstGeom prst="rect">
            <a:avLst/>
          </a:prstGeom>
          <a:solidFill>
            <a:srgbClr val="000000">
              <a:alpha val="235"/>
            </a:srgbClr>
          </a:solidFill>
          <a:ln/>
        </p:spPr>
        <p:txBody>
          <a:bodyPr/>
          <a:lstStyle/>
          <a:p>
            <a:endParaRPr lang="zh-CN" altLang="en-US"/>
          </a:p>
        </p:txBody>
      </p:sp>
      <p:sp>
        <p:nvSpPr>
          <p:cNvPr id="5" name="Shape 2"/>
          <p:cNvSpPr/>
          <p:nvPr/>
        </p:nvSpPr>
        <p:spPr>
          <a:xfrm>
            <a:off x="880491" y="1507109"/>
            <a:ext cx="3619500" cy="6671691"/>
          </a:xfrm>
          <a:prstGeom prst="rect">
            <a:avLst/>
          </a:prstGeom>
          <a:solidFill>
            <a:srgbClr val="F8931D">
              <a:alpha val="12078"/>
            </a:srgbClr>
          </a:solidFill>
          <a:ln/>
        </p:spPr>
        <p:txBody>
          <a:bodyPr/>
          <a:lstStyle/>
          <a:p>
            <a:endParaRPr lang="zh-CN" altLang="en-US"/>
          </a:p>
        </p:txBody>
      </p:sp>
      <p:sp>
        <p:nvSpPr>
          <p:cNvPr id="6" name="Text 3"/>
          <p:cNvSpPr/>
          <p:nvPr/>
        </p:nvSpPr>
        <p:spPr>
          <a:xfrm>
            <a:off x="1005459" y="2904109"/>
            <a:ext cx="3369691" cy="1198372"/>
          </a:xfrm>
          <a:prstGeom prst="rect">
            <a:avLst/>
          </a:prstGeom>
          <a:noFill/>
          <a:ln/>
        </p:spPr>
        <p:txBody>
          <a:bodyPr wrap="square" lIns="0" tIns="0" rIns="0" bIns="0" rtlCol="0" anchor="b"/>
          <a:lstStyle/>
          <a:p>
            <a:pPr algn="l">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完善用户认证</a:t>
            </a:r>
            <a:endParaRPr lang="en-US" sz="3200" dirty="0"/>
          </a:p>
        </p:txBody>
      </p:sp>
      <p:sp>
        <p:nvSpPr>
          <p:cNvPr id="7" name="Text 4"/>
          <p:cNvSpPr/>
          <p:nvPr/>
        </p:nvSpPr>
        <p:spPr>
          <a:xfrm>
            <a:off x="1005459" y="4102481"/>
            <a:ext cx="3369691" cy="3864610"/>
          </a:xfrm>
          <a:prstGeom prst="rect">
            <a:avLst/>
          </a:prstGeom>
          <a:noFill/>
          <a:ln/>
        </p:spPr>
        <p:txBody>
          <a:bodyPr wrap="square" lIns="0" tIns="0" rIns="0" bIns="0" rtlCol="0" anchor="t"/>
          <a:lstStyle/>
          <a:p>
            <a:pPr algn="l">
              <a:lnSpc>
                <a:spcPct val="13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实现基于JWT或Session的完整用户认证与授权流程，保障用户数据安全。</a:t>
            </a:r>
            <a:endParaRPr lang="en-US" sz="2130" dirty="0"/>
          </a:p>
        </p:txBody>
      </p:sp>
      <p:sp>
        <p:nvSpPr>
          <p:cNvPr id="8" name="Text 5"/>
          <p:cNvSpPr/>
          <p:nvPr/>
        </p:nvSpPr>
        <p:spPr>
          <a:xfrm>
            <a:off x="2205609" y="1860550"/>
            <a:ext cx="969391" cy="969391"/>
          </a:xfrm>
          <a:prstGeom prst="rect">
            <a:avLst/>
          </a:prstGeom>
          <a:noFill/>
          <a:ln/>
        </p:spPr>
        <p:txBody>
          <a:bodyPr wrap="none" lIns="0" tIns="0" rIns="0" bIns="0" rtlCol="0" anchor="ctr"/>
          <a:lstStyle/>
          <a:p>
            <a:pPr algn="ctr">
              <a:lnSpc>
                <a:spcPct val="120000"/>
              </a:lnSpc>
            </a:pPr>
            <a:r>
              <a:rPr lang="en-US" sz="5330" b="1" dirty="0">
                <a:solidFill>
                  <a:srgbClr val="000000"/>
                </a:solidFill>
                <a:latin typeface="Arial" pitchFamily="34" charset="0"/>
                <a:ea typeface="Arial" pitchFamily="34" charset="-122"/>
                <a:cs typeface="Arial" pitchFamily="34" charset="-120"/>
              </a:rPr>
              <a:t>01</a:t>
            </a:r>
            <a:endParaRPr lang="en-US" sz="5330" dirty="0"/>
          </a:p>
        </p:txBody>
      </p:sp>
      <p:sp>
        <p:nvSpPr>
          <p:cNvPr id="9" name="Shape 6"/>
          <p:cNvSpPr/>
          <p:nvPr/>
        </p:nvSpPr>
        <p:spPr>
          <a:xfrm>
            <a:off x="4499991" y="1507109"/>
            <a:ext cx="3619500" cy="6671691"/>
          </a:xfrm>
          <a:prstGeom prst="rect">
            <a:avLst/>
          </a:prstGeom>
          <a:solidFill>
            <a:srgbClr val="FFFFFF"/>
          </a:solidFill>
          <a:ln/>
        </p:spPr>
        <p:txBody>
          <a:bodyPr/>
          <a:lstStyle/>
          <a:p>
            <a:endParaRPr lang="zh-CN" altLang="en-US"/>
          </a:p>
        </p:txBody>
      </p:sp>
      <p:sp>
        <p:nvSpPr>
          <p:cNvPr id="10" name="Text 7"/>
          <p:cNvSpPr/>
          <p:nvPr/>
        </p:nvSpPr>
        <p:spPr>
          <a:xfrm>
            <a:off x="4624959" y="2904109"/>
            <a:ext cx="3369691" cy="1198372"/>
          </a:xfrm>
          <a:prstGeom prst="rect">
            <a:avLst/>
          </a:prstGeom>
          <a:noFill/>
          <a:ln/>
        </p:spPr>
        <p:txBody>
          <a:bodyPr wrap="square" lIns="0" tIns="0" rIns="0" bIns="0" rtlCol="0" anchor="b"/>
          <a:lstStyle/>
          <a:p>
            <a:pPr algn="l">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探索本地小模型</a:t>
            </a:r>
            <a:endParaRPr lang="en-US" sz="3200" dirty="0"/>
          </a:p>
        </p:txBody>
      </p:sp>
      <p:sp>
        <p:nvSpPr>
          <p:cNvPr id="11" name="Text 8"/>
          <p:cNvSpPr/>
          <p:nvPr/>
        </p:nvSpPr>
        <p:spPr>
          <a:xfrm>
            <a:off x="4624959" y="4102481"/>
            <a:ext cx="3369691" cy="3864610"/>
          </a:xfrm>
          <a:prstGeom prst="rect">
            <a:avLst/>
          </a:prstGeom>
          <a:noFill/>
          <a:ln/>
        </p:spPr>
        <p:txBody>
          <a:bodyPr wrap="square" lIns="0" tIns="0" rIns="0" bIns="0" rtlCol="0" anchor="t"/>
          <a:lstStyle/>
          <a:p>
            <a:pPr algn="l">
              <a:lnSpc>
                <a:spcPct val="13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研究使用轻量级蒸馏模型替代部分LLM功能，以降低对外部API的依赖和调用延迟。</a:t>
            </a:r>
            <a:endParaRPr lang="en-US" sz="2130" dirty="0"/>
          </a:p>
        </p:txBody>
      </p:sp>
      <p:sp>
        <p:nvSpPr>
          <p:cNvPr id="12" name="Text 9"/>
          <p:cNvSpPr/>
          <p:nvPr/>
        </p:nvSpPr>
        <p:spPr>
          <a:xfrm>
            <a:off x="5825109" y="1860550"/>
            <a:ext cx="969391" cy="969391"/>
          </a:xfrm>
          <a:prstGeom prst="rect">
            <a:avLst/>
          </a:prstGeom>
          <a:noFill/>
          <a:ln/>
        </p:spPr>
        <p:txBody>
          <a:bodyPr wrap="none" lIns="0" tIns="0" rIns="0" bIns="0" rtlCol="0" anchor="ctr"/>
          <a:lstStyle/>
          <a:p>
            <a:pPr algn="ctr">
              <a:lnSpc>
                <a:spcPct val="120000"/>
              </a:lnSpc>
            </a:pPr>
            <a:r>
              <a:rPr lang="en-US" sz="5330" b="1" dirty="0">
                <a:solidFill>
                  <a:srgbClr val="000000"/>
                </a:solidFill>
                <a:latin typeface="Arial" pitchFamily="34" charset="0"/>
                <a:ea typeface="Arial" pitchFamily="34" charset="-122"/>
                <a:cs typeface="Arial" pitchFamily="34" charset="-120"/>
              </a:rPr>
              <a:t>02</a:t>
            </a:r>
            <a:endParaRPr lang="en-US" sz="5330" dirty="0"/>
          </a:p>
        </p:txBody>
      </p:sp>
      <p:sp>
        <p:nvSpPr>
          <p:cNvPr id="13" name="Shape 10"/>
          <p:cNvSpPr/>
          <p:nvPr/>
        </p:nvSpPr>
        <p:spPr>
          <a:xfrm>
            <a:off x="8119491" y="1507109"/>
            <a:ext cx="3619500" cy="6671691"/>
          </a:xfrm>
          <a:prstGeom prst="rect">
            <a:avLst/>
          </a:prstGeom>
          <a:solidFill>
            <a:srgbClr val="F8931D">
              <a:alpha val="12078"/>
            </a:srgbClr>
          </a:solidFill>
          <a:ln/>
        </p:spPr>
        <p:txBody>
          <a:bodyPr/>
          <a:lstStyle/>
          <a:p>
            <a:endParaRPr lang="zh-CN" altLang="en-US"/>
          </a:p>
        </p:txBody>
      </p:sp>
      <p:sp>
        <p:nvSpPr>
          <p:cNvPr id="14" name="Text 11"/>
          <p:cNvSpPr/>
          <p:nvPr/>
        </p:nvSpPr>
        <p:spPr>
          <a:xfrm>
            <a:off x="8244459" y="2904109"/>
            <a:ext cx="3369691" cy="1198372"/>
          </a:xfrm>
          <a:prstGeom prst="rect">
            <a:avLst/>
          </a:prstGeom>
          <a:noFill/>
          <a:ln/>
        </p:spPr>
        <p:txBody>
          <a:bodyPr wrap="square" lIns="0" tIns="0" rIns="0" bIns="0" rtlCol="0" anchor="b"/>
          <a:lstStyle/>
          <a:p>
            <a:pPr algn="l">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引入更复杂特征</a:t>
            </a:r>
            <a:endParaRPr lang="en-US" sz="3200" dirty="0"/>
          </a:p>
        </p:txBody>
      </p:sp>
      <p:sp>
        <p:nvSpPr>
          <p:cNvPr id="15" name="Text 12"/>
          <p:cNvSpPr/>
          <p:nvPr/>
        </p:nvSpPr>
        <p:spPr>
          <a:xfrm>
            <a:off x="8244459" y="4102481"/>
            <a:ext cx="3369691" cy="3864610"/>
          </a:xfrm>
          <a:prstGeom prst="rect">
            <a:avLst/>
          </a:prstGeom>
          <a:noFill/>
          <a:ln/>
        </p:spPr>
        <p:txBody>
          <a:bodyPr wrap="square" lIns="0" tIns="0" rIns="0" bIns="0" rtlCol="0" anchor="t"/>
          <a:lstStyle/>
          <a:p>
            <a:pPr algn="l">
              <a:lnSpc>
                <a:spcPct val="13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未来可考虑接入实时排队、用户画像等更丰富的数据源，使推荐策略更加精细化。</a:t>
            </a:r>
            <a:endParaRPr lang="en-US" sz="2130" dirty="0"/>
          </a:p>
        </p:txBody>
      </p:sp>
      <p:sp>
        <p:nvSpPr>
          <p:cNvPr id="16" name="Text 13"/>
          <p:cNvSpPr/>
          <p:nvPr/>
        </p:nvSpPr>
        <p:spPr>
          <a:xfrm>
            <a:off x="9444609" y="1860550"/>
            <a:ext cx="969391" cy="969391"/>
          </a:xfrm>
          <a:prstGeom prst="rect">
            <a:avLst/>
          </a:prstGeom>
          <a:noFill/>
          <a:ln/>
        </p:spPr>
        <p:txBody>
          <a:bodyPr wrap="none" lIns="0" tIns="0" rIns="0" bIns="0" rtlCol="0" anchor="ctr"/>
          <a:lstStyle/>
          <a:p>
            <a:pPr algn="ctr">
              <a:lnSpc>
                <a:spcPct val="120000"/>
              </a:lnSpc>
            </a:pPr>
            <a:r>
              <a:rPr lang="en-US" sz="5330" b="1" dirty="0">
                <a:solidFill>
                  <a:srgbClr val="000000"/>
                </a:solidFill>
                <a:latin typeface="Arial" pitchFamily="34" charset="0"/>
                <a:ea typeface="Arial" pitchFamily="34" charset="-122"/>
                <a:cs typeface="Arial" pitchFamily="34" charset="-120"/>
              </a:rPr>
              <a:t>03</a:t>
            </a:r>
            <a:endParaRPr lang="en-US" sz="5330" dirty="0"/>
          </a:p>
        </p:txBody>
      </p:sp>
      <p:sp>
        <p:nvSpPr>
          <p:cNvPr id="17" name="Shape 14"/>
          <p:cNvSpPr/>
          <p:nvPr/>
        </p:nvSpPr>
        <p:spPr>
          <a:xfrm>
            <a:off x="11738991" y="1507109"/>
            <a:ext cx="3619500" cy="6671691"/>
          </a:xfrm>
          <a:prstGeom prst="rect">
            <a:avLst/>
          </a:prstGeom>
          <a:solidFill>
            <a:srgbClr val="FFFFFF"/>
          </a:solidFill>
          <a:ln/>
        </p:spPr>
        <p:txBody>
          <a:bodyPr/>
          <a:lstStyle/>
          <a:p>
            <a:endParaRPr lang="zh-CN" altLang="en-US"/>
          </a:p>
        </p:txBody>
      </p:sp>
      <p:sp>
        <p:nvSpPr>
          <p:cNvPr id="18" name="Text 15"/>
          <p:cNvSpPr/>
          <p:nvPr/>
        </p:nvSpPr>
        <p:spPr>
          <a:xfrm>
            <a:off x="11863959" y="2904109"/>
            <a:ext cx="3369691" cy="1198372"/>
          </a:xfrm>
          <a:prstGeom prst="rect">
            <a:avLst/>
          </a:prstGeom>
          <a:noFill/>
          <a:ln/>
        </p:spPr>
        <p:txBody>
          <a:bodyPr wrap="square" lIns="0" tIns="0" rIns="0" bIns="0" rtlCol="0" anchor="b"/>
          <a:lstStyle/>
          <a:p>
            <a:pPr algn="l">
              <a:lnSpc>
                <a:spcPct val="120000"/>
              </a:lnSpc>
            </a:pPr>
            <a:r>
              <a:rPr lang="en-US" sz="3200" b="1" dirty="0">
                <a:solidFill>
                  <a:srgbClr val="000000"/>
                </a:solidFill>
                <a:latin typeface="汉仪行楷简" pitchFamily="34" charset="0"/>
                <a:ea typeface="汉仪行楷简" pitchFamily="34" charset="-122"/>
                <a:cs typeface="汉仪行楷简" pitchFamily="34" charset="-120"/>
              </a:rPr>
              <a:t>持续优化体验</a:t>
            </a:r>
            <a:endParaRPr lang="en-US" sz="3200" dirty="0"/>
          </a:p>
        </p:txBody>
      </p:sp>
      <p:sp>
        <p:nvSpPr>
          <p:cNvPr id="19" name="Text 16"/>
          <p:cNvSpPr/>
          <p:nvPr/>
        </p:nvSpPr>
        <p:spPr>
          <a:xfrm>
            <a:off x="11863959" y="4102481"/>
            <a:ext cx="3369691" cy="3864610"/>
          </a:xfrm>
          <a:prstGeom prst="rect">
            <a:avLst/>
          </a:prstGeom>
          <a:noFill/>
          <a:ln/>
        </p:spPr>
        <p:txBody>
          <a:bodyPr wrap="square" lIns="0" tIns="0" rIns="0" bIns="0" rtlCol="0" anchor="t"/>
          <a:lstStyle/>
          <a:p>
            <a:pPr algn="l">
              <a:lnSpc>
                <a:spcPct val="130000"/>
              </a:lnSpc>
            </a:pPr>
            <a:r>
              <a:rPr lang="en-US" sz="2130" dirty="0">
                <a:solidFill>
                  <a:srgbClr val="000000"/>
                </a:solidFill>
                <a:latin typeface="黑体" panose="02010609060101010101" pitchFamily="49" charset="-122"/>
                <a:ea typeface="黑体" panose="02010609060101010101" pitchFamily="49" charset="-122"/>
                <a:cs typeface="思源黑体 CN Regular" pitchFamily="34" charset="-120"/>
              </a:rPr>
              <a:t>基于用户行为数据，持续迭代评分模型与解释生成算法，不断提升用户满意度。</a:t>
            </a:r>
            <a:endParaRPr lang="en-US" sz="2130" dirty="0"/>
          </a:p>
        </p:txBody>
      </p:sp>
      <p:sp>
        <p:nvSpPr>
          <p:cNvPr id="20" name="Text 17"/>
          <p:cNvSpPr/>
          <p:nvPr/>
        </p:nvSpPr>
        <p:spPr>
          <a:xfrm>
            <a:off x="13064109" y="1860550"/>
            <a:ext cx="969391" cy="969391"/>
          </a:xfrm>
          <a:prstGeom prst="rect">
            <a:avLst/>
          </a:prstGeom>
          <a:noFill/>
          <a:ln/>
        </p:spPr>
        <p:txBody>
          <a:bodyPr wrap="none" lIns="0" tIns="0" rIns="0" bIns="0" rtlCol="0" anchor="ctr"/>
          <a:lstStyle/>
          <a:p>
            <a:pPr algn="ctr">
              <a:lnSpc>
                <a:spcPct val="120000"/>
              </a:lnSpc>
            </a:pPr>
            <a:r>
              <a:rPr lang="en-US" sz="5330" b="1" dirty="0">
                <a:solidFill>
                  <a:srgbClr val="000000"/>
                </a:solidFill>
                <a:latin typeface="Arial" pitchFamily="34" charset="0"/>
                <a:ea typeface="Arial" pitchFamily="34" charset="-122"/>
                <a:cs typeface="Arial" pitchFamily="34" charset="-120"/>
              </a:rPr>
              <a:t>04</a:t>
            </a:r>
            <a:endParaRPr lang="en-US" sz="5330" dirty="0"/>
          </a:p>
        </p:txBody>
      </p:sp>
      <p:sp>
        <p:nvSpPr>
          <p:cNvPr id="21" name="Text 18"/>
          <p:cNvSpPr/>
          <p:nvPr/>
        </p:nvSpPr>
        <p:spPr>
          <a:xfrm>
            <a:off x="880491" y="171450"/>
            <a:ext cx="14478000" cy="968121"/>
          </a:xfrm>
          <a:prstGeom prst="rect">
            <a:avLst/>
          </a:prstGeom>
          <a:noFill/>
          <a:ln/>
        </p:spPr>
        <p:txBody>
          <a:bodyPr wrap="square" lIns="0" tIns="0" rIns="0" bIns="0" rtlCol="0" anchor="b"/>
          <a:lstStyle/>
          <a:p>
            <a:pPr algn="l">
              <a:lnSpc>
                <a:spcPct val="120000"/>
              </a:lnSpc>
            </a:pPr>
            <a:r>
              <a:rPr lang="en-US" sz="3730" b="1" dirty="0">
                <a:solidFill>
                  <a:srgbClr val="000000"/>
                </a:solidFill>
                <a:latin typeface="汉仪行楷简" pitchFamily="34" charset="0"/>
                <a:ea typeface="汉仪行楷简" pitchFamily="34" charset="-122"/>
                <a:cs typeface="汉仪行楷简" pitchFamily="34" charset="-120"/>
              </a:rPr>
              <a:t>未来改进方向</a:t>
            </a:r>
            <a:endParaRPr lang="en-US" sz="3730" dirty="0"/>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225C2-0E5E-46C3-BB07-7002E4F3C379}"/>
            </a:ext>
          </a:extLst>
        </p:cNvPr>
        <p:cNvGrpSpPr/>
        <p:nvPr/>
      </p:nvGrpSpPr>
      <p:grpSpPr>
        <a:xfrm>
          <a:off x="0" y="0"/>
          <a:ext cx="0" cy="0"/>
          <a:chOff x="0" y="0"/>
          <a:chExt cx="0" cy="0"/>
        </a:xfrm>
      </p:grpSpPr>
      <p:pic>
        <p:nvPicPr>
          <p:cNvPr id="2" name="Image 0" descr="https://kimi-img.moonshot.cn/pub/slides/okc/6zj242u25rc54/mnt/agents/output/%E4%BB%8A%E5%A4%A9%E5%90%83%E4%BB%80%E4%B9%88%E6%94%B9/images/image_4.png">
            <a:extLst>
              <a:ext uri="{FF2B5EF4-FFF2-40B4-BE49-F238E27FC236}">
                <a16:creationId xmlns:a16="http://schemas.microsoft.com/office/drawing/2014/main" id="{4BA6F238-58B4-2152-C02A-BA2D1338700A}"/>
              </a:ext>
            </a:extLst>
          </p:cNvPr>
          <p:cNvPicPr>
            <a:picLocks noChangeAspect="1"/>
          </p:cNvPicPr>
          <p:nvPr/>
        </p:nvPicPr>
        <p:blipFill>
          <a:blip r:embed="rId3"/>
          <a:stretch>
            <a:fillRect/>
          </a:stretch>
        </p:blipFill>
        <p:spPr>
          <a:xfrm>
            <a:off x="-108283" y="0"/>
            <a:ext cx="16252857" cy="9142214"/>
          </a:xfrm>
          <a:prstGeom prst="rect">
            <a:avLst/>
          </a:prstGeom>
        </p:spPr>
      </p:pic>
      <p:sp>
        <p:nvSpPr>
          <p:cNvPr id="3" name="Shape 0">
            <a:extLst>
              <a:ext uri="{FF2B5EF4-FFF2-40B4-BE49-F238E27FC236}">
                <a16:creationId xmlns:a16="http://schemas.microsoft.com/office/drawing/2014/main" id="{52D8149C-F9C8-3565-9E00-DA1C307FB245}"/>
              </a:ext>
            </a:extLst>
          </p:cNvPr>
          <p:cNvSpPr/>
          <p:nvPr/>
        </p:nvSpPr>
        <p:spPr>
          <a:xfrm>
            <a:off x="10479644" y="8545435"/>
            <a:ext cx="4875848" cy="365689"/>
          </a:xfrm>
          <a:prstGeom prst="rect">
            <a:avLst/>
          </a:prstGeom>
          <a:noFill/>
          <a:ln/>
        </p:spPr>
        <p:txBody>
          <a:bodyPr/>
          <a:lstStyle/>
          <a:p>
            <a:endParaRPr lang="zh-CN" altLang="en-US" sz="1350"/>
          </a:p>
        </p:txBody>
      </p:sp>
      <p:sp>
        <p:nvSpPr>
          <p:cNvPr id="4" name="Text 1">
            <a:extLst>
              <a:ext uri="{FF2B5EF4-FFF2-40B4-BE49-F238E27FC236}">
                <a16:creationId xmlns:a16="http://schemas.microsoft.com/office/drawing/2014/main" id="{828B923F-A6D6-BD2C-9329-B8FBC717C667}"/>
              </a:ext>
            </a:extLst>
          </p:cNvPr>
          <p:cNvSpPr/>
          <p:nvPr/>
        </p:nvSpPr>
        <p:spPr>
          <a:xfrm>
            <a:off x="10388222" y="8499724"/>
            <a:ext cx="5058692" cy="457111"/>
          </a:xfrm>
          <a:prstGeom prst="rect">
            <a:avLst/>
          </a:prstGeom>
          <a:noFill/>
          <a:ln/>
        </p:spPr>
        <p:txBody>
          <a:bodyPr wrap="square" lIns="0" tIns="0" rIns="0" bIns="0" rtlCol="0" anchor="ctr"/>
          <a:lstStyle/>
          <a:p>
            <a:pPr algn="r">
              <a:lnSpc>
                <a:spcPct val="120000"/>
              </a:lnSpc>
            </a:pPr>
            <a:r>
              <a:rPr lang="en-US" sz="1327" dirty="0">
                <a:solidFill>
                  <a:srgbClr val="BFBFBF"/>
                </a:solidFill>
                <a:latin typeface="Average" pitchFamily="34" charset="0"/>
                <a:ea typeface="Average" pitchFamily="34" charset="-122"/>
                <a:cs typeface="Average" pitchFamily="34" charset="-120"/>
              </a:rPr>
              <a:t>4</a:t>
            </a:r>
            <a:endParaRPr lang="en-US" sz="1327" dirty="0"/>
          </a:p>
        </p:txBody>
      </p:sp>
      <p:sp>
        <p:nvSpPr>
          <p:cNvPr id="5" name="Shape 2">
            <a:extLst>
              <a:ext uri="{FF2B5EF4-FFF2-40B4-BE49-F238E27FC236}">
                <a16:creationId xmlns:a16="http://schemas.microsoft.com/office/drawing/2014/main" id="{413721C9-25D0-EDEC-5025-8C4E27617700}"/>
              </a:ext>
            </a:extLst>
          </p:cNvPr>
          <p:cNvSpPr/>
          <p:nvPr/>
        </p:nvSpPr>
        <p:spPr>
          <a:xfrm>
            <a:off x="880319" y="172309"/>
            <a:ext cx="14475173" cy="967932"/>
          </a:xfrm>
          <a:prstGeom prst="rect">
            <a:avLst/>
          </a:prstGeom>
          <a:noFill/>
          <a:ln/>
        </p:spPr>
        <p:txBody>
          <a:bodyPr/>
          <a:lstStyle/>
          <a:p>
            <a:endParaRPr lang="zh-CN" altLang="en-US" sz="1350"/>
          </a:p>
        </p:txBody>
      </p:sp>
      <p:sp>
        <p:nvSpPr>
          <p:cNvPr id="6" name="Text 3">
            <a:extLst>
              <a:ext uri="{FF2B5EF4-FFF2-40B4-BE49-F238E27FC236}">
                <a16:creationId xmlns:a16="http://schemas.microsoft.com/office/drawing/2014/main" id="{EA05E82D-B390-560A-6562-C5950A01C999}"/>
              </a:ext>
            </a:extLst>
          </p:cNvPr>
          <p:cNvSpPr/>
          <p:nvPr/>
        </p:nvSpPr>
        <p:spPr>
          <a:xfrm>
            <a:off x="788897" y="126598"/>
            <a:ext cx="14658017" cy="1059354"/>
          </a:xfrm>
          <a:prstGeom prst="rect">
            <a:avLst/>
          </a:prstGeom>
          <a:noFill/>
          <a:ln/>
        </p:spPr>
        <p:txBody>
          <a:bodyPr wrap="square" lIns="0" tIns="0" rIns="0" bIns="0" rtlCol="0" anchor="b"/>
          <a:lstStyle/>
          <a:p>
            <a:pPr algn="l">
              <a:lnSpc>
                <a:spcPct val="120000"/>
              </a:lnSpc>
            </a:pPr>
            <a:r>
              <a:rPr lang="en-US" sz="3727" b="1" dirty="0">
                <a:solidFill>
                  <a:srgbClr val="000000"/>
                </a:solidFill>
                <a:latin typeface="汉仪行楷简" pitchFamily="34" charset="0"/>
                <a:ea typeface="汉仪行楷简" pitchFamily="34" charset="-122"/>
                <a:cs typeface="汉仪行楷简" pitchFamily="34" charset="-120"/>
              </a:rPr>
              <a:t>团队成员及分工</a:t>
            </a:r>
            <a:endParaRPr lang="en-US" sz="3727" dirty="0"/>
          </a:p>
        </p:txBody>
      </p:sp>
      <p:sp>
        <p:nvSpPr>
          <p:cNvPr id="7" name="Shape 4">
            <a:extLst>
              <a:ext uri="{FF2B5EF4-FFF2-40B4-BE49-F238E27FC236}">
                <a16:creationId xmlns:a16="http://schemas.microsoft.com/office/drawing/2014/main" id="{FDA41FEF-6FAD-F40E-7FB5-FD86F44B6531}"/>
              </a:ext>
            </a:extLst>
          </p:cNvPr>
          <p:cNvSpPr/>
          <p:nvPr/>
        </p:nvSpPr>
        <p:spPr>
          <a:xfrm>
            <a:off x="990407" y="1905521"/>
            <a:ext cx="2666479" cy="761851"/>
          </a:xfrm>
          <a:prstGeom prst="rect">
            <a:avLst/>
          </a:prstGeom>
          <a:solidFill>
            <a:srgbClr val="FCE61E"/>
          </a:solidFill>
          <a:ln/>
        </p:spPr>
        <p:txBody>
          <a:bodyPr/>
          <a:lstStyle/>
          <a:p>
            <a:endParaRPr lang="zh-CN" altLang="en-US" sz="1350"/>
          </a:p>
        </p:txBody>
      </p:sp>
      <p:sp>
        <p:nvSpPr>
          <p:cNvPr id="8" name="Text 5">
            <a:extLst>
              <a:ext uri="{FF2B5EF4-FFF2-40B4-BE49-F238E27FC236}">
                <a16:creationId xmlns:a16="http://schemas.microsoft.com/office/drawing/2014/main" id="{2F85B27E-33C4-0E52-6E56-7E9936C7EE7F}"/>
              </a:ext>
            </a:extLst>
          </p:cNvPr>
          <p:cNvSpPr/>
          <p:nvPr/>
        </p:nvSpPr>
        <p:spPr>
          <a:xfrm>
            <a:off x="990407" y="1905521"/>
            <a:ext cx="2666479" cy="761851"/>
          </a:xfrm>
          <a:prstGeom prst="rect">
            <a:avLst/>
          </a:prstGeom>
          <a:noFill/>
          <a:ln/>
        </p:spPr>
        <p:txBody>
          <a:bodyPr wrap="square" lIns="0" tIns="0" rIns="0" bIns="0" rtlCol="0" anchor="ctr"/>
          <a:lstStyle/>
          <a:p>
            <a:pPr algn="ctr">
              <a:lnSpc>
                <a:spcPct val="120000"/>
              </a:lnSpc>
            </a:pPr>
            <a:r>
              <a:rPr lang="en-US" sz="3150" b="1" dirty="0">
                <a:solidFill>
                  <a:srgbClr val="FFFFFF"/>
                </a:solidFill>
                <a:latin typeface="Arial" pitchFamily="34" charset="0"/>
                <a:ea typeface="Arial" pitchFamily="34" charset="-122"/>
                <a:cs typeface="Arial" pitchFamily="34" charset="-120"/>
              </a:rPr>
              <a:t>01</a:t>
            </a:r>
            <a:endParaRPr lang="en-US" sz="3150" dirty="0"/>
          </a:p>
        </p:txBody>
      </p:sp>
      <p:sp>
        <p:nvSpPr>
          <p:cNvPr id="9" name="Text 6">
            <a:extLst>
              <a:ext uri="{FF2B5EF4-FFF2-40B4-BE49-F238E27FC236}">
                <a16:creationId xmlns:a16="http://schemas.microsoft.com/office/drawing/2014/main" id="{8F02593C-DDED-6198-A80C-31ED32781F59}"/>
              </a:ext>
            </a:extLst>
          </p:cNvPr>
          <p:cNvSpPr/>
          <p:nvPr/>
        </p:nvSpPr>
        <p:spPr>
          <a:xfrm>
            <a:off x="990407" y="2953066"/>
            <a:ext cx="2666479" cy="476157"/>
          </a:xfrm>
          <a:prstGeom prst="rect">
            <a:avLst/>
          </a:prstGeom>
          <a:noFill/>
          <a:ln/>
        </p:spPr>
        <p:txBody>
          <a:bodyPr wrap="square" lIns="0" tIns="0" rIns="0" bIns="0" rtlCol="0" anchor="ctr"/>
          <a:lstStyle/>
          <a:p>
            <a:pPr algn="ctr">
              <a:lnSpc>
                <a:spcPct val="120000"/>
              </a:lnSpc>
            </a:pPr>
            <a:r>
              <a:rPr lang="zh-CN" altLang="en-US" sz="2400" b="1" dirty="0">
                <a:solidFill>
                  <a:srgbClr val="000000"/>
                </a:solidFill>
                <a:latin typeface="Arial" pitchFamily="34" charset="0"/>
                <a:ea typeface="Arial" pitchFamily="34" charset="-122"/>
                <a:cs typeface="Arial" pitchFamily="34" charset="-120"/>
              </a:rPr>
              <a:t>蔡昀燃</a:t>
            </a:r>
            <a:endParaRPr lang="en-US" sz="2400" dirty="0"/>
          </a:p>
        </p:txBody>
      </p:sp>
      <p:sp>
        <p:nvSpPr>
          <p:cNvPr id="10" name="Shape 7">
            <a:extLst>
              <a:ext uri="{FF2B5EF4-FFF2-40B4-BE49-F238E27FC236}">
                <a16:creationId xmlns:a16="http://schemas.microsoft.com/office/drawing/2014/main" id="{96718B8C-F675-0666-012E-A5EDD2FC3D31}"/>
              </a:ext>
            </a:extLst>
          </p:cNvPr>
          <p:cNvSpPr/>
          <p:nvPr/>
        </p:nvSpPr>
        <p:spPr>
          <a:xfrm>
            <a:off x="1466564" y="3524455"/>
            <a:ext cx="1714165" cy="0"/>
          </a:xfrm>
          <a:prstGeom prst="straightConnector1">
            <a:avLst/>
          </a:prstGeom>
          <a:noFill/>
          <a:ln w="50800">
            <a:solidFill>
              <a:srgbClr val="FCE61E"/>
            </a:solidFill>
            <a:prstDash val="solid"/>
            <a:headEnd type="none"/>
            <a:tailEnd type="none"/>
          </a:ln>
        </p:spPr>
        <p:txBody>
          <a:bodyPr/>
          <a:lstStyle/>
          <a:p>
            <a:endParaRPr lang="zh-CN" altLang="en-US" sz="1350"/>
          </a:p>
        </p:txBody>
      </p:sp>
      <p:sp>
        <p:nvSpPr>
          <p:cNvPr id="11" name="Text 8">
            <a:extLst>
              <a:ext uri="{FF2B5EF4-FFF2-40B4-BE49-F238E27FC236}">
                <a16:creationId xmlns:a16="http://schemas.microsoft.com/office/drawing/2014/main" id="{715CF57E-B43F-6451-707C-C785F1DD2D44}"/>
              </a:ext>
            </a:extLst>
          </p:cNvPr>
          <p:cNvSpPr/>
          <p:nvPr/>
        </p:nvSpPr>
        <p:spPr>
          <a:xfrm>
            <a:off x="1085638" y="3714917"/>
            <a:ext cx="2476016" cy="476157"/>
          </a:xfrm>
          <a:prstGeom prst="rect">
            <a:avLst/>
          </a:prstGeom>
          <a:noFill/>
          <a:ln/>
        </p:spPr>
        <p:txBody>
          <a:bodyPr wrap="square" lIns="0" tIns="0" rIns="0" bIns="0" rtlCol="0" anchor="t"/>
          <a:lstStyle/>
          <a:p>
            <a:pPr algn="ctr">
              <a:lnSpc>
                <a:spcPct val="160000"/>
              </a:lnSpc>
            </a:pPr>
            <a:r>
              <a:rPr lang="zh-CN" altLang="en-US" b="1" dirty="0">
                <a:latin typeface="黑体" panose="02010609060101010101" pitchFamily="49" charset="-122"/>
                <a:ea typeface="黑体" panose="02010609060101010101" pitchFamily="49" charset="-122"/>
              </a:rPr>
              <a:t>队长与前端开发</a:t>
            </a:r>
            <a:endParaRPr lang="en-US" altLang="zh-CN" b="1" dirty="0">
              <a:latin typeface="黑体" panose="02010609060101010101" pitchFamily="49" charset="-122"/>
              <a:ea typeface="黑体" panose="02010609060101010101" pitchFamily="49" charset="-122"/>
            </a:endParaRPr>
          </a:p>
        </p:txBody>
      </p:sp>
      <p:sp>
        <p:nvSpPr>
          <p:cNvPr id="12" name="Shape 9">
            <a:extLst>
              <a:ext uri="{FF2B5EF4-FFF2-40B4-BE49-F238E27FC236}">
                <a16:creationId xmlns:a16="http://schemas.microsoft.com/office/drawing/2014/main" id="{954EB567-4BC4-2D79-50EB-C7982D4C751C}"/>
              </a:ext>
            </a:extLst>
          </p:cNvPr>
          <p:cNvSpPr/>
          <p:nvPr/>
        </p:nvSpPr>
        <p:spPr>
          <a:xfrm>
            <a:off x="3894964" y="1905521"/>
            <a:ext cx="2666479" cy="761851"/>
          </a:xfrm>
          <a:prstGeom prst="rect">
            <a:avLst/>
          </a:prstGeom>
          <a:solidFill>
            <a:srgbClr val="FCE61E"/>
          </a:solidFill>
          <a:ln/>
        </p:spPr>
        <p:txBody>
          <a:bodyPr/>
          <a:lstStyle/>
          <a:p>
            <a:endParaRPr lang="zh-CN" altLang="en-US" sz="1350"/>
          </a:p>
        </p:txBody>
      </p:sp>
      <p:sp>
        <p:nvSpPr>
          <p:cNvPr id="13" name="Text 10">
            <a:extLst>
              <a:ext uri="{FF2B5EF4-FFF2-40B4-BE49-F238E27FC236}">
                <a16:creationId xmlns:a16="http://schemas.microsoft.com/office/drawing/2014/main" id="{22F3CD44-D293-C776-7FC2-5ACA5CB9A1E7}"/>
              </a:ext>
            </a:extLst>
          </p:cNvPr>
          <p:cNvSpPr/>
          <p:nvPr/>
        </p:nvSpPr>
        <p:spPr>
          <a:xfrm>
            <a:off x="3894964" y="1905521"/>
            <a:ext cx="2666479" cy="761851"/>
          </a:xfrm>
          <a:prstGeom prst="rect">
            <a:avLst/>
          </a:prstGeom>
          <a:noFill/>
          <a:ln/>
        </p:spPr>
        <p:txBody>
          <a:bodyPr wrap="square" lIns="0" tIns="0" rIns="0" bIns="0" rtlCol="0" anchor="ctr"/>
          <a:lstStyle/>
          <a:p>
            <a:pPr algn="ctr">
              <a:lnSpc>
                <a:spcPct val="120000"/>
              </a:lnSpc>
            </a:pPr>
            <a:r>
              <a:rPr lang="en-US" sz="3150" b="1" dirty="0">
                <a:solidFill>
                  <a:srgbClr val="FFFFFF"/>
                </a:solidFill>
                <a:latin typeface="Arial" pitchFamily="34" charset="0"/>
                <a:ea typeface="Arial" pitchFamily="34" charset="-122"/>
                <a:cs typeface="Arial" pitchFamily="34" charset="-120"/>
              </a:rPr>
              <a:t>02</a:t>
            </a:r>
            <a:endParaRPr lang="en-US" sz="3150" dirty="0"/>
          </a:p>
        </p:txBody>
      </p:sp>
      <p:sp>
        <p:nvSpPr>
          <p:cNvPr id="14" name="Text 11">
            <a:extLst>
              <a:ext uri="{FF2B5EF4-FFF2-40B4-BE49-F238E27FC236}">
                <a16:creationId xmlns:a16="http://schemas.microsoft.com/office/drawing/2014/main" id="{A72971EB-E4F9-1ACA-6835-21724EFE6146}"/>
              </a:ext>
            </a:extLst>
          </p:cNvPr>
          <p:cNvSpPr/>
          <p:nvPr/>
        </p:nvSpPr>
        <p:spPr>
          <a:xfrm>
            <a:off x="3894964" y="2953066"/>
            <a:ext cx="2666479" cy="476157"/>
          </a:xfrm>
          <a:prstGeom prst="rect">
            <a:avLst/>
          </a:prstGeom>
          <a:noFill/>
          <a:ln/>
        </p:spPr>
        <p:txBody>
          <a:bodyPr wrap="square" lIns="0" tIns="0" rIns="0" bIns="0" rtlCol="0" anchor="ctr"/>
          <a:lstStyle/>
          <a:p>
            <a:pPr algn="ctr">
              <a:lnSpc>
                <a:spcPct val="120000"/>
              </a:lnSpc>
            </a:pPr>
            <a:r>
              <a:rPr lang="zh-CN" altLang="en-US" sz="2400" b="1" dirty="0">
                <a:solidFill>
                  <a:srgbClr val="000000"/>
                </a:solidFill>
                <a:latin typeface="Arial" pitchFamily="34" charset="0"/>
                <a:ea typeface="Arial" pitchFamily="34" charset="-122"/>
                <a:cs typeface="Arial" pitchFamily="34" charset="-120"/>
              </a:rPr>
              <a:t>余嵘</a:t>
            </a:r>
            <a:endParaRPr lang="en-US" sz="2400" dirty="0"/>
          </a:p>
        </p:txBody>
      </p:sp>
      <p:sp>
        <p:nvSpPr>
          <p:cNvPr id="15" name="Shape 12">
            <a:extLst>
              <a:ext uri="{FF2B5EF4-FFF2-40B4-BE49-F238E27FC236}">
                <a16:creationId xmlns:a16="http://schemas.microsoft.com/office/drawing/2014/main" id="{0FAD2E76-7DF3-CD53-4049-373D3C6EF918}"/>
              </a:ext>
            </a:extLst>
          </p:cNvPr>
          <p:cNvSpPr/>
          <p:nvPr/>
        </p:nvSpPr>
        <p:spPr>
          <a:xfrm>
            <a:off x="4371121" y="3524455"/>
            <a:ext cx="1714165" cy="0"/>
          </a:xfrm>
          <a:prstGeom prst="straightConnector1">
            <a:avLst/>
          </a:prstGeom>
          <a:noFill/>
          <a:ln w="50800">
            <a:solidFill>
              <a:srgbClr val="FCE61E"/>
            </a:solidFill>
            <a:prstDash val="solid"/>
            <a:headEnd type="none"/>
            <a:tailEnd type="none"/>
          </a:ln>
        </p:spPr>
        <p:txBody>
          <a:bodyPr/>
          <a:lstStyle/>
          <a:p>
            <a:endParaRPr lang="zh-CN" altLang="en-US" sz="1350"/>
          </a:p>
        </p:txBody>
      </p:sp>
      <p:sp>
        <p:nvSpPr>
          <p:cNvPr id="16" name="Text 13">
            <a:extLst>
              <a:ext uri="{FF2B5EF4-FFF2-40B4-BE49-F238E27FC236}">
                <a16:creationId xmlns:a16="http://schemas.microsoft.com/office/drawing/2014/main" id="{A516FA62-D5C1-39D9-DE8E-2C59D76E47FD}"/>
              </a:ext>
            </a:extLst>
          </p:cNvPr>
          <p:cNvSpPr/>
          <p:nvPr/>
        </p:nvSpPr>
        <p:spPr>
          <a:xfrm>
            <a:off x="3990196" y="3714918"/>
            <a:ext cx="2476016" cy="135258"/>
          </a:xfrm>
          <a:prstGeom prst="rect">
            <a:avLst/>
          </a:prstGeom>
          <a:noFill/>
          <a:ln/>
        </p:spPr>
        <p:txBody>
          <a:bodyPr wrap="square" lIns="0" tIns="0" rIns="0" bIns="0" rtlCol="0" anchor="t"/>
          <a:lstStyle/>
          <a:p>
            <a:pPr algn="ctr">
              <a:lnSpc>
                <a:spcPct val="160000"/>
              </a:lnSpc>
            </a:pPr>
            <a:r>
              <a:rPr lang="zh-CN" altLang="en-US" b="1" dirty="0">
                <a:latin typeface="黑体" panose="02010609060101010101" pitchFamily="49" charset="-122"/>
                <a:ea typeface="黑体" panose="02010609060101010101" pitchFamily="49" charset="-122"/>
              </a:rPr>
              <a:t>后端开发</a:t>
            </a:r>
            <a:endParaRPr lang="en-US" b="1" dirty="0">
              <a:latin typeface="黑体" panose="02010609060101010101" pitchFamily="49" charset="-122"/>
              <a:ea typeface="黑体" panose="02010609060101010101" pitchFamily="49" charset="-122"/>
            </a:endParaRPr>
          </a:p>
        </p:txBody>
      </p:sp>
      <p:sp>
        <p:nvSpPr>
          <p:cNvPr id="17" name="Shape 14">
            <a:extLst>
              <a:ext uri="{FF2B5EF4-FFF2-40B4-BE49-F238E27FC236}">
                <a16:creationId xmlns:a16="http://schemas.microsoft.com/office/drawing/2014/main" id="{017E76E5-E87D-E13A-7986-BAB0C700FACF}"/>
              </a:ext>
            </a:extLst>
          </p:cNvPr>
          <p:cNvSpPr/>
          <p:nvPr/>
        </p:nvSpPr>
        <p:spPr>
          <a:xfrm>
            <a:off x="6799522" y="1905521"/>
            <a:ext cx="2666479" cy="761851"/>
          </a:xfrm>
          <a:prstGeom prst="rect">
            <a:avLst/>
          </a:prstGeom>
          <a:solidFill>
            <a:srgbClr val="FCE61E"/>
          </a:solidFill>
          <a:ln/>
        </p:spPr>
        <p:txBody>
          <a:bodyPr/>
          <a:lstStyle/>
          <a:p>
            <a:endParaRPr lang="zh-CN" altLang="en-US" sz="1350"/>
          </a:p>
        </p:txBody>
      </p:sp>
      <p:sp>
        <p:nvSpPr>
          <p:cNvPr id="18" name="Text 15">
            <a:extLst>
              <a:ext uri="{FF2B5EF4-FFF2-40B4-BE49-F238E27FC236}">
                <a16:creationId xmlns:a16="http://schemas.microsoft.com/office/drawing/2014/main" id="{F919C58C-AD17-E16E-48D1-DE5F1B393F85}"/>
              </a:ext>
            </a:extLst>
          </p:cNvPr>
          <p:cNvSpPr/>
          <p:nvPr/>
        </p:nvSpPr>
        <p:spPr>
          <a:xfrm>
            <a:off x="6799522" y="1905521"/>
            <a:ext cx="2666479" cy="761851"/>
          </a:xfrm>
          <a:prstGeom prst="rect">
            <a:avLst/>
          </a:prstGeom>
          <a:noFill/>
          <a:ln/>
        </p:spPr>
        <p:txBody>
          <a:bodyPr wrap="square" lIns="0" tIns="0" rIns="0" bIns="0" rtlCol="0" anchor="ctr"/>
          <a:lstStyle/>
          <a:p>
            <a:pPr algn="ctr">
              <a:lnSpc>
                <a:spcPct val="120000"/>
              </a:lnSpc>
            </a:pPr>
            <a:r>
              <a:rPr lang="en-US" sz="3150" b="1" dirty="0">
                <a:solidFill>
                  <a:srgbClr val="FFFFFF"/>
                </a:solidFill>
                <a:latin typeface="Arial" pitchFamily="34" charset="0"/>
                <a:ea typeface="Arial" pitchFamily="34" charset="-122"/>
                <a:cs typeface="Arial" pitchFamily="34" charset="-120"/>
              </a:rPr>
              <a:t>03</a:t>
            </a:r>
            <a:endParaRPr lang="en-US" sz="3150" dirty="0"/>
          </a:p>
        </p:txBody>
      </p:sp>
      <p:sp>
        <p:nvSpPr>
          <p:cNvPr id="19" name="Text 16">
            <a:extLst>
              <a:ext uri="{FF2B5EF4-FFF2-40B4-BE49-F238E27FC236}">
                <a16:creationId xmlns:a16="http://schemas.microsoft.com/office/drawing/2014/main" id="{F4584B3A-EC05-FB8B-0FD6-732CF623569A}"/>
              </a:ext>
            </a:extLst>
          </p:cNvPr>
          <p:cNvSpPr/>
          <p:nvPr/>
        </p:nvSpPr>
        <p:spPr>
          <a:xfrm>
            <a:off x="6799522" y="2953066"/>
            <a:ext cx="2666479" cy="476157"/>
          </a:xfrm>
          <a:prstGeom prst="rect">
            <a:avLst/>
          </a:prstGeom>
          <a:noFill/>
          <a:ln/>
        </p:spPr>
        <p:txBody>
          <a:bodyPr wrap="square" lIns="0" tIns="0" rIns="0" bIns="0" rtlCol="0" anchor="ctr"/>
          <a:lstStyle/>
          <a:p>
            <a:pPr algn="ctr">
              <a:lnSpc>
                <a:spcPct val="120000"/>
              </a:lnSpc>
            </a:pPr>
            <a:r>
              <a:rPr lang="zh-CN" altLang="en-US" sz="2400" b="1" dirty="0">
                <a:solidFill>
                  <a:srgbClr val="000000"/>
                </a:solidFill>
                <a:latin typeface="Arial" pitchFamily="34" charset="0"/>
                <a:ea typeface="Arial" pitchFamily="34" charset="-122"/>
                <a:cs typeface="Arial" pitchFamily="34" charset="-120"/>
              </a:rPr>
              <a:t>王雨菲</a:t>
            </a:r>
            <a:endParaRPr lang="en-US" sz="2400" dirty="0"/>
          </a:p>
        </p:txBody>
      </p:sp>
      <p:sp>
        <p:nvSpPr>
          <p:cNvPr id="20" name="Shape 17">
            <a:extLst>
              <a:ext uri="{FF2B5EF4-FFF2-40B4-BE49-F238E27FC236}">
                <a16:creationId xmlns:a16="http://schemas.microsoft.com/office/drawing/2014/main" id="{F351FA27-2BE5-A2A6-6E0A-17CCF1D201A2}"/>
              </a:ext>
            </a:extLst>
          </p:cNvPr>
          <p:cNvSpPr/>
          <p:nvPr/>
        </p:nvSpPr>
        <p:spPr>
          <a:xfrm>
            <a:off x="7275679" y="3524455"/>
            <a:ext cx="1714165" cy="0"/>
          </a:xfrm>
          <a:prstGeom prst="straightConnector1">
            <a:avLst/>
          </a:prstGeom>
          <a:noFill/>
          <a:ln w="50800">
            <a:solidFill>
              <a:srgbClr val="FCE61E"/>
            </a:solidFill>
            <a:prstDash val="solid"/>
            <a:headEnd type="none"/>
            <a:tailEnd type="none"/>
          </a:ln>
        </p:spPr>
        <p:txBody>
          <a:bodyPr/>
          <a:lstStyle/>
          <a:p>
            <a:endParaRPr lang="zh-CN" altLang="en-US" sz="1350"/>
          </a:p>
        </p:txBody>
      </p:sp>
      <p:sp>
        <p:nvSpPr>
          <p:cNvPr id="21" name="Text 18">
            <a:extLst>
              <a:ext uri="{FF2B5EF4-FFF2-40B4-BE49-F238E27FC236}">
                <a16:creationId xmlns:a16="http://schemas.microsoft.com/office/drawing/2014/main" id="{270B64E4-A608-9C0C-CBC2-9EEFE52B64AF}"/>
              </a:ext>
            </a:extLst>
          </p:cNvPr>
          <p:cNvSpPr/>
          <p:nvPr/>
        </p:nvSpPr>
        <p:spPr>
          <a:xfrm>
            <a:off x="6894753" y="3714917"/>
            <a:ext cx="2666479" cy="380558"/>
          </a:xfrm>
          <a:prstGeom prst="rect">
            <a:avLst/>
          </a:prstGeom>
          <a:noFill/>
          <a:ln/>
        </p:spPr>
        <p:txBody>
          <a:bodyPr wrap="square" lIns="0" tIns="0" rIns="0" bIns="0" rtlCol="0" anchor="t"/>
          <a:lstStyle/>
          <a:p>
            <a:pPr algn="ctr">
              <a:lnSpc>
                <a:spcPct val="160000"/>
              </a:lnSpc>
            </a:pPr>
            <a:r>
              <a:rPr lang="en-US" altLang="zh-CN" b="1" dirty="0">
                <a:latin typeface="黑体" panose="02010609060101010101" pitchFamily="49" charset="-122"/>
                <a:ea typeface="黑体" panose="02010609060101010101" pitchFamily="49" charset="-122"/>
              </a:rPr>
              <a:t>AI </a:t>
            </a:r>
            <a:r>
              <a:rPr lang="zh-CN" altLang="en-US" b="1" dirty="0">
                <a:latin typeface="黑体" panose="02010609060101010101" pitchFamily="49" charset="-122"/>
                <a:ea typeface="黑体" panose="02010609060101010101" pitchFamily="49" charset="-122"/>
              </a:rPr>
              <a:t>推荐与双引擎机制开发</a:t>
            </a:r>
            <a:endParaRPr lang="en-US" b="1" dirty="0">
              <a:latin typeface="黑体" panose="02010609060101010101" pitchFamily="49" charset="-122"/>
              <a:ea typeface="黑体" panose="02010609060101010101" pitchFamily="49" charset="-122"/>
            </a:endParaRPr>
          </a:p>
        </p:txBody>
      </p:sp>
      <p:sp>
        <p:nvSpPr>
          <p:cNvPr id="22" name="Shape 19">
            <a:extLst>
              <a:ext uri="{FF2B5EF4-FFF2-40B4-BE49-F238E27FC236}">
                <a16:creationId xmlns:a16="http://schemas.microsoft.com/office/drawing/2014/main" id="{E0B9F7BD-B2AF-F292-319C-0DAA4E5CCE14}"/>
              </a:ext>
            </a:extLst>
          </p:cNvPr>
          <p:cNvSpPr/>
          <p:nvPr/>
        </p:nvSpPr>
        <p:spPr>
          <a:xfrm>
            <a:off x="9704080" y="1905521"/>
            <a:ext cx="2666479" cy="761851"/>
          </a:xfrm>
          <a:prstGeom prst="rect">
            <a:avLst/>
          </a:prstGeom>
          <a:solidFill>
            <a:srgbClr val="FCE61E"/>
          </a:solidFill>
          <a:ln/>
        </p:spPr>
        <p:txBody>
          <a:bodyPr/>
          <a:lstStyle/>
          <a:p>
            <a:endParaRPr lang="zh-CN" altLang="en-US" sz="1350"/>
          </a:p>
        </p:txBody>
      </p:sp>
      <p:sp>
        <p:nvSpPr>
          <p:cNvPr id="23" name="Text 20">
            <a:extLst>
              <a:ext uri="{FF2B5EF4-FFF2-40B4-BE49-F238E27FC236}">
                <a16:creationId xmlns:a16="http://schemas.microsoft.com/office/drawing/2014/main" id="{16053FCB-7AF1-9F9A-EAE7-80EDF1AA046C}"/>
              </a:ext>
            </a:extLst>
          </p:cNvPr>
          <p:cNvSpPr/>
          <p:nvPr/>
        </p:nvSpPr>
        <p:spPr>
          <a:xfrm>
            <a:off x="9704080" y="1905521"/>
            <a:ext cx="2666479" cy="761851"/>
          </a:xfrm>
          <a:prstGeom prst="rect">
            <a:avLst/>
          </a:prstGeom>
          <a:noFill/>
          <a:ln/>
        </p:spPr>
        <p:txBody>
          <a:bodyPr wrap="square" lIns="0" tIns="0" rIns="0" bIns="0" rtlCol="0" anchor="ctr"/>
          <a:lstStyle/>
          <a:p>
            <a:pPr algn="ctr">
              <a:lnSpc>
                <a:spcPct val="120000"/>
              </a:lnSpc>
            </a:pPr>
            <a:r>
              <a:rPr lang="en-US" sz="3150" b="1" dirty="0">
                <a:solidFill>
                  <a:srgbClr val="FFFFFF"/>
                </a:solidFill>
                <a:latin typeface="Arial" pitchFamily="34" charset="0"/>
                <a:ea typeface="Arial" pitchFamily="34" charset="-122"/>
                <a:cs typeface="Arial" pitchFamily="34" charset="-120"/>
              </a:rPr>
              <a:t>04</a:t>
            </a:r>
            <a:endParaRPr lang="en-US" sz="3150" dirty="0"/>
          </a:p>
        </p:txBody>
      </p:sp>
      <p:sp>
        <p:nvSpPr>
          <p:cNvPr id="24" name="Text 21">
            <a:extLst>
              <a:ext uri="{FF2B5EF4-FFF2-40B4-BE49-F238E27FC236}">
                <a16:creationId xmlns:a16="http://schemas.microsoft.com/office/drawing/2014/main" id="{D302DD0C-C75E-E767-9203-4D5BD96CD804}"/>
              </a:ext>
            </a:extLst>
          </p:cNvPr>
          <p:cNvSpPr/>
          <p:nvPr/>
        </p:nvSpPr>
        <p:spPr>
          <a:xfrm>
            <a:off x="9704080" y="2953066"/>
            <a:ext cx="2666479" cy="476157"/>
          </a:xfrm>
          <a:prstGeom prst="rect">
            <a:avLst/>
          </a:prstGeom>
          <a:noFill/>
          <a:ln/>
        </p:spPr>
        <p:txBody>
          <a:bodyPr wrap="square" lIns="0" tIns="0" rIns="0" bIns="0" rtlCol="0" anchor="ctr"/>
          <a:lstStyle/>
          <a:p>
            <a:pPr algn="ctr">
              <a:lnSpc>
                <a:spcPct val="120000"/>
              </a:lnSpc>
            </a:pPr>
            <a:r>
              <a:rPr lang="zh-CN" altLang="en-US" sz="2400" b="1" dirty="0">
                <a:solidFill>
                  <a:srgbClr val="000000"/>
                </a:solidFill>
                <a:latin typeface="Arial" pitchFamily="34" charset="0"/>
                <a:ea typeface="Arial" pitchFamily="34" charset="-122"/>
                <a:cs typeface="Arial" pitchFamily="34" charset="-120"/>
              </a:rPr>
              <a:t>张佳顺</a:t>
            </a:r>
            <a:endParaRPr lang="en-US" sz="2400" dirty="0"/>
          </a:p>
        </p:txBody>
      </p:sp>
      <p:sp>
        <p:nvSpPr>
          <p:cNvPr id="25" name="Shape 22">
            <a:extLst>
              <a:ext uri="{FF2B5EF4-FFF2-40B4-BE49-F238E27FC236}">
                <a16:creationId xmlns:a16="http://schemas.microsoft.com/office/drawing/2014/main" id="{95175387-A01B-DFE7-0496-090A8DC5004B}"/>
              </a:ext>
            </a:extLst>
          </p:cNvPr>
          <p:cNvSpPr/>
          <p:nvPr/>
        </p:nvSpPr>
        <p:spPr>
          <a:xfrm>
            <a:off x="10180237" y="3524455"/>
            <a:ext cx="1714165" cy="0"/>
          </a:xfrm>
          <a:prstGeom prst="straightConnector1">
            <a:avLst/>
          </a:prstGeom>
          <a:noFill/>
          <a:ln w="50800">
            <a:solidFill>
              <a:srgbClr val="FCE61E"/>
            </a:solidFill>
            <a:prstDash val="solid"/>
            <a:headEnd type="none"/>
            <a:tailEnd type="none"/>
          </a:ln>
        </p:spPr>
        <p:txBody>
          <a:bodyPr/>
          <a:lstStyle/>
          <a:p>
            <a:endParaRPr lang="zh-CN" altLang="en-US" sz="1350"/>
          </a:p>
        </p:txBody>
      </p:sp>
      <p:sp>
        <p:nvSpPr>
          <p:cNvPr id="26" name="Text 23">
            <a:extLst>
              <a:ext uri="{FF2B5EF4-FFF2-40B4-BE49-F238E27FC236}">
                <a16:creationId xmlns:a16="http://schemas.microsoft.com/office/drawing/2014/main" id="{599E2B49-52D6-98C9-3251-60ABFE743DCD}"/>
              </a:ext>
            </a:extLst>
          </p:cNvPr>
          <p:cNvSpPr/>
          <p:nvPr/>
        </p:nvSpPr>
        <p:spPr>
          <a:xfrm>
            <a:off x="9751695" y="3714918"/>
            <a:ext cx="2571247" cy="476155"/>
          </a:xfrm>
          <a:prstGeom prst="rect">
            <a:avLst/>
          </a:prstGeom>
          <a:noFill/>
          <a:ln/>
        </p:spPr>
        <p:txBody>
          <a:bodyPr wrap="square" lIns="0" tIns="0" rIns="0" bIns="0" rtlCol="0" anchor="t"/>
          <a:lstStyle/>
          <a:p>
            <a:pPr algn="ctr">
              <a:lnSpc>
                <a:spcPct val="160000"/>
              </a:lnSpc>
            </a:pPr>
            <a:r>
              <a:rPr lang="zh-CN" altLang="en-US" b="1" dirty="0">
                <a:latin typeface="黑体" panose="02010609060101010101" pitchFamily="49" charset="-122"/>
                <a:ea typeface="黑体" panose="02010609060101010101" pitchFamily="49" charset="-122"/>
              </a:rPr>
              <a:t>数据库与</a:t>
            </a:r>
            <a:r>
              <a:rPr lang="en-US" altLang="zh-CN" b="1" dirty="0">
                <a:latin typeface="黑体" panose="02010609060101010101" pitchFamily="49" charset="-122"/>
                <a:ea typeface="黑体" panose="02010609060101010101" pitchFamily="49" charset="-122"/>
              </a:rPr>
              <a:t>Redis </a:t>
            </a:r>
            <a:r>
              <a:rPr lang="zh-CN" altLang="en-US" b="1" dirty="0">
                <a:latin typeface="黑体" panose="02010609060101010101" pitchFamily="49" charset="-122"/>
                <a:ea typeface="黑体" panose="02010609060101010101" pitchFamily="49" charset="-122"/>
              </a:rPr>
              <a:t>缓存优化</a:t>
            </a:r>
            <a:endParaRPr lang="en-US" b="1" dirty="0">
              <a:latin typeface="黑体" panose="02010609060101010101" pitchFamily="49" charset="-122"/>
              <a:ea typeface="黑体" panose="02010609060101010101" pitchFamily="49" charset="-122"/>
            </a:endParaRPr>
          </a:p>
        </p:txBody>
      </p:sp>
      <p:sp>
        <p:nvSpPr>
          <p:cNvPr id="27" name="Shape 24">
            <a:extLst>
              <a:ext uri="{FF2B5EF4-FFF2-40B4-BE49-F238E27FC236}">
                <a16:creationId xmlns:a16="http://schemas.microsoft.com/office/drawing/2014/main" id="{8E556224-B36F-A137-DAFF-12664089B664}"/>
              </a:ext>
            </a:extLst>
          </p:cNvPr>
          <p:cNvSpPr/>
          <p:nvPr/>
        </p:nvSpPr>
        <p:spPr>
          <a:xfrm>
            <a:off x="12608637" y="1905521"/>
            <a:ext cx="2666479" cy="761851"/>
          </a:xfrm>
          <a:prstGeom prst="rect">
            <a:avLst/>
          </a:prstGeom>
          <a:solidFill>
            <a:srgbClr val="FCE61E"/>
          </a:solidFill>
          <a:ln/>
        </p:spPr>
        <p:txBody>
          <a:bodyPr/>
          <a:lstStyle/>
          <a:p>
            <a:endParaRPr lang="zh-CN" altLang="en-US" sz="1350"/>
          </a:p>
        </p:txBody>
      </p:sp>
      <p:sp>
        <p:nvSpPr>
          <p:cNvPr id="28" name="Text 25">
            <a:extLst>
              <a:ext uri="{FF2B5EF4-FFF2-40B4-BE49-F238E27FC236}">
                <a16:creationId xmlns:a16="http://schemas.microsoft.com/office/drawing/2014/main" id="{AB1082A7-CAF6-C438-F426-BA0DE4777521}"/>
              </a:ext>
            </a:extLst>
          </p:cNvPr>
          <p:cNvSpPr/>
          <p:nvPr/>
        </p:nvSpPr>
        <p:spPr>
          <a:xfrm>
            <a:off x="12608637" y="1905521"/>
            <a:ext cx="2666479" cy="761851"/>
          </a:xfrm>
          <a:prstGeom prst="rect">
            <a:avLst/>
          </a:prstGeom>
          <a:noFill/>
          <a:ln/>
        </p:spPr>
        <p:txBody>
          <a:bodyPr wrap="square" lIns="0" tIns="0" rIns="0" bIns="0" rtlCol="0" anchor="ctr"/>
          <a:lstStyle/>
          <a:p>
            <a:pPr algn="ctr">
              <a:lnSpc>
                <a:spcPct val="120000"/>
              </a:lnSpc>
            </a:pPr>
            <a:r>
              <a:rPr lang="en-US" sz="3150" b="1" dirty="0">
                <a:solidFill>
                  <a:srgbClr val="FFFFFF"/>
                </a:solidFill>
                <a:latin typeface="Arial" pitchFamily="34" charset="0"/>
                <a:ea typeface="Arial" pitchFamily="34" charset="-122"/>
                <a:cs typeface="Arial" pitchFamily="34" charset="-120"/>
              </a:rPr>
              <a:t>05</a:t>
            </a:r>
            <a:endParaRPr lang="en-US" sz="3150" dirty="0"/>
          </a:p>
        </p:txBody>
      </p:sp>
      <p:sp>
        <p:nvSpPr>
          <p:cNvPr id="29" name="Text 26">
            <a:extLst>
              <a:ext uri="{FF2B5EF4-FFF2-40B4-BE49-F238E27FC236}">
                <a16:creationId xmlns:a16="http://schemas.microsoft.com/office/drawing/2014/main" id="{1B25F9E1-4958-F7FE-58EA-C8330B59B10A}"/>
              </a:ext>
            </a:extLst>
          </p:cNvPr>
          <p:cNvSpPr/>
          <p:nvPr/>
        </p:nvSpPr>
        <p:spPr>
          <a:xfrm>
            <a:off x="12608637" y="2953066"/>
            <a:ext cx="2666479" cy="476157"/>
          </a:xfrm>
          <a:prstGeom prst="rect">
            <a:avLst/>
          </a:prstGeom>
          <a:noFill/>
          <a:ln/>
        </p:spPr>
        <p:txBody>
          <a:bodyPr wrap="square" lIns="0" tIns="0" rIns="0" bIns="0" rtlCol="0" anchor="ctr"/>
          <a:lstStyle/>
          <a:p>
            <a:pPr algn="ctr">
              <a:lnSpc>
                <a:spcPct val="120000"/>
              </a:lnSpc>
            </a:pPr>
            <a:r>
              <a:rPr lang="zh-CN" altLang="en-US" sz="2400" b="1" dirty="0">
                <a:solidFill>
                  <a:srgbClr val="000000"/>
                </a:solidFill>
                <a:latin typeface="Arial" pitchFamily="34" charset="0"/>
                <a:ea typeface="Arial" pitchFamily="34" charset="-122"/>
                <a:cs typeface="Arial" pitchFamily="34" charset="-120"/>
              </a:rPr>
              <a:t>蒋国燕</a:t>
            </a:r>
            <a:endParaRPr lang="en-US" sz="2400" dirty="0"/>
          </a:p>
        </p:txBody>
      </p:sp>
      <p:sp>
        <p:nvSpPr>
          <p:cNvPr id="30" name="Shape 27">
            <a:extLst>
              <a:ext uri="{FF2B5EF4-FFF2-40B4-BE49-F238E27FC236}">
                <a16:creationId xmlns:a16="http://schemas.microsoft.com/office/drawing/2014/main" id="{27C81386-E6D7-4963-A317-36BEF42F1305}"/>
              </a:ext>
            </a:extLst>
          </p:cNvPr>
          <p:cNvSpPr/>
          <p:nvPr/>
        </p:nvSpPr>
        <p:spPr>
          <a:xfrm>
            <a:off x="13084794" y="3524455"/>
            <a:ext cx="1714165" cy="0"/>
          </a:xfrm>
          <a:prstGeom prst="straightConnector1">
            <a:avLst/>
          </a:prstGeom>
          <a:noFill/>
          <a:ln w="50800">
            <a:solidFill>
              <a:srgbClr val="FCE61E"/>
            </a:solidFill>
            <a:prstDash val="solid"/>
            <a:headEnd type="none"/>
            <a:tailEnd type="none"/>
          </a:ln>
        </p:spPr>
        <p:txBody>
          <a:bodyPr/>
          <a:lstStyle/>
          <a:p>
            <a:endParaRPr lang="zh-CN" altLang="en-US" sz="1350"/>
          </a:p>
        </p:txBody>
      </p:sp>
      <p:sp>
        <p:nvSpPr>
          <p:cNvPr id="31" name="Text 28">
            <a:extLst>
              <a:ext uri="{FF2B5EF4-FFF2-40B4-BE49-F238E27FC236}">
                <a16:creationId xmlns:a16="http://schemas.microsoft.com/office/drawing/2014/main" id="{32181BD4-C334-DC71-725E-BCB70EDD59B8}"/>
              </a:ext>
            </a:extLst>
          </p:cNvPr>
          <p:cNvSpPr/>
          <p:nvPr/>
        </p:nvSpPr>
        <p:spPr>
          <a:xfrm>
            <a:off x="12623493" y="3714917"/>
            <a:ext cx="2651623" cy="464883"/>
          </a:xfrm>
          <a:prstGeom prst="rect">
            <a:avLst/>
          </a:prstGeom>
          <a:noFill/>
          <a:ln/>
        </p:spPr>
        <p:txBody>
          <a:bodyPr wrap="square" lIns="0" tIns="0" rIns="0" bIns="0" rtlCol="0" anchor="t"/>
          <a:lstStyle/>
          <a:p>
            <a:pPr algn="ctr">
              <a:lnSpc>
                <a:spcPct val="160000"/>
              </a:lnSpc>
            </a:pPr>
            <a:r>
              <a:rPr lang="zh-CN" altLang="en-US" b="1" dirty="0">
                <a:latin typeface="黑体" panose="02010609060101010101" pitchFamily="49" charset="-122"/>
                <a:ea typeface="黑体" panose="02010609060101010101" pitchFamily="49" charset="-122"/>
              </a:rPr>
              <a:t>地图接口与餐馆数据处理</a:t>
            </a:r>
            <a:endParaRPr lang="en-US" altLang="zh-CN" b="1" dirty="0">
              <a:latin typeface="黑体" panose="02010609060101010101" pitchFamily="49" charset="-122"/>
              <a:ea typeface="黑体" panose="02010609060101010101" pitchFamily="49" charset="-122"/>
            </a:endParaRPr>
          </a:p>
        </p:txBody>
      </p:sp>
      <p:sp>
        <p:nvSpPr>
          <p:cNvPr id="32" name="Text 8">
            <a:extLst>
              <a:ext uri="{FF2B5EF4-FFF2-40B4-BE49-F238E27FC236}">
                <a16:creationId xmlns:a16="http://schemas.microsoft.com/office/drawing/2014/main" id="{775268ED-6406-CA88-4AED-D91ED3532679}"/>
              </a:ext>
            </a:extLst>
          </p:cNvPr>
          <p:cNvSpPr/>
          <p:nvPr/>
        </p:nvSpPr>
        <p:spPr>
          <a:xfrm>
            <a:off x="1466563" y="4265955"/>
            <a:ext cx="1714166" cy="1142777"/>
          </a:xfrm>
          <a:prstGeom prst="rect">
            <a:avLst/>
          </a:prstGeom>
          <a:noFill/>
          <a:ln/>
        </p:spPr>
        <p:txBody>
          <a:bodyPr wrap="square" lIns="0" tIns="0" rIns="0" bIns="0" rtlCol="0" anchor="t"/>
          <a:lstStyle/>
          <a:p>
            <a:pPr algn="ctr">
              <a:lnSpc>
                <a:spcPct val="160000"/>
              </a:lnSpc>
            </a:pPr>
            <a:r>
              <a:rPr lang="zh-CN" altLang="en-US" sz="1600" dirty="0"/>
              <a:t>负责项目协调与进度管理，完成前端页面、交互功能、数据展示及前后端联调。</a:t>
            </a:r>
            <a:endParaRPr lang="en-US" sz="1600" dirty="0">
              <a:latin typeface="黑体" panose="02010609060101010101" pitchFamily="49" charset="-122"/>
              <a:ea typeface="黑体" panose="02010609060101010101" pitchFamily="49" charset="-122"/>
            </a:endParaRPr>
          </a:p>
        </p:txBody>
      </p:sp>
      <p:sp>
        <p:nvSpPr>
          <p:cNvPr id="33" name="Text 13">
            <a:extLst>
              <a:ext uri="{FF2B5EF4-FFF2-40B4-BE49-F238E27FC236}">
                <a16:creationId xmlns:a16="http://schemas.microsoft.com/office/drawing/2014/main" id="{EE5CA52C-E93E-922B-42A5-42F86A050DE4}"/>
              </a:ext>
            </a:extLst>
          </p:cNvPr>
          <p:cNvSpPr/>
          <p:nvPr/>
        </p:nvSpPr>
        <p:spPr>
          <a:xfrm>
            <a:off x="4371121" y="4265955"/>
            <a:ext cx="1714166" cy="1142777"/>
          </a:xfrm>
          <a:prstGeom prst="rect">
            <a:avLst/>
          </a:prstGeom>
          <a:noFill/>
          <a:ln/>
        </p:spPr>
        <p:txBody>
          <a:bodyPr wrap="square" lIns="0" tIns="0" rIns="0" bIns="0" rtlCol="0" anchor="t"/>
          <a:lstStyle/>
          <a:p>
            <a:pPr algn="ctr">
              <a:lnSpc>
                <a:spcPct val="160000"/>
              </a:lnSpc>
            </a:pPr>
            <a:r>
              <a:rPr lang="zh-CN" altLang="en-US" sz="1600" dirty="0"/>
              <a:t>负责 </a:t>
            </a:r>
            <a:r>
              <a:rPr lang="en-US" altLang="zh-CN" sz="1600" dirty="0" err="1"/>
              <a:t>FastAPI</a:t>
            </a:r>
            <a:r>
              <a:rPr lang="en-US" altLang="zh-CN" sz="1600" dirty="0"/>
              <a:t> </a:t>
            </a:r>
            <a:r>
              <a:rPr lang="zh-CN" altLang="en-US" sz="1600" dirty="0"/>
              <a:t>后端架构，完成地图接口、数据清洗、推荐算法、接口测试及技术文档。</a:t>
            </a:r>
            <a:endParaRPr lang="en-US" sz="1600" dirty="0">
              <a:latin typeface="黑体" panose="02010609060101010101" pitchFamily="49" charset="-122"/>
              <a:ea typeface="黑体" panose="02010609060101010101" pitchFamily="49" charset="-122"/>
            </a:endParaRPr>
          </a:p>
        </p:txBody>
      </p:sp>
      <p:sp>
        <p:nvSpPr>
          <p:cNvPr id="34" name="Text 18">
            <a:extLst>
              <a:ext uri="{FF2B5EF4-FFF2-40B4-BE49-F238E27FC236}">
                <a16:creationId xmlns:a16="http://schemas.microsoft.com/office/drawing/2014/main" id="{C9B8E8E5-2F22-B835-35A2-064583AA075D}"/>
              </a:ext>
            </a:extLst>
          </p:cNvPr>
          <p:cNvSpPr/>
          <p:nvPr/>
        </p:nvSpPr>
        <p:spPr>
          <a:xfrm>
            <a:off x="7304980" y="4265955"/>
            <a:ext cx="1846026" cy="3215272"/>
          </a:xfrm>
          <a:prstGeom prst="rect">
            <a:avLst/>
          </a:prstGeom>
          <a:noFill/>
          <a:ln/>
        </p:spPr>
        <p:txBody>
          <a:bodyPr wrap="square" lIns="0" tIns="0" rIns="0" bIns="0" rtlCol="0" anchor="t"/>
          <a:lstStyle/>
          <a:p>
            <a:pPr algn="ctr">
              <a:lnSpc>
                <a:spcPct val="160000"/>
              </a:lnSpc>
            </a:pPr>
            <a:r>
              <a:rPr lang="zh-CN" altLang="en-US" sz="1600" dirty="0"/>
              <a:t>负责 </a:t>
            </a:r>
            <a:r>
              <a:rPr lang="en-US" altLang="zh-CN" sz="1600" dirty="0"/>
              <a:t>AI </a:t>
            </a:r>
            <a:r>
              <a:rPr lang="zh-CN" altLang="en-US" sz="1600" dirty="0"/>
              <a:t>推荐流程、推荐解释生成及标准模式与极速模式双引擎机制。</a:t>
            </a:r>
            <a:endParaRPr lang="en-US" sz="1600" dirty="0">
              <a:latin typeface="黑体" panose="02010609060101010101" pitchFamily="49" charset="-122"/>
              <a:ea typeface="黑体" panose="02010609060101010101" pitchFamily="49" charset="-122"/>
            </a:endParaRPr>
          </a:p>
        </p:txBody>
      </p:sp>
      <p:sp>
        <p:nvSpPr>
          <p:cNvPr id="35" name="Text 23">
            <a:extLst>
              <a:ext uri="{FF2B5EF4-FFF2-40B4-BE49-F238E27FC236}">
                <a16:creationId xmlns:a16="http://schemas.microsoft.com/office/drawing/2014/main" id="{3BF770A3-249F-A392-CC1E-4FB9DAD5FBC1}"/>
              </a:ext>
            </a:extLst>
          </p:cNvPr>
          <p:cNvSpPr/>
          <p:nvPr/>
        </p:nvSpPr>
        <p:spPr>
          <a:xfrm>
            <a:off x="10147271" y="4265955"/>
            <a:ext cx="1780096" cy="4022955"/>
          </a:xfrm>
          <a:prstGeom prst="rect">
            <a:avLst/>
          </a:prstGeom>
          <a:noFill/>
          <a:ln/>
        </p:spPr>
        <p:txBody>
          <a:bodyPr wrap="square" lIns="0" tIns="0" rIns="0" bIns="0" rtlCol="0" anchor="t"/>
          <a:lstStyle/>
          <a:p>
            <a:pPr algn="ctr">
              <a:lnSpc>
                <a:spcPct val="160000"/>
              </a:lnSpc>
            </a:pPr>
            <a:r>
              <a:rPr lang="zh-CN" altLang="en-US" sz="1600" dirty="0"/>
              <a:t>负责云数据库和 </a:t>
            </a:r>
            <a:r>
              <a:rPr lang="en-US" altLang="zh-CN" sz="1600" dirty="0"/>
              <a:t>Redis </a:t>
            </a:r>
            <a:r>
              <a:rPr lang="zh-CN" altLang="en-US" sz="1600" dirty="0"/>
              <a:t>部署，实现推荐结果与餐馆数据缓存，提升系统性能。</a:t>
            </a:r>
            <a:endParaRPr lang="en-US" sz="1600" dirty="0">
              <a:latin typeface="黑体" panose="02010609060101010101" pitchFamily="49" charset="-122"/>
              <a:ea typeface="黑体" panose="02010609060101010101" pitchFamily="49" charset="-122"/>
            </a:endParaRPr>
          </a:p>
        </p:txBody>
      </p:sp>
      <p:sp>
        <p:nvSpPr>
          <p:cNvPr id="36" name="Text 28">
            <a:extLst>
              <a:ext uri="{FF2B5EF4-FFF2-40B4-BE49-F238E27FC236}">
                <a16:creationId xmlns:a16="http://schemas.microsoft.com/office/drawing/2014/main" id="{EBAA1170-7215-A6FC-5281-BB18EF1E8BCE}"/>
              </a:ext>
            </a:extLst>
          </p:cNvPr>
          <p:cNvSpPr/>
          <p:nvPr/>
        </p:nvSpPr>
        <p:spPr>
          <a:xfrm>
            <a:off x="13031434" y="4265955"/>
            <a:ext cx="1835742" cy="3927722"/>
          </a:xfrm>
          <a:prstGeom prst="rect">
            <a:avLst/>
          </a:prstGeom>
          <a:noFill/>
          <a:ln/>
        </p:spPr>
        <p:txBody>
          <a:bodyPr wrap="square" lIns="0" tIns="0" rIns="0" bIns="0" rtlCol="0" anchor="t"/>
          <a:lstStyle/>
          <a:p>
            <a:pPr algn="ctr">
              <a:lnSpc>
                <a:spcPct val="160000"/>
              </a:lnSpc>
            </a:pPr>
            <a:r>
              <a:rPr lang="zh-CN" altLang="en-US" sz="1600" dirty="0"/>
              <a:t>负责地图 </a:t>
            </a:r>
            <a:r>
              <a:rPr lang="en-US" altLang="zh-CN" sz="1600" dirty="0"/>
              <a:t>API </a:t>
            </a:r>
            <a:r>
              <a:rPr lang="zh-CN" altLang="en-US" sz="1600" dirty="0"/>
              <a:t>接入，完成餐馆数据获取、清洗、筛选和结构化处理。</a:t>
            </a:r>
            <a:endParaRPr lang="en-US" sz="16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05018362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pic>
        <p:nvPicPr>
          <p:cNvPr id="2" name="Image 0" descr="https://kimi-img.moonshot.cn/pub/slides/okc/mijziqmdxzd3g/mnt/agents/output/converted/images/image_7.png"/>
          <p:cNvPicPr>
            <a:picLocks noChangeAspect="1"/>
          </p:cNvPicPr>
          <p:nvPr/>
        </p:nvPicPr>
        <p:blipFill>
          <a:blip r:embed="rId3"/>
          <a:stretch>
            <a:fillRect/>
          </a:stretch>
        </p:blipFill>
        <p:spPr>
          <a:xfrm>
            <a:off x="14097" y="0"/>
            <a:ext cx="16256000" cy="9144000"/>
          </a:xfrm>
          <a:prstGeom prst="rect">
            <a:avLst/>
          </a:prstGeom>
        </p:spPr>
      </p:pic>
      <p:sp>
        <p:nvSpPr>
          <p:cNvPr id="3" name="Shape 0"/>
          <p:cNvSpPr/>
          <p:nvPr/>
        </p:nvSpPr>
        <p:spPr>
          <a:xfrm>
            <a:off x="5573268" y="5976620"/>
            <a:ext cx="2482469" cy="535432"/>
          </a:xfrm>
          <a:prstGeom prst="roundRect">
            <a:avLst>
              <a:gd name="adj" fmla="val 16667"/>
            </a:avLst>
          </a:prstGeom>
          <a:noFill/>
          <a:ln/>
        </p:spPr>
        <p:txBody>
          <a:bodyPr/>
          <a:lstStyle/>
          <a:p>
            <a:endParaRPr lang="zh-CN" altLang="en-US"/>
          </a:p>
        </p:txBody>
      </p:sp>
      <p:sp>
        <p:nvSpPr>
          <p:cNvPr id="4" name="Text 1"/>
          <p:cNvSpPr/>
          <p:nvPr/>
        </p:nvSpPr>
        <p:spPr>
          <a:xfrm>
            <a:off x="5599430" y="6002782"/>
            <a:ext cx="2430145" cy="483108"/>
          </a:xfrm>
          <a:prstGeom prst="rect">
            <a:avLst/>
          </a:prstGeom>
          <a:noFill/>
          <a:ln/>
        </p:spPr>
        <p:txBody>
          <a:bodyPr wrap="none" lIns="0" tIns="0" rIns="0" bIns="0" rtlCol="0" anchor="ctr"/>
          <a:lstStyle/>
          <a:p>
            <a:pPr algn="ctr">
              <a:lnSpc>
                <a:spcPct val="120000"/>
              </a:lnSpc>
              <a:spcBef>
                <a:spcPts val="1333"/>
              </a:spcBef>
            </a:pPr>
            <a:r>
              <a:rPr lang="en-US" sz="2400" dirty="0">
                <a:solidFill>
                  <a:srgbClr val="000000"/>
                </a:solidFill>
                <a:latin typeface="黑体" panose="02010609060101010101" pitchFamily="49" charset="-122"/>
                <a:ea typeface="黑体" panose="02010609060101010101" pitchFamily="49" charset="-122"/>
                <a:cs typeface="思源黑体 CN Regular" pitchFamily="34" charset="-120"/>
              </a:rPr>
              <a:t>第</a:t>
            </a:r>
            <a:r>
              <a:rPr lang="zh-CN" altLang="en-US" sz="2400" dirty="0">
                <a:solidFill>
                  <a:srgbClr val="000000"/>
                </a:solidFill>
                <a:latin typeface="黑体" panose="02010609060101010101" pitchFamily="49" charset="-122"/>
                <a:ea typeface="黑体" panose="02010609060101010101" pitchFamily="49" charset="-122"/>
                <a:cs typeface="思源黑体 CN Regular" pitchFamily="34" charset="-120"/>
              </a:rPr>
              <a:t>八</a:t>
            </a:r>
            <a:r>
              <a:rPr lang="en-US" sz="2400" dirty="0">
                <a:solidFill>
                  <a:srgbClr val="000000"/>
                </a:solidFill>
                <a:latin typeface="黑体" panose="02010609060101010101" pitchFamily="49" charset="-122"/>
                <a:ea typeface="黑体" panose="02010609060101010101" pitchFamily="49" charset="-122"/>
                <a:cs typeface="思源黑体 CN Regular" pitchFamily="34" charset="-120"/>
              </a:rPr>
              <a:t>组</a:t>
            </a:r>
            <a:endParaRPr lang="en-US" sz="2400" dirty="0"/>
          </a:p>
        </p:txBody>
      </p:sp>
      <p:sp>
        <p:nvSpPr>
          <p:cNvPr id="5" name="Shape 2"/>
          <p:cNvSpPr/>
          <p:nvPr/>
        </p:nvSpPr>
        <p:spPr>
          <a:xfrm>
            <a:off x="8385556" y="5976620"/>
            <a:ext cx="1980819" cy="535432"/>
          </a:xfrm>
          <a:prstGeom prst="roundRect">
            <a:avLst>
              <a:gd name="adj" fmla="val 16667"/>
            </a:avLst>
          </a:prstGeom>
          <a:noFill/>
          <a:ln/>
        </p:spPr>
        <p:txBody>
          <a:bodyPr/>
          <a:lstStyle/>
          <a:p>
            <a:endParaRPr lang="zh-CN" altLang="en-US"/>
          </a:p>
        </p:txBody>
      </p:sp>
      <p:sp>
        <p:nvSpPr>
          <p:cNvPr id="6" name="Text 3"/>
          <p:cNvSpPr/>
          <p:nvPr/>
        </p:nvSpPr>
        <p:spPr>
          <a:xfrm>
            <a:off x="8411718" y="6002782"/>
            <a:ext cx="1928495" cy="483108"/>
          </a:xfrm>
          <a:prstGeom prst="rect">
            <a:avLst/>
          </a:prstGeom>
          <a:noFill/>
          <a:ln/>
        </p:spPr>
        <p:txBody>
          <a:bodyPr wrap="none" lIns="0" tIns="0" rIns="0" bIns="0" rtlCol="0" anchor="ctr"/>
          <a:lstStyle/>
          <a:p>
            <a:pPr algn="ctr">
              <a:lnSpc>
                <a:spcPct val="120000"/>
              </a:lnSpc>
              <a:spcBef>
                <a:spcPts val="1333"/>
              </a:spcBef>
            </a:pPr>
            <a:r>
              <a:rPr lang="en-US" sz="2400" dirty="0">
                <a:solidFill>
                  <a:srgbClr val="000000"/>
                </a:solidFill>
                <a:latin typeface="黑体" panose="02010609060101010101" pitchFamily="49" charset="-122"/>
                <a:ea typeface="黑体" panose="02010609060101010101" pitchFamily="49" charset="-122"/>
                <a:cs typeface="思源黑体 CN Regular" pitchFamily="34" charset="-120"/>
              </a:rPr>
              <a:t>2026.6.</a:t>
            </a:r>
            <a:r>
              <a:rPr lang="en-US" altLang="zh-CN" sz="2400" dirty="0">
                <a:solidFill>
                  <a:srgbClr val="000000"/>
                </a:solidFill>
                <a:latin typeface="黑体" panose="02010609060101010101" pitchFamily="49" charset="-122"/>
                <a:ea typeface="黑体" panose="02010609060101010101" pitchFamily="49" charset="-122"/>
                <a:cs typeface="思源黑体 CN Regular" pitchFamily="34" charset="-120"/>
              </a:rPr>
              <a:t>12</a:t>
            </a:r>
            <a:endParaRPr lang="en-US" sz="2400" dirty="0"/>
          </a:p>
        </p:txBody>
      </p:sp>
      <p:sp>
        <p:nvSpPr>
          <p:cNvPr id="7" name="Text 4"/>
          <p:cNvSpPr/>
          <p:nvPr/>
        </p:nvSpPr>
        <p:spPr>
          <a:xfrm>
            <a:off x="880491" y="3253359"/>
            <a:ext cx="14478000" cy="1231138"/>
          </a:xfrm>
          <a:prstGeom prst="rect">
            <a:avLst/>
          </a:prstGeom>
          <a:noFill/>
          <a:ln/>
        </p:spPr>
        <p:txBody>
          <a:bodyPr wrap="square" lIns="0" tIns="0" rIns="0" bIns="0" rtlCol="0" anchor="ctr"/>
          <a:lstStyle/>
          <a:p>
            <a:pPr algn="ctr">
              <a:lnSpc>
                <a:spcPct val="120000"/>
              </a:lnSpc>
            </a:pPr>
            <a:r>
              <a:rPr lang="en-US" sz="7200" b="1" dirty="0">
                <a:solidFill>
                  <a:srgbClr val="000000"/>
                </a:solidFill>
                <a:latin typeface="汉仪行楷简" pitchFamily="34" charset="0"/>
                <a:ea typeface="汉仪行楷简" pitchFamily="34" charset="-122"/>
                <a:cs typeface="汉仪行楷简" pitchFamily="34" charset="-120"/>
              </a:rPr>
              <a:t>谢谢观看</a:t>
            </a:r>
            <a:endParaRPr lang="en-US" sz="7200" dirty="0"/>
          </a:p>
        </p:txBody>
      </p:sp>
      <p:pic>
        <p:nvPicPr>
          <p:cNvPr id="8" name="Image 1" descr="https://kimi-img.moonshot.cn/pub/slides/okc/mijziqmdxzd3g/mnt/agents/output/converted/images/image_8.png"/>
          <p:cNvPicPr>
            <a:picLocks noChangeAspect="1"/>
          </p:cNvPicPr>
          <p:nvPr/>
        </p:nvPicPr>
        <p:blipFill>
          <a:blip r:embed="rId4"/>
          <a:stretch>
            <a:fillRect/>
          </a:stretch>
        </p:blipFill>
        <p:spPr>
          <a:xfrm>
            <a:off x="14410309" y="8551291"/>
            <a:ext cx="1591691" cy="338709"/>
          </a:xfrm>
          <a:prstGeom prst="rect">
            <a:avLst/>
          </a:prstGeom>
        </p:spPr>
      </p:pic>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1508</Words>
  <Application>Microsoft Office PowerPoint</Application>
  <PresentationFormat>自定义</PresentationFormat>
  <Paragraphs>441</Paragraphs>
  <Slides>36</Slides>
  <Notes>36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36</vt:i4>
      </vt:variant>
    </vt:vector>
  </HeadingPairs>
  <TitlesOfParts>
    <vt:vector size="46" baseType="lpstr">
      <vt:lpstr>Average</vt:lpstr>
      <vt:lpstr>MiSans</vt:lpstr>
      <vt:lpstr>Noto Sans SC</vt:lpstr>
      <vt:lpstr>Segoe WPC</vt:lpstr>
      <vt:lpstr>var(--font-mono)</vt:lpstr>
      <vt:lpstr>汉仪行楷简</vt:lpstr>
      <vt:lpstr>黑体</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未命名演示文稿</dc:title>
  <dc:subject>未命名演示文稿</dc:subject>
  <dc:creator>Kimi</dc:creator>
  <cp:lastModifiedBy>昀燃 蔡</cp:lastModifiedBy>
  <cp:revision>6</cp:revision>
  <dcterms:created xsi:type="dcterms:W3CDTF">2026-06-12T11:39:12Z</dcterms:created>
  <dcterms:modified xsi:type="dcterms:W3CDTF">2026-06-14T16:34:14Z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{"Label":"未命名演示文稿","ContentProducer":"001191110108MACG2KBH8F10000","ProduceID":"19ebb879-1212-87a8-8000-000031224ac6","ReservedCode1":"","ContentPropagator":"001191110108MACG2KBH8F20000","PropagateID":"19ebb86b-cae2-8283-8000-09facc41bb90","ReservedCode2":""}</vt:lpwstr>
  </property>
</Properties>
</file>